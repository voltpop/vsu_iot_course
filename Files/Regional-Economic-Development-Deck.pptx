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2377440"/>
            <a:ext cx="12161520" cy="914400"/>
          </a:xfrm>
          <a:prstGeom prst="rect">
            <a:avLst/>
          </a:prstGeom>
          <a:noFill/>
          <a:ln/>
        </p:spPr>
        <p:txBody>
          <a:bodyPr wrap="square" rtlCol="0" anchor="ctr"/>
          <a:lstStyle/>
          <a:p>
            <a:pPr algn="ctr" indent="0" marL="0">
              <a:buNone/>
            </a:pPr>
            <a:r>
              <a:rPr lang="en-US" sz="4000" b="1" dirty="0">
                <a:solidFill>
                  <a:srgbClr val="1A1A1A"/>
                </a:solidFill>
                <a:latin typeface="Arial" pitchFamily="34" charset="0"/>
                <a:ea typeface="Arial" pitchFamily="34" charset="-122"/>
                <a:cs typeface="Arial" pitchFamily="34" charset="-120"/>
              </a:rPr>
              <a:t>Tri-Cities Innovation Lab</a:t>
            </a:r>
            <a:endParaRPr lang="en-US" sz="4000" dirty="0"/>
          </a:p>
        </p:txBody>
      </p:sp>
      <p:sp>
        <p:nvSpPr>
          <p:cNvPr id="3" name="Text 1"/>
          <p:cNvSpPr/>
          <p:nvPr/>
        </p:nvSpPr>
        <p:spPr>
          <a:xfrm>
            <a:off x="0" y="3200400"/>
            <a:ext cx="12161520" cy="457200"/>
          </a:xfrm>
          <a:prstGeom prst="rect">
            <a:avLst/>
          </a:prstGeom>
          <a:noFill/>
          <a:ln/>
        </p:spPr>
        <p:txBody>
          <a:bodyPr wrap="square" rtlCol="0" anchor="ctr"/>
          <a:lstStyle/>
          <a:p>
            <a:pPr algn="ctr" indent="0" marL="0">
              <a:buNone/>
            </a:pPr>
            <a:r>
              <a:rPr lang="en-US" sz="1800" dirty="0">
                <a:solidFill>
                  <a:srgbClr val="555555"/>
                </a:solidFill>
                <a:latin typeface="Arial" pitchFamily="34" charset="0"/>
                <a:ea typeface="Arial" pitchFamily="34" charset="-122"/>
                <a:cs typeface="Arial" pitchFamily="34" charset="-120"/>
              </a:rPr>
              <a:t>Stakeholder Briefing</a:t>
            </a:r>
            <a:endParaRPr lang="en-US" sz="1800" dirty="0"/>
          </a:p>
        </p:txBody>
      </p:sp>
      <p:sp>
        <p:nvSpPr>
          <p:cNvPr id="4" name="Text 2"/>
          <p:cNvSpPr/>
          <p:nvPr/>
        </p:nvSpPr>
        <p:spPr>
          <a:xfrm>
            <a:off x="0" y="3657600"/>
            <a:ext cx="12161520" cy="365760"/>
          </a:xfrm>
          <a:prstGeom prst="rect">
            <a:avLst/>
          </a:prstGeom>
          <a:noFill/>
          <a:ln/>
        </p:spPr>
        <p:txBody>
          <a:bodyPr wrap="square" rtlCol="0" anchor="ctr"/>
          <a:lstStyle/>
          <a:p>
            <a:pPr algn="ctr" indent="0" marL="0">
              <a:buNone/>
            </a:pPr>
            <a:r>
              <a:rPr lang="en-US" sz="1400" dirty="0">
                <a:solidFill>
                  <a:srgbClr val="888888"/>
                </a:solidFill>
                <a:latin typeface="Arial" pitchFamily="34" charset="0"/>
                <a:ea typeface="Arial" pitchFamily="34" charset="-122"/>
                <a:cs typeface="Arial" pitchFamily="34" charset="-120"/>
              </a:rPr>
              <a:t>August 14, 2026</a:t>
            </a:r>
            <a:endParaRPr lang="en-US" sz="1400" dirty="0"/>
          </a:p>
        </p:txBody>
      </p:sp>
      <p:sp>
        <p:nvSpPr>
          <p:cNvPr id="5" name="Shape 3"/>
          <p:cNvSpPr/>
          <p:nvPr/>
        </p:nvSpPr>
        <p:spPr>
          <a:xfrm>
            <a:off x="1371600" y="6035040"/>
            <a:ext cx="2011680" cy="457200"/>
          </a:xfrm>
          <a:prstGeom prst="rect">
            <a:avLst/>
          </a:prstGeom>
          <a:solidFill>
            <a:srgbClr val="F2F2F2"/>
          </a:solidFill>
          <a:ln w="9525">
            <a:solidFill>
              <a:srgbClr val="DDDDDD"/>
            </a:solidFill>
            <a:prstDash val="solid"/>
          </a:ln>
        </p:spPr>
      </p:sp>
      <p:sp>
        <p:nvSpPr>
          <p:cNvPr id="6" name="Text 4"/>
          <p:cNvSpPr/>
          <p:nvPr/>
        </p:nvSpPr>
        <p:spPr>
          <a:xfrm>
            <a:off x="1371600" y="6035040"/>
            <a:ext cx="2011680" cy="457200"/>
          </a:xfrm>
          <a:prstGeom prst="rect">
            <a:avLst/>
          </a:prstGeom>
          <a:noFill/>
          <a:ln/>
        </p:spPr>
        <p:txBody>
          <a:bodyPr wrap="square"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[Dr. Shawn M. Nicholson logo]</a:t>
            </a:r>
            <a:endParaRPr lang="en-US" sz="1000" dirty="0"/>
          </a:p>
        </p:txBody>
      </p:sp>
      <p:sp>
        <p:nvSpPr>
          <p:cNvPr id="7" name="Shape 5"/>
          <p:cNvSpPr/>
          <p:nvPr/>
        </p:nvSpPr>
        <p:spPr>
          <a:xfrm>
            <a:off x="3840480" y="6035040"/>
            <a:ext cx="2011680" cy="457200"/>
          </a:xfrm>
          <a:prstGeom prst="rect">
            <a:avLst/>
          </a:prstGeom>
          <a:solidFill>
            <a:srgbClr val="F2F2F2"/>
          </a:solidFill>
          <a:ln w="9525">
            <a:solidFill>
              <a:srgbClr val="DDDDDD"/>
            </a:solidFill>
            <a:prstDash val="solid"/>
          </a:ln>
        </p:spPr>
      </p:sp>
      <p:sp>
        <p:nvSpPr>
          <p:cNvPr id="8" name="Text 6"/>
          <p:cNvSpPr/>
          <p:nvPr/>
        </p:nvSpPr>
        <p:spPr>
          <a:xfrm>
            <a:off x="3840480" y="6035040"/>
            <a:ext cx="2011680" cy="457200"/>
          </a:xfrm>
          <a:prstGeom prst="rect">
            <a:avLst/>
          </a:prstGeom>
          <a:noFill/>
          <a:ln/>
        </p:spPr>
        <p:txBody>
          <a:bodyPr wrap="square"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[Builder Tech logo]</a:t>
            </a:r>
            <a:endParaRPr lang="en-US" sz="1000" dirty="0"/>
          </a:p>
        </p:txBody>
      </p:sp>
      <p:sp>
        <p:nvSpPr>
          <p:cNvPr id="9" name="Shape 7"/>
          <p:cNvSpPr/>
          <p:nvPr/>
        </p:nvSpPr>
        <p:spPr>
          <a:xfrm>
            <a:off x="6309360" y="6035040"/>
            <a:ext cx="2011680" cy="457200"/>
          </a:xfrm>
          <a:prstGeom prst="rect">
            <a:avLst/>
          </a:prstGeom>
          <a:solidFill>
            <a:srgbClr val="F2F2F2"/>
          </a:solidFill>
          <a:ln w="9525">
            <a:solidFill>
              <a:srgbClr val="DDDDDD"/>
            </a:solidFill>
            <a:prstDash val="solid"/>
          </a:ln>
        </p:spPr>
      </p:sp>
      <p:sp>
        <p:nvSpPr>
          <p:cNvPr id="10" name="Text 8"/>
          <p:cNvSpPr/>
          <p:nvPr/>
        </p:nvSpPr>
        <p:spPr>
          <a:xfrm>
            <a:off x="6309360" y="6035040"/>
            <a:ext cx="2011680" cy="457200"/>
          </a:xfrm>
          <a:prstGeom prst="rect">
            <a:avLst/>
          </a:prstGeom>
          <a:noFill/>
          <a:ln/>
        </p:spPr>
        <p:txBody>
          <a:bodyPr wrap="square"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[Voltpop logo]</a:t>
            </a:r>
            <a:endParaRPr lang="en-US" sz="1000" dirty="0"/>
          </a:p>
        </p:txBody>
      </p:sp>
      <p:sp>
        <p:nvSpPr>
          <p:cNvPr id="11" name="Shape 9"/>
          <p:cNvSpPr/>
          <p:nvPr/>
        </p:nvSpPr>
        <p:spPr>
          <a:xfrm>
            <a:off x="8778240" y="6035040"/>
            <a:ext cx="2011680" cy="457200"/>
          </a:xfrm>
          <a:prstGeom prst="rect">
            <a:avLst/>
          </a:prstGeom>
          <a:solidFill>
            <a:srgbClr val="F2F2F2"/>
          </a:solidFill>
          <a:ln w="9525">
            <a:solidFill>
              <a:srgbClr val="DDDDDD"/>
            </a:solidFill>
            <a:prstDash val="solid"/>
          </a:ln>
        </p:spPr>
      </p:sp>
      <p:sp>
        <p:nvSpPr>
          <p:cNvPr id="12" name="Text 10"/>
          <p:cNvSpPr/>
          <p:nvPr/>
        </p:nvSpPr>
        <p:spPr>
          <a:xfrm>
            <a:off x="8778240" y="6035040"/>
            <a:ext cx="2011680" cy="457200"/>
          </a:xfrm>
          <a:prstGeom prst="rect">
            <a:avLst/>
          </a:prstGeom>
          <a:noFill/>
          <a:ln/>
        </p:spPr>
        <p:txBody>
          <a:bodyPr wrap="square" rtlCol="0" anchor="ctr"/>
          <a:lstStyle/>
          <a:p>
            <a:pPr algn="ctr" indent="0" marL="0">
              <a:buNone/>
            </a:pPr>
            <a:r>
              <a:rPr lang="en-US" sz="1000" dirty="0">
                <a:solidFill>
                  <a:srgbClr val="888888"/>
                </a:solidFill>
                <a:latin typeface="Arial" pitchFamily="34" charset="0"/>
                <a:ea typeface="Arial" pitchFamily="34" charset="-122"/>
                <a:cs typeface="Arial" pitchFamily="34" charset="-120"/>
              </a:rPr>
              <a:t>[Explay logo]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Overview</a:t>
            </a:r>
            <a:endParaRPr lang="en-US" sz="3000" dirty="0"/>
          </a:p>
        </p:txBody>
      </p:sp>
      <p:sp>
        <p:nvSpPr>
          <p:cNvPr id="3" name="Text 1"/>
          <p:cNvSpPr/>
          <p:nvPr/>
        </p:nvSpPr>
        <p:spPr>
          <a:xfrm>
            <a:off x="548640" y="1828800"/>
            <a:ext cx="3657600" cy="4572000"/>
          </a:xfrm>
          <a:prstGeom prst="rect">
            <a:avLst/>
          </a:prstGeom>
          <a:noFill/>
          <a:ln/>
        </p:spPr>
        <p:txBody>
          <a:bodyPr wrap="square" rtlCol="0" anchor="ctr"/>
          <a:lstStyle/>
          <a:p>
            <a:pPr indent="0" marL="0">
              <a:spcAft>
                <a:spcPts val="1200"/>
              </a:spcAft>
              <a:buNone/>
            </a:pPr>
            <a:r>
              <a:rPr lang="en-US" sz="1600" dirty="0">
                <a:solidFill>
                  <a:srgbClr val="1A1A1A"/>
                </a:solidFill>
                <a:latin typeface="Arial" pitchFamily="34" charset="0"/>
                <a:ea typeface="Arial" pitchFamily="34" charset="-122"/>
                <a:cs typeface="Arial" pitchFamily="34" charset="-120"/>
              </a:rPr>
              <a:t>1.  Who We Are</a:t>
            </a:r>
            <a:endParaRPr lang="en-US" sz="1600" dirty="0"/>
          </a:p>
          <a:p>
            <a:pPr indent="0" marL="0">
              <a:spcAft>
                <a:spcPts val="1200"/>
              </a:spcAft>
              <a:buNone/>
            </a:pPr>
            <a:r>
              <a:rPr lang="en-US" sz="1600" dirty="0">
                <a:solidFill>
                  <a:srgbClr val="1A1A1A"/>
                </a:solidFill>
                <a:latin typeface="Arial" pitchFamily="34" charset="0"/>
                <a:ea typeface="Arial" pitchFamily="34" charset="-122"/>
                <a:cs typeface="Arial" pitchFamily="34" charset="-120"/>
              </a:rPr>
              <a:t>2.  Purpose</a:t>
            </a:r>
            <a:endParaRPr lang="en-US" sz="1600" dirty="0"/>
          </a:p>
          <a:p>
            <a:pPr indent="0" marL="0">
              <a:spcAft>
                <a:spcPts val="1200"/>
              </a:spcAft>
              <a:buNone/>
            </a:pPr>
            <a:r>
              <a:rPr lang="en-US" sz="1600" dirty="0">
                <a:solidFill>
                  <a:srgbClr val="1A1A1A"/>
                </a:solidFill>
                <a:latin typeface="Arial" pitchFamily="34" charset="0"/>
                <a:ea typeface="Arial" pitchFamily="34" charset="-122"/>
                <a:cs typeface="Arial" pitchFamily="34" charset="-120"/>
              </a:rPr>
              <a:t>3.  What Is the Program</a:t>
            </a:r>
            <a:endParaRPr lang="en-US" sz="1600" dirty="0"/>
          </a:p>
          <a:p>
            <a:pPr indent="0" marL="0">
              <a:spcAft>
                <a:spcPts val="1200"/>
              </a:spcAft>
              <a:buNone/>
            </a:pPr>
            <a:r>
              <a:rPr lang="en-US" sz="1600" dirty="0">
                <a:solidFill>
                  <a:srgbClr val="1A1A1A"/>
                </a:solidFill>
                <a:latin typeface="Arial" pitchFamily="34" charset="0"/>
                <a:ea typeface="Arial" pitchFamily="34" charset="-122"/>
                <a:cs typeface="Arial" pitchFamily="34" charset="-120"/>
              </a:rPr>
              <a:t>4.  Inside the Program</a:t>
            </a:r>
            <a:endParaRPr lang="en-US" sz="1600" dirty="0"/>
          </a:p>
          <a:p>
            <a:pPr indent="0" marL="0">
              <a:spcAft>
                <a:spcPts val="1200"/>
              </a:spcAft>
              <a:buNone/>
            </a:pPr>
            <a:r>
              <a:rPr lang="en-US" sz="1600" dirty="0">
                <a:solidFill>
                  <a:srgbClr val="1A1A1A"/>
                </a:solidFill>
                <a:latin typeface="Arial" pitchFamily="34" charset="0"/>
                <a:ea typeface="Arial" pitchFamily="34" charset="-122"/>
                <a:cs typeface="Arial" pitchFamily="34" charset="-120"/>
              </a:rPr>
              <a:t>5.  The Tri-Cities Career Showcase</a:t>
            </a:r>
            <a:endParaRPr lang="en-US" sz="1600" dirty="0"/>
          </a:p>
          <a:p>
            <a:pPr indent="0" marL="0">
              <a:spcAft>
                <a:spcPts val="1200"/>
              </a:spcAft>
              <a:buNone/>
            </a:pPr>
            <a:r>
              <a:rPr lang="en-US" sz="1600" dirty="0">
                <a:solidFill>
                  <a:srgbClr val="1A1A1A"/>
                </a:solidFill>
                <a:latin typeface="Arial" pitchFamily="34" charset="0"/>
                <a:ea typeface="Arial" pitchFamily="34" charset="-122"/>
                <a:cs typeface="Arial" pitchFamily="34" charset="-120"/>
              </a:rPr>
              <a:t>6.  Proposed Timeline</a:t>
            </a:r>
            <a:endParaRPr lang="en-US" sz="1600" dirty="0"/>
          </a:p>
          <a:p>
            <a:pPr indent="0" marL="0">
              <a:spcAft>
                <a:spcPts val="1200"/>
              </a:spcAft>
              <a:buNone/>
            </a:pPr>
            <a:r>
              <a:rPr lang="en-US" sz="1600" dirty="0">
                <a:solidFill>
                  <a:srgbClr val="1A1A1A"/>
                </a:solidFill>
                <a:latin typeface="Arial" pitchFamily="34" charset="0"/>
                <a:ea typeface="Arial" pitchFamily="34" charset="-122"/>
                <a:cs typeface="Arial" pitchFamily="34" charset="-120"/>
              </a:rPr>
              <a:t>7.  The Ask</a:t>
            </a:r>
            <a:endParaRPr lang="en-US" sz="1600" dirty="0"/>
          </a:p>
          <a:p>
            <a:pPr indent="0" marL="0">
              <a:spcAft>
                <a:spcPts val="1200"/>
              </a:spcAft>
              <a:buNone/>
            </a:pPr>
            <a:r>
              <a:rPr lang="en-US" sz="1600" dirty="0">
                <a:solidFill>
                  <a:srgbClr val="1A1A1A"/>
                </a:solidFill>
                <a:latin typeface="Arial" pitchFamily="34" charset="0"/>
                <a:ea typeface="Arial" pitchFamily="34" charset="-122"/>
                <a:cs typeface="Arial" pitchFamily="34" charset="-120"/>
              </a:rPr>
              <a:t>8.  Contact and Next Steps</a:t>
            </a:r>
            <a:endParaRPr lang="en-US" sz="1600" dirty="0"/>
          </a:p>
        </p:txBody>
      </p:sp>
      <p:pic>
        <p:nvPicPr>
          <p:cNvPr id="4" name="Image 0" descr="/home/claude/vsu-deck/photos/overview.png">    </p:cNvPr>
          <p:cNvPicPr>
            <a:picLocks noChangeAspect="1"/>
          </p:cNvPicPr>
          <p:nvPr/>
        </p:nvPicPr>
        <p:blipFill>
          <a:blip r:embed="rId1"/>
          <a:srcRect l="0" r="0" t="0" b="0"/>
          <a:stretch/>
        </p:blipFill>
        <p:spPr>
          <a:xfrm>
            <a:off x="4480560" y="1600200"/>
            <a:ext cx="7132320" cy="4846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Who We Are</a:t>
            </a:r>
            <a:endParaRPr lang="en-US" sz="3000" dirty="0"/>
          </a:p>
        </p:txBody>
      </p:sp>
      <p:sp>
        <p:nvSpPr>
          <p:cNvPr id="3" name="Shape 1"/>
          <p:cNvSpPr/>
          <p:nvPr/>
        </p:nvSpPr>
        <p:spPr>
          <a:xfrm>
            <a:off x="548640" y="1691640"/>
            <a:ext cx="2560320" cy="1645920"/>
          </a:xfrm>
          <a:prstGeom prst="rect">
            <a:avLst/>
          </a:prstGeom>
          <a:solidFill>
            <a:srgbClr val="F2F2F2"/>
          </a:solidFill>
          <a:ln w="9525">
            <a:solidFill>
              <a:srgbClr val="DDDDDD"/>
            </a:solidFill>
            <a:prstDash val="solid"/>
          </a:ln>
        </p:spPr>
      </p:sp>
      <p:sp>
        <p:nvSpPr>
          <p:cNvPr id="4" name="Text 2"/>
          <p:cNvSpPr/>
          <p:nvPr/>
        </p:nvSpPr>
        <p:spPr>
          <a:xfrm>
            <a:off x="548640" y="1691640"/>
            <a:ext cx="2560320" cy="1645920"/>
          </a:xfrm>
          <a:prstGeom prst="rect">
            <a:avLst/>
          </a:prstGeom>
          <a:noFill/>
          <a:ln/>
        </p:spPr>
        <p:txBody>
          <a:bodyPr wrap="square" rtlCol="0" anchor="ctr"/>
          <a:lstStyle/>
          <a:p>
            <a:pPr algn="ctr" indent="0" marL="0">
              <a:buNone/>
            </a:pPr>
            <a:r>
              <a:rPr lang="en-US" sz="1100" dirty="0">
                <a:solidFill>
                  <a:srgbClr val="888888"/>
                </a:solidFill>
                <a:latin typeface="Arial" pitchFamily="34" charset="0"/>
                <a:ea typeface="Arial" pitchFamily="34" charset="-122"/>
                <a:cs typeface="Arial" pitchFamily="34" charset="-120"/>
              </a:rPr>
              <a:t>[Photo]</a:t>
            </a:r>
            <a:endParaRPr lang="en-US" sz="1100" dirty="0"/>
          </a:p>
        </p:txBody>
      </p:sp>
      <p:sp>
        <p:nvSpPr>
          <p:cNvPr id="5" name="Text 3"/>
          <p:cNvSpPr/>
          <p:nvPr/>
        </p:nvSpPr>
        <p:spPr>
          <a:xfrm>
            <a:off x="548640" y="3474720"/>
            <a:ext cx="2560320" cy="457200"/>
          </a:xfrm>
          <a:prstGeom prst="rect">
            <a:avLst/>
          </a:prstGeom>
          <a:noFill/>
          <a:ln/>
        </p:spPr>
        <p:txBody>
          <a:bodyPr wrap="square" rtlCol="0" anchor="t"/>
          <a:lstStyle/>
          <a:p>
            <a:pPr indent="0" marL="0">
              <a:buNone/>
            </a:pPr>
            <a:r>
              <a:rPr lang="en-US" sz="1300" b="1" dirty="0">
                <a:solidFill>
                  <a:srgbClr val="1A1A1A"/>
                </a:solidFill>
                <a:latin typeface="Arial" pitchFamily="34" charset="0"/>
                <a:ea typeface="Arial" pitchFamily="34" charset="-122"/>
                <a:cs typeface="Arial" pitchFamily="34" charset="-120"/>
              </a:rPr>
              <a:t>Dr. Shawn M. Nicholson</a:t>
            </a:r>
            <a:endParaRPr lang="en-US" sz="1300" dirty="0"/>
          </a:p>
        </p:txBody>
      </p:sp>
      <p:sp>
        <p:nvSpPr>
          <p:cNvPr id="6" name="Text 4"/>
          <p:cNvSpPr/>
          <p:nvPr/>
        </p:nvSpPr>
        <p:spPr>
          <a:xfrm>
            <a:off x="548640" y="3886200"/>
            <a:ext cx="2560320" cy="320040"/>
          </a:xfrm>
          <a:prstGeom prst="rect">
            <a:avLst/>
          </a:prstGeom>
          <a:noFill/>
          <a:ln/>
        </p:spPr>
        <p:txBody>
          <a:bodyPr wrap="square" rtlCol="0" anchor="t"/>
          <a:lstStyle/>
          <a:p>
            <a:pPr indent="0" marL="0">
              <a:buNone/>
            </a:pPr>
            <a:r>
              <a:rPr lang="en-US" sz="1100" dirty="0">
                <a:solidFill>
                  <a:srgbClr val="555555"/>
                </a:solidFill>
                <a:latin typeface="Arial" pitchFamily="34" charset="0"/>
                <a:ea typeface="Arial" pitchFamily="34" charset="-122"/>
                <a:cs typeface="Arial" pitchFamily="34" charset="-120"/>
              </a:rPr>
              <a:t>Chief Executive Officer</a:t>
            </a:r>
            <a:endParaRPr lang="en-US" sz="1100" dirty="0"/>
          </a:p>
        </p:txBody>
      </p:sp>
      <p:sp>
        <p:nvSpPr>
          <p:cNvPr id="7" name="Text 5"/>
          <p:cNvSpPr/>
          <p:nvPr/>
        </p:nvSpPr>
        <p:spPr>
          <a:xfrm>
            <a:off x="548640" y="4251960"/>
            <a:ext cx="2560320" cy="1828800"/>
          </a:xfrm>
          <a:prstGeom prst="rect">
            <a:avLst/>
          </a:prstGeom>
          <a:noFill/>
          <a:ln/>
        </p:spPr>
        <p:txBody>
          <a:bodyPr wrap="square" rtlCol="0" anchor="t"/>
          <a:lstStyle/>
          <a:p>
            <a:pPr indent="0" marL="0">
              <a:lnSpc>
                <a:spcPct val="115000"/>
              </a:lnSpc>
              <a:buNone/>
            </a:pPr>
            <a:r>
              <a:rPr lang="en-US" sz="950" dirty="0">
                <a:solidFill>
                  <a:srgbClr val="1A1A1A"/>
                </a:solidFill>
                <a:latin typeface="Arial" pitchFamily="34" charset="0"/>
                <a:ea typeface="Arial" pitchFamily="34" charset="-122"/>
                <a:cs typeface="Arial" pitchFamily="34" charset="-120"/>
              </a:rPr>
              <a:t>Background running workforce development programs. [Track record figures to be confirmed]</a:t>
            </a:r>
            <a:endParaRPr lang="en-US" sz="950" dirty="0"/>
          </a:p>
        </p:txBody>
      </p:sp>
      <p:sp>
        <p:nvSpPr>
          <p:cNvPr id="8" name="Shape 6"/>
          <p:cNvSpPr/>
          <p:nvPr/>
        </p:nvSpPr>
        <p:spPr>
          <a:xfrm>
            <a:off x="3383280" y="1691640"/>
            <a:ext cx="2560320" cy="1645920"/>
          </a:xfrm>
          <a:prstGeom prst="rect">
            <a:avLst/>
          </a:prstGeom>
          <a:solidFill>
            <a:srgbClr val="F2F2F2"/>
          </a:solidFill>
          <a:ln w="9525">
            <a:solidFill>
              <a:srgbClr val="DDDDDD"/>
            </a:solidFill>
            <a:prstDash val="solid"/>
          </a:ln>
        </p:spPr>
      </p:sp>
      <p:sp>
        <p:nvSpPr>
          <p:cNvPr id="9" name="Text 7"/>
          <p:cNvSpPr/>
          <p:nvPr/>
        </p:nvSpPr>
        <p:spPr>
          <a:xfrm>
            <a:off x="3383280" y="1691640"/>
            <a:ext cx="2560320" cy="1645920"/>
          </a:xfrm>
          <a:prstGeom prst="rect">
            <a:avLst/>
          </a:prstGeom>
          <a:noFill/>
          <a:ln/>
        </p:spPr>
        <p:txBody>
          <a:bodyPr wrap="square" rtlCol="0" anchor="ctr"/>
          <a:lstStyle/>
          <a:p>
            <a:pPr algn="ctr" indent="0" marL="0">
              <a:buNone/>
            </a:pPr>
            <a:r>
              <a:rPr lang="en-US" sz="1100" dirty="0">
                <a:solidFill>
                  <a:srgbClr val="888888"/>
                </a:solidFill>
                <a:latin typeface="Arial" pitchFamily="34" charset="0"/>
                <a:ea typeface="Arial" pitchFamily="34" charset="-122"/>
                <a:cs typeface="Arial" pitchFamily="34" charset="-120"/>
              </a:rPr>
              <a:t>[Photo]</a:t>
            </a:r>
            <a:endParaRPr lang="en-US" sz="1100" dirty="0"/>
          </a:p>
        </p:txBody>
      </p:sp>
      <p:sp>
        <p:nvSpPr>
          <p:cNvPr id="10" name="Text 8"/>
          <p:cNvSpPr/>
          <p:nvPr/>
        </p:nvSpPr>
        <p:spPr>
          <a:xfrm>
            <a:off x="3383280" y="3474720"/>
            <a:ext cx="2560320" cy="457200"/>
          </a:xfrm>
          <a:prstGeom prst="rect">
            <a:avLst/>
          </a:prstGeom>
          <a:noFill/>
          <a:ln/>
        </p:spPr>
        <p:txBody>
          <a:bodyPr wrap="square" rtlCol="0" anchor="t"/>
          <a:lstStyle/>
          <a:p>
            <a:pPr indent="0" marL="0">
              <a:buNone/>
            </a:pPr>
            <a:r>
              <a:rPr lang="en-US" sz="1300" b="1" dirty="0">
                <a:solidFill>
                  <a:srgbClr val="1A1A1A"/>
                </a:solidFill>
                <a:latin typeface="Arial" pitchFamily="34" charset="0"/>
                <a:ea typeface="Arial" pitchFamily="34" charset="-122"/>
                <a:cs typeface="Arial" pitchFamily="34" charset="-120"/>
              </a:rPr>
              <a:t>Javon Guerrier</a:t>
            </a:r>
            <a:endParaRPr lang="en-US" sz="1300" dirty="0"/>
          </a:p>
        </p:txBody>
      </p:sp>
      <p:sp>
        <p:nvSpPr>
          <p:cNvPr id="11" name="Text 9"/>
          <p:cNvSpPr/>
          <p:nvPr/>
        </p:nvSpPr>
        <p:spPr>
          <a:xfrm>
            <a:off x="3383280" y="3886200"/>
            <a:ext cx="2560320" cy="320040"/>
          </a:xfrm>
          <a:prstGeom prst="rect">
            <a:avLst/>
          </a:prstGeom>
          <a:noFill/>
          <a:ln/>
        </p:spPr>
        <p:txBody>
          <a:bodyPr wrap="square" rtlCol="0" anchor="t"/>
          <a:lstStyle/>
          <a:p>
            <a:pPr indent="0" marL="0">
              <a:buNone/>
            </a:pPr>
            <a:r>
              <a:rPr lang="en-US" sz="1100" dirty="0">
                <a:solidFill>
                  <a:srgbClr val="555555"/>
                </a:solidFill>
                <a:latin typeface="Arial" pitchFamily="34" charset="0"/>
                <a:ea typeface="Arial" pitchFamily="34" charset="-122"/>
                <a:cs typeface="Arial" pitchFamily="34" charset="-120"/>
              </a:rPr>
              <a:t>Program Director</a:t>
            </a:r>
            <a:endParaRPr lang="en-US" sz="1100" dirty="0"/>
          </a:p>
        </p:txBody>
      </p:sp>
      <p:sp>
        <p:nvSpPr>
          <p:cNvPr id="12" name="Text 10"/>
          <p:cNvSpPr/>
          <p:nvPr/>
        </p:nvSpPr>
        <p:spPr>
          <a:xfrm>
            <a:off x="3383280" y="4251960"/>
            <a:ext cx="2560320" cy="1828800"/>
          </a:xfrm>
          <a:prstGeom prst="rect">
            <a:avLst/>
          </a:prstGeom>
          <a:noFill/>
          <a:ln/>
        </p:spPr>
        <p:txBody>
          <a:bodyPr wrap="square" rtlCol="0" anchor="t"/>
          <a:lstStyle/>
          <a:p>
            <a:pPr indent="0" marL="0">
              <a:lnSpc>
                <a:spcPct val="115000"/>
              </a:lnSpc>
              <a:buNone/>
            </a:pPr>
            <a:r>
              <a:rPr lang="en-US" sz="950" dirty="0">
                <a:solidFill>
                  <a:srgbClr val="1A1A1A"/>
                </a:solidFill>
                <a:latin typeface="Arial" pitchFamily="34" charset="0"/>
                <a:ea typeface="Arial" pitchFamily="34" charset="-122"/>
                <a:cs typeface="Arial" pitchFamily="34" charset="-120"/>
              </a:rPr>
              <a:t>Business and technical education specialist. Former Business Technology Solutions Analyst and UX Designer in an AI / Data Engineering practice. Educator, [Richmond / Petersburg — confirm] City Public Schools.</a:t>
            </a:r>
            <a:endParaRPr lang="en-US" sz="950" dirty="0"/>
          </a:p>
        </p:txBody>
      </p:sp>
      <p:sp>
        <p:nvSpPr>
          <p:cNvPr id="13" name="Shape 11"/>
          <p:cNvSpPr/>
          <p:nvPr/>
        </p:nvSpPr>
        <p:spPr>
          <a:xfrm>
            <a:off x="6217920" y="1691640"/>
            <a:ext cx="2560320" cy="1645920"/>
          </a:xfrm>
          <a:prstGeom prst="rect">
            <a:avLst/>
          </a:prstGeom>
          <a:solidFill>
            <a:srgbClr val="F2F2F2"/>
          </a:solidFill>
          <a:ln w="9525">
            <a:solidFill>
              <a:srgbClr val="DDDDDD"/>
            </a:solidFill>
            <a:prstDash val="solid"/>
          </a:ln>
        </p:spPr>
      </p:sp>
      <p:sp>
        <p:nvSpPr>
          <p:cNvPr id="14" name="Text 12"/>
          <p:cNvSpPr/>
          <p:nvPr/>
        </p:nvSpPr>
        <p:spPr>
          <a:xfrm>
            <a:off x="6217920" y="1691640"/>
            <a:ext cx="2560320" cy="1645920"/>
          </a:xfrm>
          <a:prstGeom prst="rect">
            <a:avLst/>
          </a:prstGeom>
          <a:noFill/>
          <a:ln/>
        </p:spPr>
        <p:txBody>
          <a:bodyPr wrap="square" rtlCol="0" anchor="ctr"/>
          <a:lstStyle/>
          <a:p>
            <a:pPr algn="ctr" indent="0" marL="0">
              <a:buNone/>
            </a:pPr>
            <a:r>
              <a:rPr lang="en-US" sz="1100" dirty="0">
                <a:solidFill>
                  <a:srgbClr val="888888"/>
                </a:solidFill>
                <a:latin typeface="Arial" pitchFamily="34" charset="0"/>
                <a:ea typeface="Arial" pitchFamily="34" charset="-122"/>
                <a:cs typeface="Arial" pitchFamily="34" charset="-120"/>
              </a:rPr>
              <a:t>[Photo]</a:t>
            </a:r>
            <a:endParaRPr lang="en-US" sz="1100" dirty="0"/>
          </a:p>
        </p:txBody>
      </p:sp>
      <p:sp>
        <p:nvSpPr>
          <p:cNvPr id="15" name="Text 13"/>
          <p:cNvSpPr/>
          <p:nvPr/>
        </p:nvSpPr>
        <p:spPr>
          <a:xfrm>
            <a:off x="6217920" y="3474720"/>
            <a:ext cx="2560320" cy="457200"/>
          </a:xfrm>
          <a:prstGeom prst="rect">
            <a:avLst/>
          </a:prstGeom>
          <a:noFill/>
          <a:ln/>
        </p:spPr>
        <p:txBody>
          <a:bodyPr wrap="square" rtlCol="0" anchor="t"/>
          <a:lstStyle/>
          <a:p>
            <a:pPr indent="0" marL="0">
              <a:buNone/>
            </a:pPr>
            <a:r>
              <a:rPr lang="en-US" sz="1300" b="1" dirty="0">
                <a:solidFill>
                  <a:srgbClr val="1A1A1A"/>
                </a:solidFill>
                <a:latin typeface="Arial" pitchFamily="34" charset="0"/>
                <a:ea typeface="Arial" pitchFamily="34" charset="-122"/>
                <a:cs typeface="Arial" pitchFamily="34" charset="-120"/>
              </a:rPr>
              <a:t>Andrew Foulks</a:t>
            </a:r>
            <a:endParaRPr lang="en-US" sz="1300" dirty="0"/>
          </a:p>
        </p:txBody>
      </p:sp>
      <p:sp>
        <p:nvSpPr>
          <p:cNvPr id="16" name="Text 14"/>
          <p:cNvSpPr/>
          <p:nvPr/>
        </p:nvSpPr>
        <p:spPr>
          <a:xfrm>
            <a:off x="6217920" y="3886200"/>
            <a:ext cx="2560320" cy="320040"/>
          </a:xfrm>
          <a:prstGeom prst="rect">
            <a:avLst/>
          </a:prstGeom>
          <a:noFill/>
          <a:ln/>
        </p:spPr>
        <p:txBody>
          <a:bodyPr wrap="square" rtlCol="0" anchor="t"/>
          <a:lstStyle/>
          <a:p>
            <a:pPr indent="0" marL="0">
              <a:buNone/>
            </a:pPr>
            <a:r>
              <a:rPr lang="en-US" sz="1100" dirty="0">
                <a:solidFill>
                  <a:srgbClr val="555555"/>
                </a:solidFill>
                <a:latin typeface="Arial" pitchFamily="34" charset="0"/>
                <a:ea typeface="Arial" pitchFamily="34" charset="-122"/>
                <a:cs typeface="Arial" pitchFamily="34" charset="-120"/>
              </a:rPr>
              <a:t>Curriculum Developer</a:t>
            </a:r>
            <a:endParaRPr lang="en-US" sz="1100" dirty="0"/>
          </a:p>
        </p:txBody>
      </p:sp>
      <p:sp>
        <p:nvSpPr>
          <p:cNvPr id="17" name="Text 15"/>
          <p:cNvSpPr/>
          <p:nvPr/>
        </p:nvSpPr>
        <p:spPr>
          <a:xfrm>
            <a:off x="6217920" y="4251960"/>
            <a:ext cx="2560320" cy="1828800"/>
          </a:xfrm>
          <a:prstGeom prst="rect">
            <a:avLst/>
          </a:prstGeom>
          <a:noFill/>
          <a:ln/>
        </p:spPr>
        <p:txBody>
          <a:bodyPr wrap="square" rtlCol="0" anchor="t"/>
          <a:lstStyle/>
          <a:p>
            <a:pPr indent="0" marL="0">
              <a:lnSpc>
                <a:spcPct val="115000"/>
              </a:lnSpc>
              <a:buNone/>
            </a:pPr>
            <a:r>
              <a:rPr lang="en-US" sz="950" dirty="0">
                <a:solidFill>
                  <a:srgbClr val="1A1A1A"/>
                </a:solidFill>
                <a:latin typeface="Arial" pitchFamily="34" charset="0"/>
                <a:ea typeface="Arial" pitchFamily="34" charset="-122"/>
                <a:cs typeface="Arial" pitchFamily="34" charset="-120"/>
              </a:rPr>
              <a:t>Hardware and software integration. Agentic AI Council member. Prior experience at NASA.</a:t>
            </a:r>
            <a:endParaRPr lang="en-US" sz="950" dirty="0"/>
          </a:p>
        </p:txBody>
      </p:sp>
      <p:sp>
        <p:nvSpPr>
          <p:cNvPr id="18" name="Shape 16"/>
          <p:cNvSpPr/>
          <p:nvPr/>
        </p:nvSpPr>
        <p:spPr>
          <a:xfrm>
            <a:off x="9052560" y="1691640"/>
            <a:ext cx="2560320" cy="1645920"/>
          </a:xfrm>
          <a:prstGeom prst="rect">
            <a:avLst/>
          </a:prstGeom>
          <a:solidFill>
            <a:srgbClr val="F2F2F2"/>
          </a:solidFill>
          <a:ln w="9525">
            <a:solidFill>
              <a:srgbClr val="DDDDDD"/>
            </a:solidFill>
            <a:prstDash val="solid"/>
          </a:ln>
        </p:spPr>
      </p:sp>
      <p:sp>
        <p:nvSpPr>
          <p:cNvPr id="19" name="Text 17"/>
          <p:cNvSpPr/>
          <p:nvPr/>
        </p:nvSpPr>
        <p:spPr>
          <a:xfrm>
            <a:off x="9052560" y="1691640"/>
            <a:ext cx="2560320" cy="1645920"/>
          </a:xfrm>
          <a:prstGeom prst="rect">
            <a:avLst/>
          </a:prstGeom>
          <a:noFill/>
          <a:ln/>
        </p:spPr>
        <p:txBody>
          <a:bodyPr wrap="square" rtlCol="0" anchor="ctr"/>
          <a:lstStyle/>
          <a:p>
            <a:pPr algn="ctr" indent="0" marL="0">
              <a:buNone/>
            </a:pPr>
            <a:r>
              <a:rPr lang="en-US" sz="1100" dirty="0">
                <a:solidFill>
                  <a:srgbClr val="888888"/>
                </a:solidFill>
                <a:latin typeface="Arial" pitchFamily="34" charset="0"/>
                <a:ea typeface="Arial" pitchFamily="34" charset="-122"/>
                <a:cs typeface="Arial" pitchFamily="34" charset="-120"/>
              </a:rPr>
              <a:t>[Photo]</a:t>
            </a:r>
            <a:endParaRPr lang="en-US" sz="1100" dirty="0"/>
          </a:p>
        </p:txBody>
      </p:sp>
      <p:sp>
        <p:nvSpPr>
          <p:cNvPr id="20" name="Text 18"/>
          <p:cNvSpPr/>
          <p:nvPr/>
        </p:nvSpPr>
        <p:spPr>
          <a:xfrm>
            <a:off x="9052560" y="3474720"/>
            <a:ext cx="2560320" cy="457200"/>
          </a:xfrm>
          <a:prstGeom prst="rect">
            <a:avLst/>
          </a:prstGeom>
          <a:noFill/>
          <a:ln/>
        </p:spPr>
        <p:txBody>
          <a:bodyPr wrap="square" rtlCol="0" anchor="t"/>
          <a:lstStyle/>
          <a:p>
            <a:pPr indent="0" marL="0">
              <a:buNone/>
            </a:pPr>
            <a:r>
              <a:rPr lang="en-US" sz="1300" b="1" dirty="0">
                <a:solidFill>
                  <a:srgbClr val="1A1A1A"/>
                </a:solidFill>
                <a:latin typeface="Arial" pitchFamily="34" charset="0"/>
                <a:ea typeface="Arial" pitchFamily="34" charset="-122"/>
                <a:cs typeface="Arial" pitchFamily="34" charset="-120"/>
              </a:rPr>
              <a:t>Emanuel Perez</a:t>
            </a:r>
            <a:endParaRPr lang="en-US" sz="1300" dirty="0"/>
          </a:p>
        </p:txBody>
      </p:sp>
      <p:sp>
        <p:nvSpPr>
          <p:cNvPr id="21" name="Text 19"/>
          <p:cNvSpPr/>
          <p:nvPr/>
        </p:nvSpPr>
        <p:spPr>
          <a:xfrm>
            <a:off x="9052560" y="3886200"/>
            <a:ext cx="2560320" cy="320040"/>
          </a:xfrm>
          <a:prstGeom prst="rect">
            <a:avLst/>
          </a:prstGeom>
          <a:noFill/>
          <a:ln/>
        </p:spPr>
        <p:txBody>
          <a:bodyPr wrap="square" rtlCol="0" anchor="t"/>
          <a:lstStyle/>
          <a:p>
            <a:pPr indent="0" marL="0">
              <a:buNone/>
            </a:pPr>
            <a:r>
              <a:rPr lang="en-US" sz="1100" dirty="0">
                <a:solidFill>
                  <a:srgbClr val="555555"/>
                </a:solidFill>
                <a:latin typeface="Arial" pitchFamily="34" charset="0"/>
                <a:ea typeface="Arial" pitchFamily="34" charset="-122"/>
                <a:cs typeface="Arial" pitchFamily="34" charset="-120"/>
              </a:rPr>
              <a:t>Curriculum Developer &amp; Instructor</a:t>
            </a:r>
            <a:endParaRPr lang="en-US" sz="1100" dirty="0"/>
          </a:p>
        </p:txBody>
      </p:sp>
      <p:sp>
        <p:nvSpPr>
          <p:cNvPr id="22" name="Text 20"/>
          <p:cNvSpPr/>
          <p:nvPr/>
        </p:nvSpPr>
        <p:spPr>
          <a:xfrm>
            <a:off x="9052560" y="4251960"/>
            <a:ext cx="2560320" cy="1828800"/>
          </a:xfrm>
          <a:prstGeom prst="rect">
            <a:avLst/>
          </a:prstGeom>
          <a:noFill/>
          <a:ln/>
        </p:spPr>
        <p:txBody>
          <a:bodyPr wrap="square" rtlCol="0" anchor="t"/>
          <a:lstStyle/>
          <a:p>
            <a:pPr indent="0" marL="0">
              <a:lnSpc>
                <a:spcPct val="115000"/>
              </a:lnSpc>
              <a:buNone/>
            </a:pPr>
            <a:r>
              <a:rPr lang="en-US" sz="950" dirty="0">
                <a:solidFill>
                  <a:srgbClr val="1A1A1A"/>
                </a:solidFill>
                <a:latin typeface="Arial" pitchFamily="34" charset="0"/>
                <a:ea typeface="Arial" pitchFamily="34" charset="-122"/>
                <a:cs typeface="Arial" pitchFamily="34" charset="-120"/>
              </a:rPr>
              <a:t>Entrepreneurial education programs, including work with Norfolk State and Unlock Alabama. Prior experience with BuildSpace.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Purpose</a:t>
            </a:r>
            <a:endParaRPr lang="en-US" sz="3000" dirty="0"/>
          </a:p>
        </p:txBody>
      </p:sp>
      <p:sp>
        <p:nvSpPr>
          <p:cNvPr id="3" name="Text 1"/>
          <p:cNvSpPr/>
          <p:nvPr/>
        </p:nvSpPr>
        <p:spPr>
          <a:xfrm>
            <a:off x="548640" y="1645920"/>
            <a:ext cx="11064240" cy="1005840"/>
          </a:xfrm>
          <a:prstGeom prst="rect">
            <a:avLst/>
          </a:prstGeom>
          <a:noFill/>
          <a:ln/>
        </p:spPr>
        <p:txBody>
          <a:bodyPr wrap="square" rtlCol="0" anchor="ctr"/>
          <a:lstStyle/>
          <a:p>
            <a:pPr indent="0" marL="0">
              <a:lnSpc>
                <a:spcPct val="125000"/>
              </a:lnSpc>
              <a:buNone/>
            </a:pPr>
            <a:r>
              <a:rPr lang="en-US" sz="1700" dirty="0">
                <a:solidFill>
                  <a:srgbClr val="1A1A1A"/>
                </a:solidFill>
                <a:latin typeface="Arial" pitchFamily="34" charset="0"/>
                <a:ea typeface="Arial" pitchFamily="34" charset="-122"/>
                <a:cs typeface="Arial" pitchFamily="34" charset="-120"/>
              </a:rPr>
              <a:t>The Tri-Cities region is producing that human capital, but some of the most talented students leave the region that helped develop them. That exit weakens the region's own capacity for economic growth.</a:t>
            </a:r>
            <a:endParaRPr lang="en-US" sz="1700" dirty="0"/>
          </a:p>
        </p:txBody>
      </p:sp>
      <p:sp>
        <p:nvSpPr>
          <p:cNvPr id="4" name="Text 2"/>
          <p:cNvSpPr/>
          <p:nvPr/>
        </p:nvSpPr>
        <p:spPr>
          <a:xfrm>
            <a:off x="548640" y="3063240"/>
            <a:ext cx="3383280" cy="365760"/>
          </a:xfrm>
          <a:prstGeom prst="rect">
            <a:avLst/>
          </a:prstGeom>
          <a:noFill/>
          <a:ln/>
        </p:spPr>
        <p:txBody>
          <a:bodyPr wrap="square" rtlCol="0" anchor="ctr"/>
          <a:lstStyle/>
          <a:p>
            <a:pPr indent="0" marL="0">
              <a:buNone/>
            </a:pPr>
            <a:r>
              <a:rPr lang="en-US" sz="1400" b="1" dirty="0">
                <a:solidFill>
                  <a:srgbClr val="555555"/>
                </a:solidFill>
                <a:latin typeface="Arial" pitchFamily="34" charset="0"/>
                <a:ea typeface="Arial" pitchFamily="34" charset="-122"/>
                <a:cs typeface="Arial" pitchFamily="34" charset="-120"/>
              </a:rPr>
              <a:t>Industries</a:t>
            </a:r>
            <a:endParaRPr lang="en-US" sz="1400" dirty="0"/>
          </a:p>
        </p:txBody>
      </p:sp>
      <p:sp>
        <p:nvSpPr>
          <p:cNvPr id="5" name="Text 3"/>
          <p:cNvSpPr/>
          <p:nvPr/>
        </p:nvSpPr>
        <p:spPr>
          <a:xfrm>
            <a:off x="548640" y="3429000"/>
            <a:ext cx="3383280" cy="2743200"/>
          </a:xfrm>
          <a:prstGeom prst="rect">
            <a:avLst/>
          </a:prstGeom>
          <a:noFill/>
          <a:ln/>
        </p:spPr>
        <p:txBody>
          <a:bodyPr wrap="square" rtlCol="0" anchor="ctr"/>
          <a:lstStyle/>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Agriculture</a:t>
            </a:r>
            <a:endParaRPr lang="en-US" sz="1350" dirty="0"/>
          </a:p>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Manufacturing</a:t>
            </a:r>
            <a:endParaRPr lang="en-US" sz="1350" dirty="0"/>
          </a:p>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Logistics</a:t>
            </a:r>
            <a:endParaRPr lang="en-US" sz="1350" dirty="0"/>
          </a:p>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Energy and Utilities</a:t>
            </a:r>
            <a:endParaRPr lang="en-US" sz="1350" dirty="0"/>
          </a:p>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Healthcare Technology</a:t>
            </a:r>
            <a:endParaRPr lang="en-US" sz="1350" dirty="0"/>
          </a:p>
        </p:txBody>
      </p:sp>
      <p:sp>
        <p:nvSpPr>
          <p:cNvPr id="6" name="Text 4"/>
          <p:cNvSpPr/>
          <p:nvPr/>
        </p:nvSpPr>
        <p:spPr>
          <a:xfrm>
            <a:off x="4160520" y="3063240"/>
            <a:ext cx="3383280" cy="365760"/>
          </a:xfrm>
          <a:prstGeom prst="rect">
            <a:avLst/>
          </a:prstGeom>
          <a:noFill/>
          <a:ln/>
        </p:spPr>
        <p:txBody>
          <a:bodyPr wrap="square" rtlCol="0" anchor="ctr"/>
          <a:lstStyle/>
          <a:p>
            <a:pPr indent="0" marL="0">
              <a:buNone/>
            </a:pPr>
            <a:r>
              <a:rPr lang="en-US" sz="1400" b="1" dirty="0">
                <a:solidFill>
                  <a:srgbClr val="555555"/>
                </a:solidFill>
                <a:latin typeface="Arial" pitchFamily="34" charset="0"/>
                <a:ea typeface="Arial" pitchFamily="34" charset="-122"/>
                <a:cs typeface="Arial" pitchFamily="34" charset="-120"/>
              </a:rPr>
              <a:t>How It Works</a:t>
            </a:r>
            <a:endParaRPr lang="en-US" sz="1400" dirty="0"/>
          </a:p>
        </p:txBody>
      </p:sp>
      <p:sp>
        <p:nvSpPr>
          <p:cNvPr id="7" name="Text 5"/>
          <p:cNvSpPr/>
          <p:nvPr/>
        </p:nvSpPr>
        <p:spPr>
          <a:xfrm>
            <a:off x="4160520" y="3429000"/>
            <a:ext cx="3383280" cy="2743200"/>
          </a:xfrm>
          <a:prstGeom prst="rect">
            <a:avLst/>
          </a:prstGeom>
          <a:noFill/>
          <a:ln/>
        </p:spPr>
        <p:txBody>
          <a:bodyPr wrap="square" rtlCol="0" anchor="ctr"/>
          <a:lstStyle/>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Transferable skills applied across industries</a:t>
            </a:r>
            <a:endParaRPr lang="en-US" sz="1350" dirty="0"/>
          </a:p>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Project-based work tied directly to employers</a:t>
            </a:r>
            <a:endParaRPr lang="en-US" sz="1350" dirty="0"/>
          </a:p>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Soft skills built alongside technical skills</a:t>
            </a:r>
            <a:endParaRPr lang="en-US" sz="1350" dirty="0"/>
          </a:p>
          <a:p>
            <a:pPr marL="177800" indent="-177800">
              <a:spcAft>
                <a:spcPts val="700"/>
              </a:spcAft>
              <a:buSzPct val="100000"/>
              <a:buChar char="•"/>
            </a:pPr>
            <a:r>
              <a:rPr lang="en-US" sz="1350" dirty="0">
                <a:solidFill>
                  <a:srgbClr val="1A1A1A"/>
                </a:solidFill>
                <a:latin typeface="Arial" pitchFamily="34" charset="0"/>
                <a:ea typeface="Arial" pitchFamily="34" charset="-122"/>
                <a:cs typeface="Arial" pitchFamily="34" charset="-120"/>
              </a:rPr>
              <a:t>Framed around Competency, Compatibility, and Commitment</a:t>
            </a:r>
            <a:endParaRPr lang="en-US" sz="1350" dirty="0"/>
          </a:p>
        </p:txBody>
      </p:sp>
      <p:pic>
        <p:nvPicPr>
          <p:cNvPr id="8" name="Image 0" descr="/home/claude/vsu-deck/photos/purpose.png">    </p:cNvPr>
          <p:cNvPicPr>
            <a:picLocks noChangeAspect="1"/>
          </p:cNvPicPr>
          <p:nvPr/>
        </p:nvPicPr>
        <p:blipFill>
          <a:blip r:embed="rId1"/>
          <a:srcRect l="0" r="0" t="0" b="0"/>
          <a:stretch/>
        </p:blipFill>
        <p:spPr>
          <a:xfrm>
            <a:off x="7772400" y="3063240"/>
            <a:ext cx="3840480" cy="3108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What Is the Program</a:t>
            </a:r>
            <a:endParaRPr lang="en-US" sz="3000" dirty="0"/>
          </a:p>
        </p:txBody>
      </p:sp>
      <p:sp>
        <p:nvSpPr>
          <p:cNvPr id="3" name="Text 1"/>
          <p:cNvSpPr/>
          <p:nvPr/>
        </p:nvSpPr>
        <p:spPr>
          <a:xfrm>
            <a:off x="548640" y="1508760"/>
            <a:ext cx="6675120" cy="1005840"/>
          </a:xfrm>
          <a:prstGeom prst="rect">
            <a:avLst/>
          </a:prstGeom>
          <a:noFill/>
          <a:ln/>
        </p:spPr>
        <p:txBody>
          <a:bodyPr wrap="square" rtlCol="0" anchor="ctr"/>
          <a:lstStyle/>
          <a:p>
            <a:pPr indent="0" marL="0">
              <a:lnSpc>
                <a:spcPct val="115000"/>
              </a:lnSpc>
              <a:buNone/>
            </a:pPr>
            <a:r>
              <a:rPr lang="en-US" sz="1400" dirty="0">
                <a:solidFill>
                  <a:srgbClr val="1A1A1A"/>
                </a:solidFill>
                <a:latin typeface="Arial" pitchFamily="34" charset="0"/>
                <a:ea typeface="Arial" pitchFamily="34" charset="-122"/>
                <a:cs typeface="Arial" pitchFamily="34" charset="-120"/>
              </a:rPr>
              <a:t>A 15-week program where undergraduate teams turn a real idea into a working product. Grounded in project-based, experiential learning, students pair IoT and AI technologies with the business skills needed to bring that product to market.</a:t>
            </a:r>
            <a:endParaRPr lang="en-US" sz="1400" dirty="0"/>
          </a:p>
        </p:txBody>
      </p:sp>
      <p:sp>
        <p:nvSpPr>
          <p:cNvPr id="4" name="Text 2"/>
          <p:cNvSpPr/>
          <p:nvPr/>
        </p:nvSpPr>
        <p:spPr>
          <a:xfrm>
            <a:off x="548640" y="2651760"/>
            <a:ext cx="6675120" cy="292608"/>
          </a:xfrm>
          <a:prstGeom prst="rect">
            <a:avLst/>
          </a:prstGeom>
          <a:noFill/>
          <a:ln/>
        </p:spPr>
        <p:txBody>
          <a:bodyPr wrap="square" rtlCol="0" anchor="ctr"/>
          <a:lstStyle/>
          <a:p>
            <a:pPr indent="0" marL="0">
              <a:buNone/>
            </a:pPr>
            <a:r>
              <a:rPr lang="en-US" sz="1300" b="1" spc="100" kern="0" dirty="0">
                <a:solidFill>
                  <a:srgbClr val="555555"/>
                </a:solidFill>
                <a:latin typeface="Arial" pitchFamily="34" charset="0"/>
                <a:ea typeface="Arial" pitchFamily="34" charset="-122"/>
                <a:cs typeface="Arial" pitchFamily="34" charset="-120"/>
              </a:rPr>
              <a:t>Dates and Times</a:t>
            </a:r>
            <a:endParaRPr lang="en-US" sz="1300" dirty="0"/>
          </a:p>
        </p:txBody>
      </p:sp>
      <p:sp>
        <p:nvSpPr>
          <p:cNvPr id="5" name="Text 3"/>
          <p:cNvSpPr/>
          <p:nvPr/>
        </p:nvSpPr>
        <p:spPr>
          <a:xfrm>
            <a:off x="548640" y="2980944"/>
            <a:ext cx="6675120" cy="1280160"/>
          </a:xfrm>
          <a:prstGeom prst="rect">
            <a:avLst/>
          </a:prstGeom>
          <a:noFill/>
          <a:ln/>
        </p:spPr>
        <p:txBody>
          <a:bodyPr wrap="square" rtlCol="0" anchor="t"/>
          <a:lstStyle/>
          <a:p>
            <a:pPr marL="203200" indent="-2032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Program Date: January 2027 - April 2027</a:t>
            </a:r>
            <a:endParaRPr lang="en-US" sz="1400" dirty="0"/>
          </a:p>
          <a:p>
            <a:pPr marL="203200" indent="-2032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Schedule: Tuesday and Thursday, 5:00 - 8:00 PM</a:t>
            </a:r>
            <a:endParaRPr lang="en-US" sz="1400" dirty="0"/>
          </a:p>
        </p:txBody>
      </p:sp>
      <p:sp>
        <p:nvSpPr>
          <p:cNvPr id="6" name="Text 4"/>
          <p:cNvSpPr/>
          <p:nvPr/>
        </p:nvSpPr>
        <p:spPr>
          <a:xfrm>
            <a:off x="548640" y="3877056"/>
            <a:ext cx="6675120" cy="292608"/>
          </a:xfrm>
          <a:prstGeom prst="rect">
            <a:avLst/>
          </a:prstGeom>
          <a:noFill/>
          <a:ln/>
        </p:spPr>
        <p:txBody>
          <a:bodyPr wrap="square" rtlCol="0" anchor="ctr"/>
          <a:lstStyle/>
          <a:p>
            <a:pPr indent="0" marL="0">
              <a:buNone/>
            </a:pPr>
            <a:r>
              <a:rPr lang="en-US" sz="1300" b="1" spc="100" kern="0" dirty="0">
                <a:solidFill>
                  <a:srgbClr val="555555"/>
                </a:solidFill>
                <a:latin typeface="Arial" pitchFamily="34" charset="0"/>
                <a:ea typeface="Arial" pitchFamily="34" charset="-122"/>
                <a:cs typeface="Arial" pitchFamily="34" charset="-120"/>
              </a:rPr>
              <a:t>Cohort Profile</a:t>
            </a:r>
            <a:endParaRPr lang="en-US" sz="1300" dirty="0"/>
          </a:p>
        </p:txBody>
      </p:sp>
      <p:sp>
        <p:nvSpPr>
          <p:cNvPr id="7" name="Text 5"/>
          <p:cNvSpPr/>
          <p:nvPr/>
        </p:nvSpPr>
        <p:spPr>
          <a:xfrm>
            <a:off x="548640" y="4206240"/>
            <a:ext cx="6675120" cy="1280160"/>
          </a:xfrm>
          <a:prstGeom prst="rect">
            <a:avLst/>
          </a:prstGeom>
          <a:noFill/>
          <a:ln/>
        </p:spPr>
        <p:txBody>
          <a:bodyPr wrap="square" rtlCol="0" anchor="t"/>
          <a:lstStyle/>
          <a:p>
            <a:pPr marL="203200" indent="-2032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Total Students: 60</a:t>
            </a:r>
            <a:endParaRPr lang="en-US" sz="1400" dirty="0"/>
          </a:p>
          <a:p>
            <a:pPr marL="203200" indent="-2032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Schools: Engineering &amp; Technology, Business, and Agriculture</a:t>
            </a:r>
            <a:endParaRPr lang="en-US" sz="1400" dirty="0"/>
          </a:p>
          <a:p>
            <a:pPr marL="203200" indent="-203200">
              <a:spcAft>
                <a:spcPts val="800"/>
              </a:spcAft>
              <a:buSzPct val="100000"/>
              <a:buChar char="•"/>
            </a:pPr>
            <a:r>
              <a:rPr lang="en-US" sz="1400" dirty="0">
                <a:solidFill>
                  <a:srgbClr val="1A1A1A"/>
                </a:solidFill>
                <a:latin typeface="Arial" pitchFamily="34" charset="0"/>
                <a:ea typeface="Arial" pitchFamily="34" charset="-122"/>
                <a:cs typeface="Arial" pitchFamily="34" charset="-120"/>
              </a:rPr>
              <a:t>Class: Open to all (prioritize freshman and sophomore)</a:t>
            </a:r>
            <a:endParaRPr lang="en-US" sz="1400" dirty="0"/>
          </a:p>
        </p:txBody>
      </p:sp>
      <p:pic>
        <p:nvPicPr>
          <p:cNvPr id="8" name="Image 0" descr="/home/claude/vsu-deck/photos/whatistheprogram.png">    </p:cNvPr>
          <p:cNvPicPr>
            <a:picLocks noChangeAspect="1"/>
          </p:cNvPicPr>
          <p:nvPr/>
        </p:nvPicPr>
        <p:blipFill>
          <a:blip r:embed="rId1"/>
          <a:srcRect l="0" r="0" t="0" b="0"/>
          <a:stretch/>
        </p:blipFill>
        <p:spPr>
          <a:xfrm>
            <a:off x="7680960" y="1737360"/>
            <a:ext cx="3931920" cy="4297680"/>
          </a:xfrm>
          <a:prstGeom prst="rect">
            <a:avLst/>
          </a:prstGeom>
        </p:spPr>
      </p:pic>
      <p:sp>
        <p:nvSpPr>
          <p:cNvPr id="9" name="Text 6"/>
          <p:cNvSpPr/>
          <p:nvPr/>
        </p:nvSpPr>
        <p:spPr>
          <a:xfrm>
            <a:off x="548640" y="5257800"/>
            <a:ext cx="6675120" cy="457200"/>
          </a:xfrm>
          <a:prstGeom prst="rect">
            <a:avLst/>
          </a:prstGeom>
          <a:noFill/>
          <a:ln/>
        </p:spPr>
        <p:txBody>
          <a:bodyPr wrap="square" rtlCol="0" anchor="ctr"/>
          <a:lstStyle/>
          <a:p>
            <a:pPr indent="0" marL="0">
              <a:lnSpc>
                <a:spcPct val="110000"/>
              </a:lnSpc>
              <a:buNone/>
            </a:pPr>
            <a:r>
              <a:rPr lang="en-US" sz="1100" i="1" dirty="0">
                <a:solidFill>
                  <a:srgbClr val="888888"/>
                </a:solidFill>
                <a:latin typeface="Arial" pitchFamily="34" charset="0"/>
                <a:ea typeface="Arial" pitchFamily="34" charset="-122"/>
                <a:cs typeface="Arial" pitchFamily="34" charset="-120"/>
              </a:rPr>
              <a:t>Dates, times, and cohort profile are tentative, pending alignment with Virginia State University.</a:t>
            </a:r>
            <a:endParaRPr lang="en-US" sz="1100" dirty="0"/>
          </a:p>
        </p:txBody>
      </p:sp>
      <p:sp>
        <p:nvSpPr>
          <p:cNvPr id="10" name="Text 7"/>
          <p:cNvSpPr/>
          <p:nvPr/>
        </p:nvSpPr>
        <p:spPr>
          <a:xfrm>
            <a:off x="548640" y="6263640"/>
            <a:ext cx="11064240" cy="457200"/>
          </a:xfrm>
          <a:prstGeom prst="rect">
            <a:avLst/>
          </a:prstGeom>
          <a:noFill/>
          <a:ln/>
        </p:spPr>
        <p:txBody>
          <a:bodyPr wrap="square" rtlCol="0" anchor="ctr"/>
          <a:lstStyle/>
          <a:p>
            <a:pPr indent="0" marL="0">
              <a:lnSpc>
                <a:spcPct val="110000"/>
              </a:lnSpc>
              <a:buNone/>
            </a:pPr>
            <a:r>
              <a:rPr lang="en-US" sz="1100" i="1" dirty="0">
                <a:solidFill>
                  <a:srgbClr val="888888"/>
                </a:solidFill>
                <a:latin typeface="Arial" pitchFamily="34" charset="0"/>
                <a:ea typeface="Arial" pitchFamily="34" charset="-122"/>
                <a:cs typeface="Arial" pitchFamily="34" charset="-120"/>
              </a:rPr>
              <a:t>Based at Virginia State University in Ettrick, where the Richmond metro area meets the Tri-Cities at the I-95 / I-85 junction, anchoring a footprint across Central and Southside Virginia.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Inside the Program</a:t>
            </a:r>
            <a:endParaRPr lang="en-US" sz="3000" dirty="0"/>
          </a:p>
        </p:txBody>
      </p:sp>
      <p:sp>
        <p:nvSpPr>
          <p:cNvPr id="3" name="Text 1"/>
          <p:cNvSpPr/>
          <p:nvPr/>
        </p:nvSpPr>
        <p:spPr>
          <a:xfrm>
            <a:off x="548640" y="1463040"/>
            <a:ext cx="11064240" cy="457200"/>
          </a:xfrm>
          <a:prstGeom prst="rect">
            <a:avLst/>
          </a:prstGeom>
          <a:noFill/>
          <a:ln/>
        </p:spPr>
        <p:txBody>
          <a:bodyPr wrap="square" rtlCol="0" anchor="ctr"/>
          <a:lstStyle/>
          <a:p>
            <a:pPr indent="0" marL="0">
              <a:lnSpc>
                <a:spcPct val="115000"/>
              </a:lnSpc>
              <a:buNone/>
            </a:pPr>
            <a:r>
              <a:rPr lang="en-US" sz="1400" dirty="0">
                <a:solidFill>
                  <a:srgbClr val="1A1A1A"/>
                </a:solidFill>
                <a:latin typeface="Arial" pitchFamily="34" charset="0"/>
                <a:ea typeface="Arial" pitchFamily="34" charset="-122"/>
                <a:cs typeface="Arial" pitchFamily="34" charset="-120"/>
              </a:rPr>
              <a:t>Students move through a full build cycle, from finding a real problem to launching a working product and presenting it.</a:t>
            </a:r>
            <a:endParaRPr lang="en-US" sz="1400" dirty="0"/>
          </a:p>
        </p:txBody>
      </p:sp>
      <p:sp>
        <p:nvSpPr>
          <p:cNvPr id="4" name="Text 2"/>
          <p:cNvSpPr/>
          <p:nvPr/>
        </p:nvSpPr>
        <p:spPr>
          <a:xfrm>
            <a:off x="548640" y="2103120"/>
            <a:ext cx="3520440" cy="256032"/>
          </a:xfrm>
          <a:prstGeom prst="rect">
            <a:avLst/>
          </a:prstGeom>
          <a:noFill/>
          <a:ln/>
        </p:spPr>
        <p:txBody>
          <a:bodyPr wrap="square" rtlCol="0" anchor="ctr"/>
          <a:lstStyle/>
          <a:p>
            <a:pPr indent="0" marL="0">
              <a:buNone/>
            </a:pPr>
            <a:r>
              <a:rPr lang="en-US" sz="1200" b="1" spc="100" kern="0" dirty="0">
                <a:solidFill>
                  <a:srgbClr val="1A1A1A"/>
                </a:solidFill>
                <a:latin typeface="Arial" pitchFamily="34" charset="0"/>
                <a:ea typeface="Arial" pitchFamily="34" charset="-122"/>
                <a:cs typeface="Arial" pitchFamily="34" charset="-120"/>
              </a:rPr>
              <a:t>ACTIVITIES</a:t>
            </a:r>
            <a:endParaRPr lang="en-US" sz="1200" dirty="0"/>
          </a:p>
        </p:txBody>
      </p:sp>
      <p:sp>
        <p:nvSpPr>
          <p:cNvPr id="5" name="Text 3"/>
          <p:cNvSpPr/>
          <p:nvPr/>
        </p:nvSpPr>
        <p:spPr>
          <a:xfrm>
            <a:off x="548640" y="2340864"/>
            <a:ext cx="3520440" cy="237744"/>
          </a:xfrm>
          <a:prstGeom prst="rect">
            <a:avLst/>
          </a:prstGeom>
          <a:noFill/>
          <a:ln/>
        </p:spPr>
        <p:txBody>
          <a:bodyPr wrap="square" rtlCol="0" anchor="ctr"/>
          <a:lstStyle/>
          <a:p>
            <a:pPr indent="0" marL="0">
              <a:buNone/>
            </a:pPr>
            <a:r>
              <a:rPr lang="en-US" sz="1000" i="1" dirty="0">
                <a:solidFill>
                  <a:srgbClr val="888888"/>
                </a:solidFill>
                <a:latin typeface="Arial" pitchFamily="34" charset="0"/>
                <a:ea typeface="Arial" pitchFamily="34" charset="-122"/>
                <a:cs typeface="Arial" pitchFamily="34" charset="-120"/>
              </a:rPr>
              <a:t>What students do</a:t>
            </a:r>
            <a:endParaRPr lang="en-US" sz="1000" dirty="0"/>
          </a:p>
        </p:txBody>
      </p:sp>
      <p:sp>
        <p:nvSpPr>
          <p:cNvPr id="6" name="Text 4"/>
          <p:cNvSpPr/>
          <p:nvPr/>
        </p:nvSpPr>
        <p:spPr>
          <a:xfrm>
            <a:off x="548640" y="2651760"/>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Technical</a:t>
            </a:r>
            <a:endParaRPr lang="en-US" sz="950" dirty="0"/>
          </a:p>
        </p:txBody>
      </p:sp>
      <p:sp>
        <p:nvSpPr>
          <p:cNvPr id="7" name="Text 5"/>
          <p:cNvSpPr/>
          <p:nvPr/>
        </p:nvSpPr>
        <p:spPr>
          <a:xfrm>
            <a:off x="548640" y="2862072"/>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Breadboard a microcontroller and wire sensors</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Prompt AI tools to generate firmware and software</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Build and deploy a web app with MCP servers and APIs</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Run live user tests and a public launch</a:t>
            </a:r>
            <a:endParaRPr lang="en-US" sz="950" dirty="0"/>
          </a:p>
        </p:txBody>
      </p:sp>
      <p:sp>
        <p:nvSpPr>
          <p:cNvPr id="8" name="Text 6"/>
          <p:cNvSpPr/>
          <p:nvPr/>
        </p:nvSpPr>
        <p:spPr>
          <a:xfrm>
            <a:off x="548640" y="4160520"/>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Business</a:t>
            </a:r>
            <a:endParaRPr lang="en-US" sz="950" dirty="0"/>
          </a:p>
        </p:txBody>
      </p:sp>
      <p:sp>
        <p:nvSpPr>
          <p:cNvPr id="9" name="Text 7"/>
          <p:cNvSpPr/>
          <p:nvPr/>
        </p:nvSpPr>
        <p:spPr>
          <a:xfrm>
            <a:off x="548640" y="4370832"/>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Interview users and define a real regional problem</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Pitch and present to a live audience</a:t>
            </a:r>
            <a:endParaRPr lang="en-US" sz="950" dirty="0"/>
          </a:p>
        </p:txBody>
      </p:sp>
      <p:sp>
        <p:nvSpPr>
          <p:cNvPr id="10" name="Text 8"/>
          <p:cNvSpPr/>
          <p:nvPr/>
        </p:nvSpPr>
        <p:spPr>
          <a:xfrm>
            <a:off x="548640" y="4937760"/>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Professional</a:t>
            </a:r>
            <a:endParaRPr lang="en-US" sz="950" dirty="0"/>
          </a:p>
        </p:txBody>
      </p:sp>
      <p:sp>
        <p:nvSpPr>
          <p:cNvPr id="11" name="Text 9"/>
          <p:cNvSpPr/>
          <p:nvPr/>
        </p:nvSpPr>
        <p:spPr>
          <a:xfrm>
            <a:off x="548640" y="5148072"/>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Collaborate on a team through the full build cycle</a:t>
            </a:r>
            <a:endParaRPr lang="en-US" sz="950" dirty="0"/>
          </a:p>
        </p:txBody>
      </p:sp>
      <p:sp>
        <p:nvSpPr>
          <p:cNvPr id="12" name="Text 10"/>
          <p:cNvSpPr/>
          <p:nvPr/>
        </p:nvSpPr>
        <p:spPr>
          <a:xfrm>
            <a:off x="4325112" y="2103120"/>
            <a:ext cx="3520440" cy="256032"/>
          </a:xfrm>
          <a:prstGeom prst="rect">
            <a:avLst/>
          </a:prstGeom>
          <a:noFill/>
          <a:ln/>
        </p:spPr>
        <p:txBody>
          <a:bodyPr wrap="square" rtlCol="0" anchor="ctr"/>
          <a:lstStyle/>
          <a:p>
            <a:pPr indent="0" marL="0">
              <a:buNone/>
            </a:pPr>
            <a:r>
              <a:rPr lang="en-US" sz="1200" b="1" spc="100" kern="0" dirty="0">
                <a:solidFill>
                  <a:srgbClr val="1A1A1A"/>
                </a:solidFill>
                <a:latin typeface="Arial" pitchFamily="34" charset="0"/>
                <a:ea typeface="Arial" pitchFamily="34" charset="-122"/>
                <a:cs typeface="Arial" pitchFamily="34" charset="-120"/>
              </a:rPr>
              <a:t>SKILLS</a:t>
            </a:r>
            <a:endParaRPr lang="en-US" sz="1200" dirty="0"/>
          </a:p>
        </p:txBody>
      </p:sp>
      <p:sp>
        <p:nvSpPr>
          <p:cNvPr id="13" name="Text 11"/>
          <p:cNvSpPr/>
          <p:nvPr/>
        </p:nvSpPr>
        <p:spPr>
          <a:xfrm>
            <a:off x="4325112" y="2340864"/>
            <a:ext cx="3520440" cy="237744"/>
          </a:xfrm>
          <a:prstGeom prst="rect">
            <a:avLst/>
          </a:prstGeom>
          <a:noFill/>
          <a:ln/>
        </p:spPr>
        <p:txBody>
          <a:bodyPr wrap="square" rtlCol="0" anchor="ctr"/>
          <a:lstStyle/>
          <a:p>
            <a:pPr indent="0" marL="0">
              <a:buNone/>
            </a:pPr>
            <a:r>
              <a:rPr lang="en-US" sz="1000" i="1" dirty="0">
                <a:solidFill>
                  <a:srgbClr val="888888"/>
                </a:solidFill>
                <a:latin typeface="Arial" pitchFamily="34" charset="0"/>
                <a:ea typeface="Arial" pitchFamily="34" charset="-122"/>
                <a:cs typeface="Arial" pitchFamily="34" charset="-120"/>
              </a:rPr>
              <a:t>What students learn</a:t>
            </a:r>
            <a:endParaRPr lang="en-US" sz="1000" dirty="0"/>
          </a:p>
        </p:txBody>
      </p:sp>
      <p:sp>
        <p:nvSpPr>
          <p:cNvPr id="14" name="Text 12"/>
          <p:cNvSpPr/>
          <p:nvPr/>
        </p:nvSpPr>
        <p:spPr>
          <a:xfrm>
            <a:off x="4325112" y="2651760"/>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Technical</a:t>
            </a:r>
            <a:endParaRPr lang="en-US" sz="950" dirty="0"/>
          </a:p>
        </p:txBody>
      </p:sp>
      <p:sp>
        <p:nvSpPr>
          <p:cNvPr id="15" name="Text 13"/>
          <p:cNvSpPr/>
          <p:nvPr/>
        </p:nvSpPr>
        <p:spPr>
          <a:xfrm>
            <a:off x="4325112" y="2862072"/>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Prompt and context engineering</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Systems thinking</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Hardware, firmware, and software fundamentals</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AI-assisted software development</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System integration with MCP servers and APIs</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Data analysis and data storytelling</a:t>
            </a:r>
            <a:endParaRPr lang="en-US" sz="950" dirty="0"/>
          </a:p>
        </p:txBody>
      </p:sp>
      <p:sp>
        <p:nvSpPr>
          <p:cNvPr id="16" name="Text 14"/>
          <p:cNvSpPr/>
          <p:nvPr/>
        </p:nvSpPr>
        <p:spPr>
          <a:xfrm>
            <a:off x="4325112" y="4617720"/>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Business</a:t>
            </a:r>
            <a:endParaRPr lang="en-US" sz="950" dirty="0"/>
          </a:p>
        </p:txBody>
      </p:sp>
      <p:sp>
        <p:nvSpPr>
          <p:cNvPr id="17" name="Text 15"/>
          <p:cNvSpPr/>
          <p:nvPr/>
        </p:nvSpPr>
        <p:spPr>
          <a:xfrm>
            <a:off x="4325112" y="4828032"/>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Design thinking and problem definition</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Business development and pitching</a:t>
            </a:r>
            <a:endParaRPr lang="en-US" sz="950" dirty="0"/>
          </a:p>
        </p:txBody>
      </p:sp>
      <p:sp>
        <p:nvSpPr>
          <p:cNvPr id="18" name="Text 16"/>
          <p:cNvSpPr/>
          <p:nvPr/>
        </p:nvSpPr>
        <p:spPr>
          <a:xfrm>
            <a:off x="4325112" y="5394960"/>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Professional</a:t>
            </a:r>
            <a:endParaRPr lang="en-US" sz="950" dirty="0"/>
          </a:p>
        </p:txBody>
      </p:sp>
      <p:sp>
        <p:nvSpPr>
          <p:cNvPr id="19" name="Text 17"/>
          <p:cNvSpPr/>
          <p:nvPr/>
        </p:nvSpPr>
        <p:spPr>
          <a:xfrm>
            <a:off x="4325112" y="5605272"/>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Project management and delivery</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Cross-functional collaboration across engineering and business</a:t>
            </a:r>
            <a:endParaRPr lang="en-US" sz="950" dirty="0"/>
          </a:p>
        </p:txBody>
      </p:sp>
      <p:sp>
        <p:nvSpPr>
          <p:cNvPr id="20" name="Text 18"/>
          <p:cNvSpPr/>
          <p:nvPr/>
        </p:nvSpPr>
        <p:spPr>
          <a:xfrm>
            <a:off x="8101584" y="2103120"/>
            <a:ext cx="3520440" cy="256032"/>
          </a:xfrm>
          <a:prstGeom prst="rect">
            <a:avLst/>
          </a:prstGeom>
          <a:noFill/>
          <a:ln/>
        </p:spPr>
        <p:txBody>
          <a:bodyPr wrap="square" rtlCol="0" anchor="ctr"/>
          <a:lstStyle/>
          <a:p>
            <a:pPr indent="0" marL="0">
              <a:buNone/>
            </a:pPr>
            <a:r>
              <a:rPr lang="en-US" sz="1200" b="1" spc="100" kern="0" dirty="0">
                <a:solidFill>
                  <a:srgbClr val="1A1A1A"/>
                </a:solidFill>
                <a:latin typeface="Arial" pitchFamily="34" charset="0"/>
                <a:ea typeface="Arial" pitchFamily="34" charset="-122"/>
                <a:cs typeface="Arial" pitchFamily="34" charset="-120"/>
              </a:rPr>
              <a:t>OUTCOMES</a:t>
            </a:r>
            <a:endParaRPr lang="en-US" sz="1200" dirty="0"/>
          </a:p>
        </p:txBody>
      </p:sp>
      <p:sp>
        <p:nvSpPr>
          <p:cNvPr id="21" name="Text 19"/>
          <p:cNvSpPr/>
          <p:nvPr/>
        </p:nvSpPr>
        <p:spPr>
          <a:xfrm>
            <a:off x="8101584" y="2340864"/>
            <a:ext cx="3520440" cy="237744"/>
          </a:xfrm>
          <a:prstGeom prst="rect">
            <a:avLst/>
          </a:prstGeom>
          <a:noFill/>
          <a:ln/>
        </p:spPr>
        <p:txBody>
          <a:bodyPr wrap="square" rtlCol="0" anchor="ctr"/>
          <a:lstStyle/>
          <a:p>
            <a:pPr indent="0" marL="0">
              <a:buNone/>
            </a:pPr>
            <a:r>
              <a:rPr lang="en-US" sz="1000" i="1" dirty="0">
                <a:solidFill>
                  <a:srgbClr val="888888"/>
                </a:solidFill>
                <a:latin typeface="Arial" pitchFamily="34" charset="0"/>
                <a:ea typeface="Arial" pitchFamily="34" charset="-122"/>
                <a:cs typeface="Arial" pitchFamily="34" charset="-120"/>
              </a:rPr>
              <a:t>What students walk away with</a:t>
            </a:r>
            <a:endParaRPr lang="en-US" sz="1000" dirty="0"/>
          </a:p>
        </p:txBody>
      </p:sp>
      <p:sp>
        <p:nvSpPr>
          <p:cNvPr id="22" name="Text 20"/>
          <p:cNvSpPr/>
          <p:nvPr/>
        </p:nvSpPr>
        <p:spPr>
          <a:xfrm>
            <a:off x="8101584" y="2651760"/>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Tangible Assets</a:t>
            </a:r>
            <a:endParaRPr lang="en-US" sz="950" dirty="0"/>
          </a:p>
        </p:txBody>
      </p:sp>
      <p:sp>
        <p:nvSpPr>
          <p:cNvPr id="23" name="Text 21"/>
          <p:cNvSpPr/>
          <p:nvPr/>
        </p:nvSpPr>
        <p:spPr>
          <a:xfrm>
            <a:off x="8101584" y="2862072"/>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A working IoT prototype (hardware)</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A working software application (digital)</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A business case</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A resume and portfolio</a:t>
            </a:r>
            <a:endParaRPr lang="en-US" sz="950" dirty="0"/>
          </a:p>
        </p:txBody>
      </p:sp>
      <p:sp>
        <p:nvSpPr>
          <p:cNvPr id="24" name="Text 22"/>
          <p:cNvSpPr/>
          <p:nvPr/>
        </p:nvSpPr>
        <p:spPr>
          <a:xfrm>
            <a:off x="8101584" y="3950208"/>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Literacies</a:t>
            </a:r>
            <a:endParaRPr lang="en-US" sz="950" dirty="0"/>
          </a:p>
        </p:txBody>
      </p:sp>
      <p:sp>
        <p:nvSpPr>
          <p:cNvPr id="25" name="Text 23"/>
          <p:cNvSpPr/>
          <p:nvPr/>
        </p:nvSpPr>
        <p:spPr>
          <a:xfrm>
            <a:off x="8101584" y="4160520"/>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AI literacy</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Data literacy</a:t>
            </a:r>
            <a:endParaRPr lang="en-US" sz="950" dirty="0"/>
          </a:p>
        </p:txBody>
      </p:sp>
      <p:sp>
        <p:nvSpPr>
          <p:cNvPr id="26" name="Text 24"/>
          <p:cNvSpPr/>
          <p:nvPr/>
        </p:nvSpPr>
        <p:spPr>
          <a:xfrm>
            <a:off x="8101584" y="4727448"/>
            <a:ext cx="3520440" cy="201168"/>
          </a:xfrm>
          <a:prstGeom prst="rect">
            <a:avLst/>
          </a:prstGeom>
          <a:noFill/>
          <a:ln/>
        </p:spPr>
        <p:txBody>
          <a:bodyPr wrap="square" rtlCol="0" anchor="ctr"/>
          <a:lstStyle/>
          <a:p>
            <a:pPr indent="0" marL="0">
              <a:buNone/>
            </a:pPr>
            <a:r>
              <a:rPr lang="en-US" sz="950" b="1" dirty="0">
                <a:solidFill>
                  <a:srgbClr val="555555"/>
                </a:solidFill>
                <a:latin typeface="Arial" pitchFamily="34" charset="0"/>
                <a:ea typeface="Arial" pitchFamily="34" charset="-122"/>
                <a:cs typeface="Arial" pitchFamily="34" charset="-120"/>
              </a:rPr>
              <a:t>Experience</a:t>
            </a:r>
            <a:endParaRPr lang="en-US" sz="950" dirty="0"/>
          </a:p>
        </p:txBody>
      </p:sp>
      <p:sp>
        <p:nvSpPr>
          <p:cNvPr id="27" name="Text 25"/>
          <p:cNvSpPr/>
          <p:nvPr/>
        </p:nvSpPr>
        <p:spPr>
          <a:xfrm>
            <a:off x="8101584" y="4937760"/>
            <a:ext cx="3520440" cy="3931920"/>
          </a:xfrm>
          <a:prstGeom prst="rect">
            <a:avLst/>
          </a:prstGeom>
          <a:noFill/>
          <a:ln/>
        </p:spPr>
        <p:txBody>
          <a:bodyPr wrap="square" rtlCol="0" anchor="t"/>
          <a:lstStyle/>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End-to-end product development</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Cross-functional team collaboration</a:t>
            </a:r>
            <a:endParaRPr lang="en-US" sz="950" dirty="0"/>
          </a:p>
          <a:p>
            <a:pPr marL="139700" indent="-139700">
              <a:spcAft>
                <a:spcPts val="300"/>
              </a:spcAft>
              <a:buSzPct val="100000"/>
              <a:buChar char="•"/>
            </a:pPr>
            <a:r>
              <a:rPr lang="en-US" sz="950" dirty="0">
                <a:solidFill>
                  <a:srgbClr val="1A1A1A"/>
                </a:solidFill>
                <a:latin typeface="Arial" pitchFamily="34" charset="0"/>
                <a:ea typeface="Arial" pitchFamily="34" charset="-122"/>
                <a:cs typeface="Arial" pitchFamily="34" charset="-120"/>
              </a:rPr>
              <a:t>Stakeholder presentation and pitching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The Tri-Cities Career Showcase</a:t>
            </a:r>
            <a:endParaRPr lang="en-US" sz="3000" dirty="0"/>
          </a:p>
        </p:txBody>
      </p:sp>
      <p:sp>
        <p:nvSpPr>
          <p:cNvPr id="3" name="Text 1"/>
          <p:cNvSpPr/>
          <p:nvPr/>
        </p:nvSpPr>
        <p:spPr>
          <a:xfrm>
            <a:off x="548640" y="1600200"/>
            <a:ext cx="6675120" cy="914400"/>
          </a:xfrm>
          <a:prstGeom prst="rect">
            <a:avLst/>
          </a:prstGeom>
          <a:noFill/>
          <a:ln/>
        </p:spPr>
        <p:txBody>
          <a:bodyPr wrap="square" rtlCol="0" anchor="ctr"/>
          <a:lstStyle/>
          <a:p>
            <a:pPr indent="0" marL="0">
              <a:lnSpc>
                <a:spcPct val="120000"/>
              </a:lnSpc>
              <a:buNone/>
            </a:pPr>
            <a:r>
              <a:rPr lang="en-US" sz="1400" dirty="0">
                <a:solidFill>
                  <a:srgbClr val="1A1A1A"/>
                </a:solidFill>
                <a:latin typeface="Arial" pitchFamily="34" charset="0"/>
                <a:ea typeface="Arial" pitchFamily="34" charset="-122"/>
                <a:cs typeface="Arial" pitchFamily="34" charset="-120"/>
              </a:rPr>
              <a:t>The program's culminating event. Student teams present finished IoT and AI prototypes and business cases live, in front of employers, stakeholders, and the region.</a:t>
            </a:r>
            <a:endParaRPr lang="en-US" sz="1400" dirty="0"/>
          </a:p>
        </p:txBody>
      </p:sp>
      <p:sp>
        <p:nvSpPr>
          <p:cNvPr id="4" name="Text 2"/>
          <p:cNvSpPr/>
          <p:nvPr/>
        </p:nvSpPr>
        <p:spPr>
          <a:xfrm>
            <a:off x="548640" y="2697480"/>
            <a:ext cx="6675120" cy="274320"/>
          </a:xfrm>
          <a:prstGeom prst="rect">
            <a:avLst/>
          </a:prstGeom>
          <a:noFill/>
          <a:ln/>
        </p:spPr>
        <p:txBody>
          <a:bodyPr wrap="square" rtlCol="0" anchor="ctr"/>
          <a:lstStyle/>
          <a:p>
            <a:pPr indent="0" marL="0">
              <a:buNone/>
            </a:pPr>
            <a:r>
              <a:rPr lang="en-US" sz="1250" b="1" spc="100" kern="0" dirty="0">
                <a:solidFill>
                  <a:srgbClr val="555555"/>
                </a:solidFill>
                <a:latin typeface="Arial" pitchFamily="34" charset="0"/>
                <a:ea typeface="Arial" pitchFamily="34" charset="-122"/>
                <a:cs typeface="Arial" pitchFamily="34" charset="-120"/>
              </a:rPr>
              <a:t>What Happens</a:t>
            </a:r>
            <a:endParaRPr lang="en-US" sz="1250" dirty="0"/>
          </a:p>
        </p:txBody>
      </p:sp>
      <p:sp>
        <p:nvSpPr>
          <p:cNvPr id="5" name="Text 3"/>
          <p:cNvSpPr/>
          <p:nvPr/>
        </p:nvSpPr>
        <p:spPr>
          <a:xfrm>
            <a:off x="548640" y="3017520"/>
            <a:ext cx="6675120" cy="1463040"/>
          </a:xfrm>
          <a:prstGeom prst="rect">
            <a:avLst/>
          </a:prstGeom>
          <a:noFill/>
          <a:ln/>
        </p:spPr>
        <p:txBody>
          <a:bodyPr wrap="square" rtlCol="0" anchor="t"/>
          <a:lstStyle/>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60 students across 15 teams pitch and demo working prototypes</a:t>
            </a:r>
            <a:endParaRPr lang="en-US" sz="1200" dirty="0"/>
          </a:p>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Teams present the business case behind each product</a:t>
            </a:r>
            <a:endParaRPr lang="en-US" sz="1200" dirty="0"/>
          </a:p>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Judges score presentations; recruiters meet students directly</a:t>
            </a:r>
            <a:endParaRPr lang="en-US" sz="1200" dirty="0"/>
          </a:p>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Students bring resumes and portfolios for direct conversations with recruiters</a:t>
            </a:r>
            <a:endParaRPr lang="en-US" sz="1200" dirty="0"/>
          </a:p>
        </p:txBody>
      </p:sp>
      <p:sp>
        <p:nvSpPr>
          <p:cNvPr id="6" name="Text 4"/>
          <p:cNvSpPr/>
          <p:nvPr/>
        </p:nvSpPr>
        <p:spPr>
          <a:xfrm>
            <a:off x="548640" y="4617720"/>
            <a:ext cx="6675120" cy="274320"/>
          </a:xfrm>
          <a:prstGeom prst="rect">
            <a:avLst/>
          </a:prstGeom>
          <a:noFill/>
          <a:ln/>
        </p:spPr>
        <p:txBody>
          <a:bodyPr wrap="square" rtlCol="0" anchor="ctr"/>
          <a:lstStyle/>
          <a:p>
            <a:pPr indent="0" marL="0">
              <a:buNone/>
            </a:pPr>
            <a:r>
              <a:rPr lang="en-US" sz="1250" b="1" spc="100" kern="0" dirty="0">
                <a:solidFill>
                  <a:srgbClr val="555555"/>
                </a:solidFill>
                <a:latin typeface="Arial" pitchFamily="34" charset="0"/>
                <a:ea typeface="Arial" pitchFamily="34" charset="-122"/>
                <a:cs typeface="Arial" pitchFamily="34" charset="-120"/>
              </a:rPr>
              <a:t>Why It Matters to Employers</a:t>
            </a:r>
            <a:endParaRPr lang="en-US" sz="1250" dirty="0"/>
          </a:p>
        </p:txBody>
      </p:sp>
      <p:sp>
        <p:nvSpPr>
          <p:cNvPr id="7" name="Text 5"/>
          <p:cNvSpPr/>
          <p:nvPr/>
        </p:nvSpPr>
        <p:spPr>
          <a:xfrm>
            <a:off x="548640" y="4937760"/>
            <a:ext cx="6675120" cy="1463040"/>
          </a:xfrm>
          <a:prstGeom prst="rect">
            <a:avLst/>
          </a:prstGeom>
          <a:noFill/>
          <a:ln/>
        </p:spPr>
        <p:txBody>
          <a:bodyPr wrap="square" rtlCol="0" anchor="t"/>
          <a:lstStyle/>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Early, direct access to a talent pipeline before hiring season starts</a:t>
            </a:r>
            <a:endParaRPr lang="en-US" sz="1200" dirty="0"/>
          </a:p>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See how students think and solve, the same way you would in an interview</a:t>
            </a:r>
            <a:endParaRPr lang="en-US" sz="1200" dirty="0"/>
          </a:p>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Low commitment: no internship program required to get this visibility</a:t>
            </a:r>
            <a:endParaRPr lang="en-US" sz="1200" dirty="0"/>
          </a:p>
          <a:p>
            <a:pPr marL="177800" indent="-177800">
              <a:spcAft>
                <a:spcPts val="500"/>
              </a:spcAft>
              <a:buSzPct val="100000"/>
              <a:buChar char="•"/>
            </a:pPr>
            <a:r>
              <a:rPr lang="en-US" sz="1200" dirty="0">
                <a:solidFill>
                  <a:srgbClr val="1A1A1A"/>
                </a:solidFill>
                <a:latin typeface="Arial" pitchFamily="34" charset="0"/>
                <a:ea typeface="Arial" pitchFamily="34" charset="-122"/>
                <a:cs typeface="Arial" pitchFamily="34" charset="-120"/>
              </a:rPr>
              <a:t>Most students are freshmen and sophomores, so early exposure builds a multi-year relationship before other employers start recruiting them</a:t>
            </a:r>
            <a:endParaRPr lang="en-US" sz="1200" dirty="0"/>
          </a:p>
        </p:txBody>
      </p:sp>
      <p:sp>
        <p:nvSpPr>
          <p:cNvPr id="8" name="Text 6"/>
          <p:cNvSpPr/>
          <p:nvPr/>
        </p:nvSpPr>
        <p:spPr>
          <a:xfrm>
            <a:off x="548640" y="6446520"/>
            <a:ext cx="6675120" cy="365760"/>
          </a:xfrm>
          <a:prstGeom prst="rect">
            <a:avLst/>
          </a:prstGeom>
          <a:noFill/>
          <a:ln/>
        </p:spPr>
        <p:txBody>
          <a:bodyPr wrap="square" rtlCol="0" anchor="ctr"/>
          <a:lstStyle/>
          <a:p>
            <a:pPr indent="0" marL="0">
              <a:buNone/>
            </a:pPr>
            <a:r>
              <a:rPr lang="en-US" sz="1050" i="1" dirty="0">
                <a:solidFill>
                  <a:srgbClr val="888888"/>
                </a:solidFill>
                <a:latin typeface="Arial" pitchFamily="34" charset="0"/>
                <a:ea typeface="Arial" pitchFamily="34" charset="-122"/>
                <a:cs typeface="Arial" pitchFamily="34" charset="-120"/>
              </a:rPr>
              <a:t>Held at the close of the program, April 2027. Exact date and venue to be confirmed.</a:t>
            </a:r>
            <a:endParaRPr lang="en-US" sz="1050" dirty="0"/>
          </a:p>
        </p:txBody>
      </p:sp>
      <p:pic>
        <p:nvPicPr>
          <p:cNvPr id="9" name="Image 0" descr="/home/claude/vsu-deck/photos/showcase.png">    </p:cNvPr>
          <p:cNvPicPr>
            <a:picLocks noChangeAspect="1"/>
          </p:cNvPicPr>
          <p:nvPr/>
        </p:nvPicPr>
        <p:blipFill>
          <a:blip r:embed="rId1"/>
          <a:srcRect l="0" r="0" t="0" b="0"/>
          <a:stretch/>
        </p:blipFill>
        <p:spPr>
          <a:xfrm>
            <a:off x="7589520" y="1600200"/>
            <a:ext cx="4023360" cy="5212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Proposed Timeline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108960"/>
        </p:xfrm>
        <a:graphic>
          <a:graphicData uri="http://schemas.openxmlformats.org/drawingml/2006/table">
            <a:tbl>
              <a:tblPr/>
              <a:tblGrid>
                <a:gridCol w="2468880"/>
                <a:gridCol w="2377440"/>
                <a:gridCol w="6217920"/>
              </a:tblGrid>
              <a:tr h="411480">
                <a:tc>
                  <a:txBody>
                    <a:bodyPr/>
                    <a:lstStyle/>
                    <a:p>
                      <a:pPr indent="0" marL="0">
                        <a:buNone/>
                      </a:pPr>
                      <a:r>
                        <a:rPr lang="en-US" sz="1300" b="1" dirty="0">
                          <a:solidFill>
                            <a:srgbClr val="FFFFFF"/>
                          </a:solidFill>
                          <a:latin typeface="Arial" pitchFamily="34" charset="0"/>
                          <a:ea typeface="Arial" pitchFamily="34" charset="-122"/>
                          <a:cs typeface="Arial" pitchFamily="34" charset="-120"/>
                        </a:rPr>
                        <a:t>Phase</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Timing</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What Happens</a:t>
                      </a:r>
                      <a:endParaRPr lang="en-US" sz="130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A1A1A"/>
                    </a:solidFill>
                  </a:tcPr>
                </a:tc>
              </a:tr>
              <a:tr h="777240">
                <a:tc>
                  <a:txBody>
                    <a:bodyPr/>
                    <a:lstStyle/>
                    <a:p>
                      <a:pPr indent="0" marL="0">
                        <a:buNone/>
                      </a:pPr>
                      <a:r>
                        <a:rPr lang="en-US" sz="1250" b="1" dirty="0">
                          <a:solidFill>
                            <a:srgbClr val="1A1A1A"/>
                          </a:solidFill>
                          <a:latin typeface="Arial" pitchFamily="34" charset="0"/>
                          <a:ea typeface="Arial" pitchFamily="34" charset="-122"/>
                          <a:cs typeface="Arial" pitchFamily="34" charset="-120"/>
                        </a:rPr>
                        <a:t>Proposal</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August – September 2026</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Finalize partners, secure commitments, and align on scope with VSU</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777240">
                <a:tc>
                  <a:txBody>
                    <a:bodyPr/>
                    <a:lstStyle/>
                    <a:p>
                      <a:pPr indent="0" marL="0">
                        <a:buNone/>
                      </a:pPr>
                      <a:r>
                        <a:rPr lang="en-US" sz="1250" b="1" dirty="0">
                          <a:solidFill>
                            <a:srgbClr val="1A1A1A"/>
                          </a:solidFill>
                          <a:latin typeface="Arial" pitchFamily="34" charset="0"/>
                          <a:ea typeface="Arial" pitchFamily="34" charset="-122"/>
                          <a:cs typeface="Arial" pitchFamily="34" charset="-120"/>
                        </a:rPr>
                        <a:t>Setup</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October – December 2026</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Recruit the student cohort, prepare curriculum and equipment, and onboard instructors</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868680">
                <a:tc>
                  <a:txBody>
                    <a:bodyPr/>
                    <a:lstStyle/>
                    <a:p>
                      <a:pPr indent="0" marL="0">
                        <a:buNone/>
                      </a:pPr>
                      <a:r>
                        <a:rPr lang="en-US" sz="1250" b="1" dirty="0">
                          <a:solidFill>
                            <a:srgbClr val="1A1A1A"/>
                          </a:solidFill>
                          <a:latin typeface="Arial" pitchFamily="34" charset="0"/>
                          <a:ea typeface="Arial" pitchFamily="34" charset="-122"/>
                          <a:cs typeface="Arial" pitchFamily="34" charset="-120"/>
                        </a:rPr>
                        <a:t>Program</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January – April 2027</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Students work through the 15-week build cycle, from problem to launch (Tuesday and Thursday, 5:00 – 8:00 PM)</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777240">
                <a:tc>
                  <a:txBody>
                    <a:bodyPr/>
                    <a:lstStyle/>
                    <a:p>
                      <a:pPr indent="0" marL="0">
                        <a:buNone/>
                      </a:pPr>
                      <a:r>
                        <a:rPr lang="en-US" sz="1250" b="1" dirty="0">
                          <a:solidFill>
                            <a:srgbClr val="1A1A1A"/>
                          </a:solidFill>
                          <a:latin typeface="Arial" pitchFamily="34" charset="0"/>
                          <a:ea typeface="Arial" pitchFamily="34" charset="-122"/>
                          <a:cs typeface="Arial" pitchFamily="34" charset="-120"/>
                        </a:rPr>
                        <a:t>Outcomes and Reporting</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May 2027</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indent="0" marL="0">
                        <a:buNone/>
                      </a:pPr>
                      <a:r>
                        <a:rPr lang="en-US" sz="1250" dirty="0">
                          <a:solidFill>
                            <a:srgbClr val="1A1A1A"/>
                          </a:solidFill>
                          <a:latin typeface="Arial" pitchFamily="34" charset="0"/>
                          <a:ea typeface="Arial" pitchFamily="34" charset="-122"/>
                          <a:cs typeface="Arial" pitchFamily="34" charset="-120"/>
                        </a:rPr>
                        <a:t>Tri-Cities Career Showcase, then results and feedback shared with stakeholders</a:t>
                      </a:r>
                      <a:endParaRPr lang="en-US" sz="1250" dirty="0">
                        <a:latin typeface="Arial" charset="0"/>
                        <a:ea typeface="Arial" charset="0"/>
                        <a:cs typeface="Arial"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548640" y="5486400"/>
            <a:ext cx="11064240" cy="365760"/>
          </a:xfrm>
          <a:prstGeom prst="rect">
            <a:avLst/>
          </a:prstGeom>
          <a:noFill/>
          <a:ln/>
        </p:spPr>
        <p:txBody>
          <a:bodyPr wrap="square" rtlCol="0" anchor="ctr"/>
          <a:lstStyle/>
          <a:p>
            <a:pPr indent="0" marL="0">
              <a:buNone/>
            </a:pPr>
            <a:r>
              <a:rPr lang="en-US" sz="1200" i="1" dirty="0">
                <a:solidFill>
                  <a:srgbClr val="888888"/>
                </a:solidFill>
                <a:latin typeface="Arial" pitchFamily="34" charset="0"/>
                <a:ea typeface="Arial" pitchFamily="34" charset="-122"/>
                <a:cs typeface="Arial" pitchFamily="34" charset="-120"/>
              </a:rPr>
              <a:t>All dates are tentative, pending alignment with Virginia State University.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The Ask</a:t>
            </a:r>
            <a:endParaRPr lang="en-US" sz="3000" dirty="0"/>
          </a:p>
        </p:txBody>
      </p:sp>
      <p:sp>
        <p:nvSpPr>
          <p:cNvPr id="3" name="Text 1"/>
          <p:cNvSpPr/>
          <p:nvPr/>
        </p:nvSpPr>
        <p:spPr>
          <a:xfrm>
            <a:off x="548640" y="1737360"/>
            <a:ext cx="6675120" cy="365760"/>
          </a:xfrm>
          <a:prstGeom prst="rect">
            <a:avLst/>
          </a:prstGeom>
          <a:noFill/>
          <a:ln/>
        </p:spPr>
        <p:txBody>
          <a:bodyPr wrap="square" rtlCol="0" anchor="ctr"/>
          <a:lstStyle/>
          <a:p>
            <a:pPr indent="0" marL="0">
              <a:buNone/>
            </a:pPr>
            <a:r>
              <a:rPr lang="en-US" sz="1600" b="1" dirty="0">
                <a:solidFill>
                  <a:srgbClr val="1A1A1A"/>
                </a:solidFill>
                <a:latin typeface="Arial" pitchFamily="34" charset="0"/>
                <a:ea typeface="Arial" pitchFamily="34" charset="-122"/>
                <a:cs typeface="Arial" pitchFamily="34" charset="-120"/>
              </a:rPr>
              <a:t>Financial Sponsorship</a:t>
            </a:r>
            <a:endParaRPr lang="en-US" sz="1600" dirty="0"/>
          </a:p>
        </p:txBody>
      </p:sp>
      <p:sp>
        <p:nvSpPr>
          <p:cNvPr id="4" name="Text 2"/>
          <p:cNvSpPr/>
          <p:nvPr/>
        </p:nvSpPr>
        <p:spPr>
          <a:xfrm>
            <a:off x="548640" y="2148840"/>
            <a:ext cx="6675120" cy="457200"/>
          </a:xfrm>
          <a:prstGeom prst="rect">
            <a:avLst/>
          </a:prstGeom>
          <a:noFill/>
          <a:ln/>
        </p:spPr>
        <p:txBody>
          <a:bodyPr wrap="square" rtlCol="0" anchor="ctr"/>
          <a:lstStyle/>
          <a:p>
            <a:pPr indent="0" marL="0">
              <a:buNone/>
            </a:pPr>
            <a:r>
              <a:rPr lang="en-US" sz="1500" dirty="0">
                <a:solidFill>
                  <a:srgbClr val="555555"/>
                </a:solidFill>
                <a:latin typeface="Arial" pitchFamily="34" charset="0"/>
                <a:ea typeface="Arial" pitchFamily="34" charset="-122"/>
                <a:cs typeface="Arial" pitchFamily="34" charset="-120"/>
              </a:rPr>
              <a:t>Direct cost coverage via a selected budget line.</a:t>
            </a:r>
            <a:endParaRPr lang="en-US" sz="1500" dirty="0"/>
          </a:p>
        </p:txBody>
      </p:sp>
      <p:sp>
        <p:nvSpPr>
          <p:cNvPr id="5" name="Text 3"/>
          <p:cNvSpPr/>
          <p:nvPr/>
        </p:nvSpPr>
        <p:spPr>
          <a:xfrm>
            <a:off x="548640" y="2743200"/>
            <a:ext cx="6675120" cy="365760"/>
          </a:xfrm>
          <a:prstGeom prst="rect">
            <a:avLst/>
          </a:prstGeom>
          <a:noFill/>
          <a:ln/>
        </p:spPr>
        <p:txBody>
          <a:bodyPr wrap="square" rtlCol="0" anchor="ctr"/>
          <a:lstStyle/>
          <a:p>
            <a:pPr indent="0" marL="0">
              <a:buNone/>
            </a:pPr>
            <a:r>
              <a:rPr lang="en-US" sz="1600" b="1" dirty="0">
                <a:solidFill>
                  <a:srgbClr val="1A1A1A"/>
                </a:solidFill>
                <a:latin typeface="Arial" pitchFamily="34" charset="0"/>
                <a:ea typeface="Arial" pitchFamily="34" charset="-122"/>
                <a:cs typeface="Arial" pitchFamily="34" charset="-120"/>
              </a:rPr>
              <a:t>In-Kind Support</a:t>
            </a:r>
            <a:endParaRPr lang="en-US" sz="1600" dirty="0"/>
          </a:p>
        </p:txBody>
      </p:sp>
      <p:sp>
        <p:nvSpPr>
          <p:cNvPr id="6" name="Text 4"/>
          <p:cNvSpPr/>
          <p:nvPr/>
        </p:nvSpPr>
        <p:spPr>
          <a:xfrm>
            <a:off x="548640" y="3154680"/>
            <a:ext cx="6675120" cy="1280160"/>
          </a:xfrm>
          <a:prstGeom prst="rect">
            <a:avLst/>
          </a:prstGeom>
          <a:noFill/>
          <a:ln/>
        </p:spPr>
        <p:txBody>
          <a:bodyPr wrap="square" rtlCol="0" anchor="ctr"/>
          <a:lstStyle/>
          <a:p>
            <a:pPr marL="190500" indent="-190500">
              <a:spcAft>
                <a:spcPts val="800"/>
              </a:spcAft>
              <a:buSzPct val="100000"/>
              <a:buChar char="•"/>
            </a:pPr>
            <a:r>
              <a:rPr lang="en-US" sz="1500" dirty="0">
                <a:solidFill>
                  <a:srgbClr val="555555"/>
                </a:solidFill>
                <a:latin typeface="Arial" pitchFamily="34" charset="0"/>
                <a:ea typeface="Arial" pitchFamily="34" charset="-122"/>
                <a:cs typeface="Arial" pitchFamily="34" charset="-120"/>
              </a:rPr>
              <a:t>Mentorship</a:t>
            </a:r>
            <a:endParaRPr lang="en-US" sz="1500" dirty="0"/>
          </a:p>
          <a:p>
            <a:pPr marL="190500" indent="-190500">
              <a:spcAft>
                <a:spcPts val="800"/>
              </a:spcAft>
              <a:buSzPct val="100000"/>
              <a:buChar char="•"/>
            </a:pPr>
            <a:r>
              <a:rPr lang="en-US" sz="1500" dirty="0">
                <a:solidFill>
                  <a:srgbClr val="555555"/>
                </a:solidFill>
                <a:latin typeface="Arial" pitchFamily="34" charset="0"/>
                <a:ea typeface="Arial" pitchFamily="34" charset="-122"/>
                <a:cs typeface="Arial" pitchFamily="34" charset="-120"/>
              </a:rPr>
              <a:t>Judges and recruiters for the Tri-Cities Career Showcase</a:t>
            </a:r>
            <a:endParaRPr lang="en-US" sz="1500" dirty="0"/>
          </a:p>
          <a:p>
            <a:pPr marL="190500" indent="-190500">
              <a:spcAft>
                <a:spcPts val="800"/>
              </a:spcAft>
              <a:buSzPct val="100000"/>
              <a:buChar char="•"/>
            </a:pPr>
            <a:r>
              <a:rPr lang="en-US" sz="1500" dirty="0">
                <a:solidFill>
                  <a:srgbClr val="555555"/>
                </a:solidFill>
                <a:latin typeface="Arial" pitchFamily="34" charset="0"/>
                <a:ea typeface="Arial" pitchFamily="34" charset="-122"/>
                <a:cs typeface="Arial" pitchFamily="34" charset="-120"/>
              </a:rPr>
              <a:t>Equipment donation</a:t>
            </a:r>
            <a:endParaRPr lang="en-US" sz="1500" dirty="0"/>
          </a:p>
        </p:txBody>
      </p:sp>
      <p:sp>
        <p:nvSpPr>
          <p:cNvPr id="7" name="Text 5"/>
          <p:cNvSpPr/>
          <p:nvPr/>
        </p:nvSpPr>
        <p:spPr>
          <a:xfrm>
            <a:off x="548640" y="4663440"/>
            <a:ext cx="6675120" cy="457200"/>
          </a:xfrm>
          <a:prstGeom prst="rect">
            <a:avLst/>
          </a:prstGeom>
          <a:noFill/>
          <a:ln/>
        </p:spPr>
        <p:txBody>
          <a:bodyPr wrap="square" rtlCol="0" anchor="ctr"/>
          <a:lstStyle/>
          <a:p>
            <a:pPr indent="0" marL="0">
              <a:buNone/>
            </a:pPr>
            <a:r>
              <a:rPr lang="en-US" sz="1300" i="1" dirty="0">
                <a:solidFill>
                  <a:srgbClr val="888888"/>
                </a:solidFill>
                <a:latin typeface="Arial" pitchFamily="34" charset="0"/>
                <a:ea typeface="Arial" pitchFamily="34" charset="-122"/>
                <a:cs typeface="Arial" pitchFamily="34" charset="-120"/>
              </a:rPr>
              <a:t>Grant funding is being pursued separately. This ask is additive, not a substitute.</a:t>
            </a:r>
            <a:endParaRPr lang="en-US" sz="1300" dirty="0"/>
          </a:p>
        </p:txBody>
      </p:sp>
      <p:pic>
        <p:nvPicPr>
          <p:cNvPr id="8" name="Image 0" descr="/home/claude/vsu-deck/photos/ask.png">    </p:cNvPr>
          <p:cNvPicPr>
            <a:picLocks noChangeAspect="1"/>
          </p:cNvPicPr>
          <p:nvPr/>
        </p:nvPicPr>
        <p:blipFill>
          <a:blip r:embed="rId1"/>
          <a:srcRect l="0" r="0" t="0" b="0"/>
          <a:stretch/>
        </p:blipFill>
        <p:spPr>
          <a:xfrm>
            <a:off x="7589520" y="1737360"/>
            <a:ext cx="4023360" cy="4206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Contact and Next Steps</a:t>
            </a:r>
            <a:endParaRPr lang="en-US" sz="3000" dirty="0"/>
          </a:p>
        </p:txBody>
      </p:sp>
      <p:sp>
        <p:nvSpPr>
          <p:cNvPr id="3" name="Text 1"/>
          <p:cNvSpPr/>
          <p:nvPr/>
        </p:nvSpPr>
        <p:spPr>
          <a:xfrm>
            <a:off x="548640" y="1463040"/>
            <a:ext cx="6675120" cy="320040"/>
          </a:xfrm>
          <a:prstGeom prst="rect">
            <a:avLst/>
          </a:prstGeom>
          <a:noFill/>
          <a:ln/>
        </p:spPr>
        <p:txBody>
          <a:bodyPr wrap="square" rtlCol="0" anchor="ctr"/>
          <a:lstStyle/>
          <a:p>
            <a:pPr indent="0" marL="0">
              <a:buNone/>
            </a:pPr>
            <a:r>
              <a:rPr lang="en-US" sz="1400" b="1" dirty="0">
                <a:solidFill>
                  <a:srgbClr val="555555"/>
                </a:solidFill>
                <a:latin typeface="Arial" pitchFamily="34" charset="0"/>
                <a:ea typeface="Arial" pitchFamily="34" charset="-122"/>
                <a:cs typeface="Arial" pitchFamily="34" charset="-120"/>
              </a:rPr>
              <a:t>Next Steps</a:t>
            </a:r>
            <a:endParaRPr lang="en-US" sz="1400" dirty="0"/>
          </a:p>
        </p:txBody>
      </p:sp>
      <p:sp>
        <p:nvSpPr>
          <p:cNvPr id="4" name="Text 2"/>
          <p:cNvSpPr/>
          <p:nvPr/>
        </p:nvSpPr>
        <p:spPr>
          <a:xfrm>
            <a:off x="548640" y="1828800"/>
            <a:ext cx="6675120" cy="274320"/>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1.  </a:t>
            </a:r>
            <a:pPr indent="0" marL="0">
              <a:buNone/>
            </a:pPr>
            <a:r>
              <a:rPr lang="en-US" sz="1350" b="1" dirty="0">
                <a:solidFill>
                  <a:srgbClr val="1A1A1A"/>
                </a:solidFill>
                <a:latin typeface="Arial" pitchFamily="34" charset="0"/>
                <a:ea typeface="Arial" pitchFamily="34" charset="-122"/>
                <a:cs typeface="Arial" pitchFamily="34" charset="-120"/>
              </a:rPr>
              <a:t>Confirm which form of support fits</a:t>
            </a:r>
            <a:endParaRPr lang="en-US" sz="1350" dirty="0"/>
          </a:p>
        </p:txBody>
      </p:sp>
      <p:sp>
        <p:nvSpPr>
          <p:cNvPr id="5" name="Text 3"/>
          <p:cNvSpPr/>
          <p:nvPr/>
        </p:nvSpPr>
        <p:spPr>
          <a:xfrm>
            <a:off x="822960" y="2084832"/>
            <a:ext cx="6400800" cy="384048"/>
          </a:xfrm>
          <a:prstGeom prst="rect">
            <a:avLst/>
          </a:prstGeom>
          <a:noFill/>
          <a:ln/>
        </p:spPr>
        <p:txBody>
          <a:bodyPr wrap="square" rtlCol="0" anchor="ctr"/>
          <a:lstStyle/>
          <a:p>
            <a:pPr indent="0" marL="0">
              <a:lnSpc>
                <a:spcPct val="105000"/>
              </a:lnSpc>
              <a:buNone/>
            </a:pPr>
            <a:r>
              <a:rPr lang="en-US" sz="1000" i="1" dirty="0">
                <a:solidFill>
                  <a:srgbClr val="555555"/>
                </a:solidFill>
                <a:latin typeface="Arial" pitchFamily="34" charset="0"/>
                <a:ea typeface="Arial" pitchFamily="34" charset="-122"/>
                <a:cs typeface="Arial" pitchFamily="34" charset="-120"/>
              </a:rPr>
              <a:t>Financial sponsorship, mentorship, serving as a judge or recruiter at the Tri-Cities Career Showcase, or an equipment donation.</a:t>
            </a:r>
            <a:endParaRPr lang="en-US" sz="1000" dirty="0"/>
          </a:p>
        </p:txBody>
      </p:sp>
      <p:sp>
        <p:nvSpPr>
          <p:cNvPr id="6" name="Text 4"/>
          <p:cNvSpPr/>
          <p:nvPr/>
        </p:nvSpPr>
        <p:spPr>
          <a:xfrm>
            <a:off x="548640" y="2450592"/>
            <a:ext cx="6675120" cy="274320"/>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2.  </a:t>
            </a:r>
            <a:pPr indent="0" marL="0">
              <a:buNone/>
            </a:pPr>
            <a:r>
              <a:rPr lang="en-US" sz="1350" b="1" dirty="0">
                <a:solidFill>
                  <a:srgbClr val="1A1A1A"/>
                </a:solidFill>
                <a:latin typeface="Arial" pitchFamily="34" charset="0"/>
                <a:ea typeface="Arial" pitchFamily="34" charset="-122"/>
                <a:cs typeface="Arial" pitchFamily="34" charset="-120"/>
              </a:rPr>
              <a:t>Schedule a working session</a:t>
            </a:r>
            <a:endParaRPr lang="en-US" sz="1350" dirty="0"/>
          </a:p>
        </p:txBody>
      </p:sp>
      <p:sp>
        <p:nvSpPr>
          <p:cNvPr id="7" name="Text 5"/>
          <p:cNvSpPr/>
          <p:nvPr/>
        </p:nvSpPr>
        <p:spPr>
          <a:xfrm>
            <a:off x="822960" y="2706624"/>
            <a:ext cx="6400800" cy="384048"/>
          </a:xfrm>
          <a:prstGeom prst="rect">
            <a:avLst/>
          </a:prstGeom>
          <a:noFill/>
          <a:ln/>
        </p:spPr>
        <p:txBody>
          <a:bodyPr wrap="square" rtlCol="0" anchor="ctr"/>
          <a:lstStyle/>
          <a:p>
            <a:pPr indent="0" marL="0">
              <a:lnSpc>
                <a:spcPct val="105000"/>
              </a:lnSpc>
              <a:buNone/>
            </a:pPr>
            <a:r>
              <a:rPr lang="en-US" sz="1000" i="1" dirty="0">
                <a:solidFill>
                  <a:srgbClr val="555555"/>
                </a:solidFill>
                <a:latin typeface="Arial" pitchFamily="34" charset="0"/>
                <a:ea typeface="Arial" pitchFamily="34" charset="-122"/>
                <a:cs typeface="Arial" pitchFamily="34" charset="-120"/>
              </a:rPr>
              <a:t>To finalize the specific commitment, a budget line for direct cost coverage, or the scope of the in-kind contribution chosen above.</a:t>
            </a:r>
            <a:endParaRPr lang="en-US" sz="1000" dirty="0"/>
          </a:p>
        </p:txBody>
      </p:sp>
      <p:sp>
        <p:nvSpPr>
          <p:cNvPr id="8" name="Text 6"/>
          <p:cNvSpPr/>
          <p:nvPr/>
        </p:nvSpPr>
        <p:spPr>
          <a:xfrm>
            <a:off x="548640" y="3072384"/>
            <a:ext cx="6675120" cy="274320"/>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3.  </a:t>
            </a:r>
            <a:pPr indent="0" marL="0">
              <a:buNone/>
            </a:pPr>
            <a:r>
              <a:rPr lang="en-US" sz="1350" b="1" dirty="0">
                <a:solidFill>
                  <a:srgbClr val="1A1A1A"/>
                </a:solidFill>
                <a:latin typeface="Arial" pitchFamily="34" charset="0"/>
                <a:ea typeface="Arial" pitchFamily="34" charset="-122"/>
                <a:cs typeface="Arial" pitchFamily="34" charset="-120"/>
              </a:rPr>
              <a:t>Join a curriculum co-development conversation</a:t>
            </a:r>
            <a:endParaRPr lang="en-US" sz="1350" dirty="0"/>
          </a:p>
        </p:txBody>
      </p:sp>
      <p:sp>
        <p:nvSpPr>
          <p:cNvPr id="9" name="Text 7"/>
          <p:cNvSpPr/>
          <p:nvPr/>
        </p:nvSpPr>
        <p:spPr>
          <a:xfrm>
            <a:off x="822960" y="3328416"/>
            <a:ext cx="6400800" cy="384048"/>
          </a:xfrm>
          <a:prstGeom prst="rect">
            <a:avLst/>
          </a:prstGeom>
          <a:noFill/>
          <a:ln/>
        </p:spPr>
        <p:txBody>
          <a:bodyPr wrap="square" rtlCol="0" anchor="ctr"/>
          <a:lstStyle/>
          <a:p>
            <a:pPr indent="0" marL="0">
              <a:lnSpc>
                <a:spcPct val="105000"/>
              </a:lnSpc>
              <a:buNone/>
            </a:pPr>
            <a:r>
              <a:rPr lang="en-US" sz="1000" i="1" dirty="0">
                <a:solidFill>
                  <a:srgbClr val="555555"/>
                </a:solidFill>
                <a:latin typeface="Arial" pitchFamily="34" charset="0"/>
                <a:ea typeface="Arial" pitchFamily="34" charset="-122"/>
                <a:cs typeface="Arial" pitchFamily="34" charset="-120"/>
              </a:rPr>
              <a:t>With our program design team to shape a real business challenge your organization can bring into the program as a student project.</a:t>
            </a:r>
            <a:endParaRPr lang="en-US" sz="1000" dirty="0"/>
          </a:p>
        </p:txBody>
      </p:sp>
      <p:sp>
        <p:nvSpPr>
          <p:cNvPr id="10" name="Text 8"/>
          <p:cNvSpPr/>
          <p:nvPr/>
        </p:nvSpPr>
        <p:spPr>
          <a:xfrm>
            <a:off x="548640" y="3694176"/>
            <a:ext cx="6675120" cy="274320"/>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4.  </a:t>
            </a:r>
            <a:pPr indent="0" marL="0">
              <a:buNone/>
            </a:pPr>
            <a:r>
              <a:rPr lang="en-US" sz="1350" b="1" dirty="0">
                <a:solidFill>
                  <a:srgbClr val="1A1A1A"/>
                </a:solidFill>
                <a:latin typeface="Arial" pitchFamily="34" charset="0"/>
                <a:ea typeface="Arial" pitchFamily="34" charset="-122"/>
                <a:cs typeface="Arial" pitchFamily="34" charset="-120"/>
              </a:rPr>
              <a:t>Lock the commitment by [date]</a:t>
            </a:r>
            <a:endParaRPr lang="en-US" sz="1350" dirty="0"/>
          </a:p>
        </p:txBody>
      </p:sp>
      <p:sp>
        <p:nvSpPr>
          <p:cNvPr id="11" name="Text 9"/>
          <p:cNvSpPr/>
          <p:nvPr/>
        </p:nvSpPr>
        <p:spPr>
          <a:xfrm>
            <a:off x="822960" y="3950208"/>
            <a:ext cx="6400800" cy="384048"/>
          </a:xfrm>
          <a:prstGeom prst="rect">
            <a:avLst/>
          </a:prstGeom>
          <a:noFill/>
          <a:ln/>
        </p:spPr>
        <p:txBody>
          <a:bodyPr wrap="square" rtlCol="0" anchor="ctr"/>
          <a:lstStyle/>
          <a:p>
            <a:pPr indent="0" marL="0">
              <a:lnSpc>
                <a:spcPct val="105000"/>
              </a:lnSpc>
              <a:buNone/>
            </a:pPr>
            <a:r>
              <a:rPr lang="en-US" sz="1000" i="1" dirty="0">
                <a:solidFill>
                  <a:srgbClr val="555555"/>
                </a:solidFill>
                <a:latin typeface="Arial" pitchFamily="34" charset="0"/>
                <a:ea typeface="Arial" pitchFamily="34" charset="-122"/>
                <a:cs typeface="Arial" pitchFamily="34" charset="-120"/>
              </a:rPr>
              <a:t>Ahead of the January 2027 program launch, so we can finalize partner logistics during the Setup phase.</a:t>
            </a:r>
            <a:endParaRPr lang="en-US" sz="1000" dirty="0"/>
          </a:p>
        </p:txBody>
      </p:sp>
      <p:sp>
        <p:nvSpPr>
          <p:cNvPr id="12" name="Text 10"/>
          <p:cNvSpPr/>
          <p:nvPr/>
        </p:nvSpPr>
        <p:spPr>
          <a:xfrm>
            <a:off x="548640" y="4370832"/>
            <a:ext cx="6675120" cy="320040"/>
          </a:xfrm>
          <a:prstGeom prst="rect">
            <a:avLst/>
          </a:prstGeom>
          <a:noFill/>
          <a:ln/>
        </p:spPr>
        <p:txBody>
          <a:bodyPr wrap="square" rtlCol="0" anchor="ctr"/>
          <a:lstStyle/>
          <a:p>
            <a:pPr indent="0" marL="0">
              <a:buNone/>
            </a:pPr>
            <a:r>
              <a:rPr lang="en-US" sz="1100" i="1" dirty="0">
                <a:solidFill>
                  <a:srgbClr val="888888"/>
                </a:solidFill>
                <a:latin typeface="Arial" pitchFamily="34" charset="0"/>
                <a:ea typeface="Arial" pitchFamily="34" charset="-122"/>
                <a:cs typeface="Arial" pitchFamily="34" charset="-120"/>
              </a:rPr>
              <a:t>If no decision is made in the room, a follow-up the next day.</a:t>
            </a:r>
            <a:endParaRPr lang="en-US" sz="1100" dirty="0"/>
          </a:p>
        </p:txBody>
      </p:sp>
      <p:sp>
        <p:nvSpPr>
          <p:cNvPr id="13" name="Text 11"/>
          <p:cNvSpPr/>
          <p:nvPr/>
        </p:nvSpPr>
        <p:spPr>
          <a:xfrm>
            <a:off x="548640" y="4846320"/>
            <a:ext cx="6675120" cy="320040"/>
          </a:xfrm>
          <a:prstGeom prst="rect">
            <a:avLst/>
          </a:prstGeom>
          <a:noFill/>
          <a:ln/>
        </p:spPr>
        <p:txBody>
          <a:bodyPr wrap="square" rtlCol="0" anchor="ctr"/>
          <a:lstStyle/>
          <a:p>
            <a:pPr indent="0" marL="0">
              <a:buNone/>
            </a:pPr>
            <a:r>
              <a:rPr lang="en-US" sz="1400" b="1" dirty="0">
                <a:solidFill>
                  <a:srgbClr val="555555"/>
                </a:solidFill>
                <a:latin typeface="Arial" pitchFamily="34" charset="0"/>
                <a:ea typeface="Arial" pitchFamily="34" charset="-122"/>
                <a:cs typeface="Arial" pitchFamily="34" charset="-120"/>
              </a:rPr>
              <a:t>Contact</a:t>
            </a:r>
            <a:endParaRPr lang="en-US" sz="1400" dirty="0"/>
          </a:p>
        </p:txBody>
      </p:sp>
      <p:sp>
        <p:nvSpPr>
          <p:cNvPr id="14" name="Text 12"/>
          <p:cNvSpPr/>
          <p:nvPr/>
        </p:nvSpPr>
        <p:spPr>
          <a:xfrm>
            <a:off x="548640" y="5230368"/>
            <a:ext cx="3200400" cy="1188720"/>
          </a:xfrm>
          <a:prstGeom prst="rect">
            <a:avLst/>
          </a:prstGeom>
          <a:noFill/>
          <a:ln/>
        </p:spPr>
        <p:txBody>
          <a:bodyPr wrap="square" rtlCol="0" anchor="t"/>
          <a:lstStyle/>
          <a:p>
            <a:pPr indent="0" marL="0">
              <a:buNone/>
            </a:pPr>
            <a:r>
              <a:rPr lang="en-US" sz="1500" b="1" dirty="0">
                <a:solidFill>
                  <a:srgbClr val="1A1A1A"/>
                </a:solidFill>
                <a:latin typeface="Arial" pitchFamily="34" charset="0"/>
                <a:ea typeface="Arial" pitchFamily="34" charset="-122"/>
                <a:cs typeface="Arial" pitchFamily="34" charset="-120"/>
              </a:rPr>
              <a:t>Dr. Shawn M. Nicholson</a:t>
            </a:r>
            <a:endParaRPr lang="en-US" sz="1500" dirty="0"/>
          </a:p>
          <a:p>
            <a:pPr indent="0" marL="0">
              <a:buNone/>
            </a:pPr>
            <a:r>
              <a:rPr lang="en-US" sz="1200" dirty="0">
                <a:solidFill>
                  <a:srgbClr val="555555"/>
                </a:solidFill>
                <a:latin typeface="Arial" pitchFamily="34" charset="0"/>
                <a:ea typeface="Arial" pitchFamily="34" charset="-122"/>
                <a:cs typeface="Arial" pitchFamily="34" charset="-120"/>
              </a:rPr>
              <a:t>Chief Executive Officer</a:t>
            </a:r>
            <a:endParaRPr lang="en-US" sz="1500" dirty="0"/>
          </a:p>
          <a:p>
            <a:pPr indent="0" marL="0">
              <a:buNone/>
            </a:pPr>
            <a:r>
              <a:rPr lang="en-US" sz="1300" dirty="0">
                <a:solidFill>
                  <a:srgbClr val="555555"/>
                </a:solidFill>
                <a:latin typeface="Arial" pitchFamily="34" charset="0"/>
                <a:ea typeface="Arial" pitchFamily="34" charset="-122"/>
                <a:cs typeface="Arial" pitchFamily="34" charset="-120"/>
              </a:rPr>
              <a:t>[email]  |  [phone]</a:t>
            </a:r>
            <a:endParaRPr lang="en-US" sz="1500" dirty="0"/>
          </a:p>
        </p:txBody>
      </p:sp>
      <p:sp>
        <p:nvSpPr>
          <p:cNvPr id="15" name="Text 13"/>
          <p:cNvSpPr/>
          <p:nvPr/>
        </p:nvSpPr>
        <p:spPr>
          <a:xfrm>
            <a:off x="3931920" y="5230368"/>
            <a:ext cx="2743200" cy="1188720"/>
          </a:xfrm>
          <a:prstGeom prst="rect">
            <a:avLst/>
          </a:prstGeom>
          <a:noFill/>
          <a:ln/>
        </p:spPr>
        <p:txBody>
          <a:bodyPr wrap="square" rtlCol="0" anchor="t"/>
          <a:lstStyle/>
          <a:p>
            <a:pPr indent="0" marL="0">
              <a:buNone/>
            </a:pPr>
            <a:r>
              <a:rPr lang="en-US" sz="1500" b="1" dirty="0">
                <a:solidFill>
                  <a:srgbClr val="1A1A1A"/>
                </a:solidFill>
                <a:latin typeface="Arial" pitchFamily="34" charset="0"/>
                <a:ea typeface="Arial" pitchFamily="34" charset="-122"/>
                <a:cs typeface="Arial" pitchFamily="34" charset="-120"/>
              </a:rPr>
              <a:t>Javon Guerrier</a:t>
            </a:r>
            <a:endParaRPr lang="en-US" sz="1500" dirty="0"/>
          </a:p>
          <a:p>
            <a:pPr indent="0" marL="0">
              <a:buNone/>
            </a:pPr>
            <a:r>
              <a:rPr lang="en-US" sz="1200" dirty="0">
                <a:solidFill>
                  <a:srgbClr val="555555"/>
                </a:solidFill>
                <a:latin typeface="Arial" pitchFamily="34" charset="0"/>
                <a:ea typeface="Arial" pitchFamily="34" charset="-122"/>
                <a:cs typeface="Arial" pitchFamily="34" charset="-120"/>
              </a:rPr>
              <a:t>Program Director</a:t>
            </a:r>
            <a:endParaRPr lang="en-US" sz="1500" dirty="0"/>
          </a:p>
          <a:p>
            <a:pPr indent="0" marL="0">
              <a:buNone/>
            </a:pPr>
            <a:r>
              <a:rPr lang="en-US" sz="1300" dirty="0">
                <a:solidFill>
                  <a:srgbClr val="555555"/>
                </a:solidFill>
                <a:latin typeface="Arial" pitchFamily="34" charset="0"/>
                <a:ea typeface="Arial" pitchFamily="34" charset="-122"/>
                <a:cs typeface="Arial" pitchFamily="34" charset="-120"/>
              </a:rPr>
              <a:t>[email]  |  [phone]</a:t>
            </a:r>
            <a:endParaRPr lang="en-US" sz="1500" dirty="0"/>
          </a:p>
        </p:txBody>
      </p:sp>
      <p:pic>
        <p:nvPicPr>
          <p:cNvPr id="16" name="Image 0" descr="/home/claude/vsu-deck/photos/contact.png">    </p:cNvPr>
          <p:cNvPicPr>
            <a:picLocks noChangeAspect="1"/>
          </p:cNvPicPr>
          <p:nvPr/>
        </p:nvPicPr>
        <p:blipFill>
          <a:blip r:embed="rId1"/>
          <a:srcRect l="0" r="0" t="0" b="0"/>
          <a:stretch/>
        </p:blipFill>
        <p:spPr>
          <a:xfrm>
            <a:off x="7589520" y="1463040"/>
            <a:ext cx="4023360"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2026-08-14T15:51:04Z</dcterms:created>
  <dcterms:modified xsi:type="dcterms:W3CDTF">2026-08-14T15:51:04Z</dcterms:modified>
</cp:coreProperties>
</file>