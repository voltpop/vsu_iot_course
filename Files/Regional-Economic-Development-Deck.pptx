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9.xml.rels" ContentType="application/vnd.openxmlformats-package.relationships+xml"/>
  <Override PartName="/ppt/notesSlides/_rels/notesSlide6.xml.rels" ContentType="application/vnd.openxmlformats-package.relationships+xml"/>
  <Override PartName="/ppt/notesSlides/_rels/notesSlide8.xml.rels" ContentType="application/vnd.openxmlformats-package.relationships+xml"/>
  <Override PartName="/ppt/notesSlides/_rels/notesSlide2.xml.rels" ContentType="application/vnd.openxmlformats-package.relationships+xml"/>
  <Override PartName="/ppt/notesSlides/_rels/notesSlide7.xml.rels" ContentType="application/vnd.openxmlformats-package.relationships+xml"/>
  <Override PartName="/ppt/notesSlides/_rels/notesSlide1.xml.rels" ContentType="application/vnd.openxmlformats-package.relationships+xml"/>
  <Override PartName="/ppt/notesSlides/_rels/notesSlide5.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4.xml.rels" ContentType="application/vnd.openxmlformats-package.relationship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1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xml" ContentType="application/vnd.openxmlformats-officedocument.presentationml.slide+xml"/>
  <Override PartName="/ppt/slides/_rels/slide9.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533520" y="764280"/>
            <a:ext cx="6704640" cy="3771360"/>
          </a:xfrm>
          <a:prstGeom prst="rect">
            <a:avLst/>
          </a:prstGeom>
          <a:noFill/>
          <a:ln w="0">
            <a:noFill/>
          </a:ln>
        </p:spPr>
        <p:txBody>
          <a:bodyPr lIns="0" rIns="0" tIns="0" bIns="0" anchor="ctr">
            <a:noAutofit/>
          </a:bodyPr>
          <a:p>
            <a:r>
              <a:rPr b="0" lang="en-US" sz="1800" spc="-1" strike="noStrike">
                <a:solidFill>
                  <a:srgbClr val="000000"/>
                </a:solidFill>
                <a:latin typeface="Calibri"/>
              </a:rPr>
              <a:t>Click to move the slide</a:t>
            </a:r>
            <a:endParaRPr b="0" lang="en-US" sz="1800" spc="-1" strike="noStrike">
              <a:solidFill>
                <a:srgbClr val="000000"/>
              </a:solidFill>
              <a:latin typeface="Calibri"/>
            </a:endParaRPr>
          </a:p>
        </p:txBody>
      </p:sp>
      <p:sp>
        <p:nvSpPr>
          <p:cNvPr id="39"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r>
              <a:rPr b="0" lang="en-US" sz="2000" spc="-1" strike="noStrike">
                <a:latin typeface="Arial"/>
              </a:rPr>
              <a:t>Click to edit the notes format</a:t>
            </a:r>
            <a:endParaRPr b="0" lang="en-US" sz="2000" spc="-1" strike="noStrike">
              <a:latin typeface="Arial"/>
            </a:endParaRPr>
          </a:p>
        </p:txBody>
      </p:sp>
      <p:sp>
        <p:nvSpPr>
          <p:cNvPr id="40" name="PlaceHolder 3"/>
          <p:cNvSpPr>
            <a:spLocks noGrp="1"/>
          </p:cNvSpPr>
          <p:nvPr>
            <p:ph type="hdr"/>
          </p:nvPr>
        </p:nvSpPr>
        <p:spPr>
          <a:xfrm>
            <a:off x="0" y="0"/>
            <a:ext cx="3372840" cy="502560"/>
          </a:xfrm>
          <a:prstGeom prst="rect">
            <a:avLst/>
          </a:prstGeom>
          <a:noFill/>
          <a:ln w="0">
            <a:noFill/>
          </a:ln>
        </p:spPr>
        <p:txBody>
          <a:bodyPr lIns="0" rIns="0" tIns="0" bIns="0" anchor="t">
            <a:noAutofit/>
          </a:bodyPr>
          <a:p>
            <a:r>
              <a:rPr b="0" lang="en-US" sz="1400" spc="-1" strike="noStrike">
                <a:latin typeface="Times New Roman"/>
              </a:rPr>
              <a:t>&lt;header&gt;</a:t>
            </a:r>
            <a:endParaRPr b="0" lang="en-US" sz="1400" spc="-1" strike="noStrike">
              <a:latin typeface="Times New Roman"/>
            </a:endParaRPr>
          </a:p>
        </p:txBody>
      </p:sp>
      <p:sp>
        <p:nvSpPr>
          <p:cNvPr id="41" name="PlaceHolder 4"/>
          <p:cNvSpPr>
            <a:spLocks noGrp="1"/>
          </p:cNvSpPr>
          <p:nvPr>
            <p:ph type="dt" idx="1"/>
          </p:nvPr>
        </p:nvSpPr>
        <p:spPr>
          <a:xfrm>
            <a:off x="4399200" y="0"/>
            <a:ext cx="3372840" cy="502560"/>
          </a:xfrm>
          <a:prstGeom prst="rect">
            <a:avLst/>
          </a:prstGeom>
          <a:noFill/>
          <a:ln w="0">
            <a:noFill/>
          </a:ln>
        </p:spPr>
        <p:txBody>
          <a:bodyPr lIns="0" rIns="0" tIns="0" bIns="0" anchor="t">
            <a:noAutofit/>
          </a:bodyPr>
          <a:lstStyle>
            <a:lvl1pPr algn="r">
              <a:buNone/>
              <a:defRPr b="0" lang="en-US" sz="1400" spc="-1" strike="noStrike">
                <a:latin typeface="Times New Roman"/>
              </a:defRPr>
            </a:lvl1pPr>
          </a:lstStyle>
          <a:p>
            <a:pPr algn="r">
              <a:buNone/>
            </a:pPr>
            <a:r>
              <a:rPr b="0" lang="en-US" sz="1400" spc="-1" strike="noStrike">
                <a:latin typeface="Times New Roman"/>
              </a:rPr>
              <a:t>&lt;date/time&gt;</a:t>
            </a:r>
            <a:endParaRPr b="0" lang="en-US" sz="1400" spc="-1" strike="noStrike">
              <a:latin typeface="Times New Roman"/>
            </a:endParaRPr>
          </a:p>
        </p:txBody>
      </p:sp>
      <p:sp>
        <p:nvSpPr>
          <p:cNvPr id="42" name="PlaceHolder 5"/>
          <p:cNvSpPr>
            <a:spLocks noGrp="1"/>
          </p:cNvSpPr>
          <p:nvPr>
            <p:ph type="ftr" idx="2"/>
          </p:nvPr>
        </p:nvSpPr>
        <p:spPr>
          <a:xfrm>
            <a:off x="0" y="9555480"/>
            <a:ext cx="3372840" cy="502560"/>
          </a:xfrm>
          <a:prstGeom prst="rect">
            <a:avLst/>
          </a:prstGeom>
          <a:noFill/>
          <a:ln w="0">
            <a:noFill/>
          </a:ln>
        </p:spPr>
        <p:txBody>
          <a:bodyPr lIns="0" rIns="0" tIns="0" bIns="0" anchor="b">
            <a:noAutofit/>
          </a:bodyPr>
          <a:lstStyle>
            <a:lvl1pPr>
              <a:defRPr b="0" lang="en-US" sz="1400" spc="-1" strike="noStrike">
                <a:latin typeface="Times New Roman"/>
              </a:defRPr>
            </a:lvl1pPr>
          </a:lstStyle>
          <a:p>
            <a:r>
              <a:rPr b="0" lang="en-US" sz="1400" spc="-1" strike="noStrike">
                <a:latin typeface="Times New Roman"/>
              </a:rPr>
              <a:t>&lt;footer&gt;</a:t>
            </a:r>
            <a:endParaRPr b="0" lang="en-US" sz="1400" spc="-1" strike="noStrike">
              <a:latin typeface="Times New Roman"/>
            </a:endParaRPr>
          </a:p>
        </p:txBody>
      </p:sp>
      <p:sp>
        <p:nvSpPr>
          <p:cNvPr id="43" name="PlaceHolder 6"/>
          <p:cNvSpPr>
            <a:spLocks noGrp="1"/>
          </p:cNvSpPr>
          <p:nvPr>
            <p:ph type="sldNum" idx="3"/>
          </p:nvPr>
        </p:nvSpPr>
        <p:spPr>
          <a:xfrm>
            <a:off x="4399200" y="9555480"/>
            <a:ext cx="3372840" cy="502560"/>
          </a:xfrm>
          <a:prstGeom prst="rect">
            <a:avLst/>
          </a:prstGeom>
          <a:noFill/>
          <a:ln w="0">
            <a:noFill/>
          </a:ln>
        </p:spPr>
        <p:txBody>
          <a:bodyPr lIns="0" rIns="0" tIns="0" bIns="0" anchor="b">
            <a:noAutofit/>
          </a:bodyPr>
          <a:lstStyle>
            <a:lvl1pPr algn="r">
              <a:buNone/>
              <a:defRPr b="0" lang="en-US" sz="1400" spc="-1" strike="noStrike">
                <a:latin typeface="Times New Roman"/>
              </a:defRPr>
            </a:lvl1pPr>
          </a:lstStyle>
          <a:p>
            <a:pPr algn="r">
              <a:buNone/>
            </a:pPr>
            <a:fld id="{E6E06927-81A4-4553-8E45-CA68919B495D}" type="slidenum">
              <a:rPr b="0" lang="en-US" sz="1400" spc="-1" strike="noStrike">
                <a:latin typeface="Times New Roman"/>
              </a:rPr>
              <a:t>&lt;number&gt;</a:t>
            </a:fld>
            <a:endParaRPr b="0" lang="en-U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 name="PlaceHolder 1"/>
          <p:cNvSpPr>
            <a:spLocks noGrp="1"/>
          </p:cNvSpPr>
          <p:nvPr>
            <p:ph type="sldImg"/>
          </p:nvPr>
        </p:nvSpPr>
        <p:spPr>
          <a:xfrm>
            <a:off x="685800" y="1143000"/>
            <a:ext cx="5486040" cy="3085920"/>
          </a:xfrm>
          <a:prstGeom prst="rect">
            <a:avLst/>
          </a:prstGeom>
          <a:ln w="0">
            <a:noFill/>
          </a:ln>
        </p:spPr>
      </p:sp>
      <p:sp>
        <p:nvSpPr>
          <p:cNvPr id="157"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US" sz="2000" spc="-1" strike="noStrike">
              <a:latin typeface="Arial"/>
            </a:endParaRPr>
          </a:p>
        </p:txBody>
      </p:sp>
      <p:sp>
        <p:nvSpPr>
          <p:cNvPr id="158" name="PlaceHolder 3"/>
          <p:cNvSpPr>
            <a:spLocks noGrp="1"/>
          </p:cNvSpPr>
          <p:nvPr>
            <p:ph type="sldNum" idx="4"/>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FC868238-6957-4689-B771-BC8E8079E1BD}"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9" name="PlaceHolder 1"/>
          <p:cNvSpPr>
            <a:spLocks noGrp="1"/>
          </p:cNvSpPr>
          <p:nvPr>
            <p:ph type="sldImg"/>
          </p:nvPr>
        </p:nvSpPr>
        <p:spPr>
          <a:xfrm>
            <a:off x="685800" y="1143000"/>
            <a:ext cx="5486040" cy="3085920"/>
          </a:xfrm>
          <a:prstGeom prst="rect">
            <a:avLst/>
          </a:prstGeom>
          <a:ln w="0">
            <a:noFill/>
          </a:ln>
        </p:spPr>
      </p:sp>
      <p:sp>
        <p:nvSpPr>
          <p:cNvPr id="160"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US" sz="2000" spc="-1" strike="noStrike">
              <a:latin typeface="Arial"/>
            </a:endParaRPr>
          </a:p>
        </p:txBody>
      </p:sp>
      <p:sp>
        <p:nvSpPr>
          <p:cNvPr id="161" name="PlaceHolder 3"/>
          <p:cNvSpPr>
            <a:spLocks noGrp="1"/>
          </p:cNvSpPr>
          <p:nvPr>
            <p:ph type="sldNum" idx="5"/>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7C4A2524-82DA-4FE5-A119-F6FD50EA3214}"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2" name="PlaceHolder 1"/>
          <p:cNvSpPr>
            <a:spLocks noGrp="1"/>
          </p:cNvSpPr>
          <p:nvPr>
            <p:ph type="sldImg"/>
          </p:nvPr>
        </p:nvSpPr>
        <p:spPr>
          <a:xfrm>
            <a:off x="685800" y="1143000"/>
            <a:ext cx="5486040" cy="3085920"/>
          </a:xfrm>
          <a:prstGeom prst="rect">
            <a:avLst/>
          </a:prstGeom>
          <a:ln w="0">
            <a:noFill/>
          </a:ln>
        </p:spPr>
      </p:sp>
      <p:sp>
        <p:nvSpPr>
          <p:cNvPr id="163"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US" sz="2000" spc="-1" strike="noStrike">
              <a:latin typeface="Arial"/>
            </a:endParaRPr>
          </a:p>
        </p:txBody>
      </p:sp>
      <p:sp>
        <p:nvSpPr>
          <p:cNvPr id="164" name="PlaceHolder 3"/>
          <p:cNvSpPr>
            <a:spLocks noGrp="1"/>
          </p:cNvSpPr>
          <p:nvPr>
            <p:ph type="sldNum" idx="6"/>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143B32D9-505F-4009-886C-93F6F98786C1}"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 name="PlaceHolder 1"/>
          <p:cNvSpPr>
            <a:spLocks noGrp="1"/>
          </p:cNvSpPr>
          <p:nvPr>
            <p:ph type="sldImg"/>
          </p:nvPr>
        </p:nvSpPr>
        <p:spPr>
          <a:xfrm>
            <a:off x="685800" y="1143000"/>
            <a:ext cx="5486040" cy="3085920"/>
          </a:xfrm>
          <a:prstGeom prst="rect">
            <a:avLst/>
          </a:prstGeom>
          <a:ln w="0">
            <a:noFill/>
          </a:ln>
        </p:spPr>
      </p:sp>
      <p:sp>
        <p:nvSpPr>
          <p:cNvPr id="166"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US" sz="2000" spc="-1" strike="noStrike">
              <a:latin typeface="Arial"/>
            </a:endParaRPr>
          </a:p>
        </p:txBody>
      </p:sp>
      <p:sp>
        <p:nvSpPr>
          <p:cNvPr id="167" name="PlaceHolder 3"/>
          <p:cNvSpPr>
            <a:spLocks noGrp="1"/>
          </p:cNvSpPr>
          <p:nvPr>
            <p:ph type="sldNum" idx="7"/>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FB371332-903D-46F8-A1E0-510FD32ECD92}"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 name="PlaceHolder 1"/>
          <p:cNvSpPr>
            <a:spLocks noGrp="1"/>
          </p:cNvSpPr>
          <p:nvPr>
            <p:ph type="sldImg"/>
          </p:nvPr>
        </p:nvSpPr>
        <p:spPr>
          <a:xfrm>
            <a:off x="685800" y="1143000"/>
            <a:ext cx="5486040" cy="3085920"/>
          </a:xfrm>
          <a:prstGeom prst="rect">
            <a:avLst/>
          </a:prstGeom>
          <a:ln w="0">
            <a:noFill/>
          </a:ln>
        </p:spPr>
      </p:sp>
      <p:sp>
        <p:nvSpPr>
          <p:cNvPr id="169"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US" sz="2000" spc="-1" strike="noStrike">
              <a:latin typeface="Arial"/>
            </a:endParaRPr>
          </a:p>
        </p:txBody>
      </p:sp>
      <p:sp>
        <p:nvSpPr>
          <p:cNvPr id="170" name="PlaceHolder 3"/>
          <p:cNvSpPr>
            <a:spLocks noGrp="1"/>
          </p:cNvSpPr>
          <p:nvPr>
            <p:ph type="sldNum" idx="8"/>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D93B3729-3A54-4AEA-8A92-F7B908829693}"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1" name="PlaceHolder 1"/>
          <p:cNvSpPr>
            <a:spLocks noGrp="1"/>
          </p:cNvSpPr>
          <p:nvPr>
            <p:ph type="sldImg"/>
          </p:nvPr>
        </p:nvSpPr>
        <p:spPr>
          <a:xfrm>
            <a:off x="685800" y="1143000"/>
            <a:ext cx="5486040" cy="3085920"/>
          </a:xfrm>
          <a:prstGeom prst="rect">
            <a:avLst/>
          </a:prstGeom>
          <a:ln w="0">
            <a:noFill/>
          </a:ln>
        </p:spPr>
      </p:sp>
      <p:sp>
        <p:nvSpPr>
          <p:cNvPr id="172"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US" sz="2000" spc="-1" strike="noStrike">
              <a:latin typeface="Arial"/>
            </a:endParaRPr>
          </a:p>
        </p:txBody>
      </p:sp>
      <p:sp>
        <p:nvSpPr>
          <p:cNvPr id="173" name="PlaceHolder 3"/>
          <p:cNvSpPr>
            <a:spLocks noGrp="1"/>
          </p:cNvSpPr>
          <p:nvPr>
            <p:ph type="sldNum" idx="9"/>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1D4F907F-3643-494C-8F04-B4146F927A74}"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4" name="PlaceHolder 1"/>
          <p:cNvSpPr>
            <a:spLocks noGrp="1"/>
          </p:cNvSpPr>
          <p:nvPr>
            <p:ph type="sldImg"/>
          </p:nvPr>
        </p:nvSpPr>
        <p:spPr>
          <a:xfrm>
            <a:off x="685800" y="1143000"/>
            <a:ext cx="5486040" cy="3085920"/>
          </a:xfrm>
          <a:prstGeom prst="rect">
            <a:avLst/>
          </a:prstGeom>
          <a:ln w="0">
            <a:noFill/>
          </a:ln>
        </p:spPr>
      </p:sp>
      <p:sp>
        <p:nvSpPr>
          <p:cNvPr id="175"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US" sz="2000" spc="-1" strike="noStrike">
              <a:latin typeface="Arial"/>
            </a:endParaRPr>
          </a:p>
        </p:txBody>
      </p:sp>
      <p:sp>
        <p:nvSpPr>
          <p:cNvPr id="176" name="PlaceHolder 3"/>
          <p:cNvSpPr>
            <a:spLocks noGrp="1"/>
          </p:cNvSpPr>
          <p:nvPr>
            <p:ph type="sldNum" idx="10"/>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E7716A40-9829-4258-A565-05F2DF26DEAB}"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7" name="PlaceHolder 1"/>
          <p:cNvSpPr>
            <a:spLocks noGrp="1"/>
          </p:cNvSpPr>
          <p:nvPr>
            <p:ph type="sldImg"/>
          </p:nvPr>
        </p:nvSpPr>
        <p:spPr>
          <a:xfrm>
            <a:off x="685800" y="1143000"/>
            <a:ext cx="5486040" cy="3085920"/>
          </a:xfrm>
          <a:prstGeom prst="rect">
            <a:avLst/>
          </a:prstGeom>
          <a:ln w="0">
            <a:noFill/>
          </a:ln>
        </p:spPr>
      </p:sp>
      <p:sp>
        <p:nvSpPr>
          <p:cNvPr id="178"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US" sz="2000" spc="-1" strike="noStrike">
              <a:latin typeface="Arial"/>
            </a:endParaRPr>
          </a:p>
        </p:txBody>
      </p:sp>
      <p:sp>
        <p:nvSpPr>
          <p:cNvPr id="179" name="PlaceHolder 3"/>
          <p:cNvSpPr>
            <a:spLocks noGrp="1"/>
          </p:cNvSpPr>
          <p:nvPr>
            <p:ph type="sldNum" idx="11"/>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71FB5351-6D9E-4E3B-A78F-097B52DD77FD}"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 name="PlaceHolder 1"/>
          <p:cNvSpPr>
            <a:spLocks noGrp="1"/>
          </p:cNvSpPr>
          <p:nvPr>
            <p:ph type="sldImg"/>
          </p:nvPr>
        </p:nvSpPr>
        <p:spPr>
          <a:xfrm>
            <a:off x="685800" y="1143000"/>
            <a:ext cx="5486040" cy="3085920"/>
          </a:xfrm>
          <a:prstGeom prst="rect">
            <a:avLst/>
          </a:prstGeom>
          <a:ln w="0">
            <a:noFill/>
          </a:ln>
        </p:spPr>
      </p:sp>
      <p:sp>
        <p:nvSpPr>
          <p:cNvPr id="181"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US" sz="2000" spc="-1" strike="noStrike">
              <a:latin typeface="Arial"/>
            </a:endParaRPr>
          </a:p>
        </p:txBody>
      </p:sp>
      <p:sp>
        <p:nvSpPr>
          <p:cNvPr id="182" name="PlaceHolder 3"/>
          <p:cNvSpPr>
            <a:spLocks noGrp="1"/>
          </p:cNvSpPr>
          <p:nvPr>
            <p:ph type="sldNum" idx="12"/>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D3112C15-5BDB-44C2-8A62-C39D2A853B6E}"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3" name="PlaceHolder 1"/>
          <p:cNvSpPr>
            <a:spLocks noGrp="1"/>
          </p:cNvSpPr>
          <p:nvPr>
            <p:ph type="sldImg"/>
          </p:nvPr>
        </p:nvSpPr>
        <p:spPr>
          <a:xfrm>
            <a:off x="685800" y="1143000"/>
            <a:ext cx="5486040" cy="3085920"/>
          </a:xfrm>
          <a:prstGeom prst="rect">
            <a:avLst/>
          </a:prstGeom>
          <a:ln w="0">
            <a:noFill/>
          </a:ln>
        </p:spPr>
      </p:sp>
      <p:sp>
        <p:nvSpPr>
          <p:cNvPr id="184"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US" sz="2000" spc="-1" strike="noStrike">
              <a:latin typeface="Arial"/>
            </a:endParaRPr>
          </a:p>
        </p:txBody>
      </p:sp>
      <p:sp>
        <p:nvSpPr>
          <p:cNvPr id="185" name="PlaceHolder 3"/>
          <p:cNvSpPr>
            <a:spLocks noGrp="1"/>
          </p:cNvSpPr>
          <p:nvPr>
            <p:ph type="sldNum" idx="13"/>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7FC99877-E32F-492E-88CF-E5B3C529176E}"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r>
              <a:rPr b="0" lang="en-US" sz="1800" spc="-1" strike="noStrike">
                <a:solidFill>
                  <a:srgbClr val="000000"/>
                </a:solidFill>
                <a:latin typeface="Calibri"/>
              </a:rPr>
              <a:t>Click to edit the title text </a:t>
            </a:r>
            <a:r>
              <a:rPr b="0" lang="en-US" sz="1800" spc="-1" strike="noStrike">
                <a:solidFill>
                  <a:srgbClr val="000000"/>
                </a:solidFill>
                <a:latin typeface="Calibri"/>
              </a:rPr>
              <a:t>format</a:t>
            </a:r>
            <a:endParaRPr b="0" lang="en-US" sz="1800" spc="-1" strike="noStrike">
              <a:solidFill>
                <a:srgbClr val="000000"/>
              </a:solidFill>
              <a:latin typeface="Calibri"/>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Click to edit the outline text format</a:t>
            </a:r>
            <a:endParaRPr b="0" lang="en-US" sz="3200" spc="-1" strike="noStrike">
              <a:solidFill>
                <a:srgbClr val="000000"/>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rgbClr val="000000"/>
                </a:solidFill>
                <a:latin typeface="Calibri"/>
              </a:rPr>
              <a:t>Second Outline Level</a:t>
            </a:r>
            <a:endParaRPr b="0" lang="en-US" sz="2400" spc="-1" strike="noStrike">
              <a:solidFill>
                <a:srgbClr val="000000"/>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rgbClr val="000000"/>
                </a:solidFill>
                <a:latin typeface="Calibri"/>
              </a:rPr>
              <a:t>Third Outline Level</a:t>
            </a:r>
            <a:endParaRPr b="0" lang="en-US" sz="2000" spc="-1" strike="noStrike">
              <a:solidFill>
                <a:srgbClr val="000000"/>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Calibri"/>
              </a:rPr>
              <a:t>Fourth Outline Level</a:t>
            </a:r>
            <a:endParaRPr b="0" lang="en-US" sz="2000" spc="-1" strike="noStrike">
              <a:solidFill>
                <a:srgbClr val="000000"/>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Calibri"/>
              </a:rPr>
              <a:t>Fifth Outline Level</a:t>
            </a:r>
            <a:endParaRPr b="0" lang="en-US" sz="2000" spc="-1" strike="noStrike">
              <a:solidFill>
                <a:srgbClr val="000000"/>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Calibri"/>
              </a:rPr>
              <a:t>Sixth Outline Level</a:t>
            </a:r>
            <a:endParaRPr b="0" lang="en-US" sz="2000" spc="-1" strike="noStrike">
              <a:solidFill>
                <a:srgbClr val="000000"/>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Calibri"/>
              </a:rPr>
              <a:t>Seventh Outline Level</a:t>
            </a:r>
            <a:endParaRPr b="0" lang="en-US" sz="2000" spc="-1" strike="noStrike">
              <a:solidFill>
                <a:srgbClr val="000000"/>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Text 0"/>
          <p:cNvSpPr/>
          <p:nvPr/>
        </p:nvSpPr>
        <p:spPr>
          <a:xfrm>
            <a:off x="0" y="2377440"/>
            <a:ext cx="12161160" cy="91404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1" lang="en-US" sz="4000" spc="-1" strike="noStrike">
                <a:solidFill>
                  <a:srgbClr val="1a1a1a"/>
                </a:solidFill>
                <a:latin typeface="Arial"/>
                <a:ea typeface="Arial"/>
              </a:rPr>
              <a:t>Tri-Cities Innovation Lab</a:t>
            </a:r>
            <a:endParaRPr b="0" lang="en-US" sz="4000" spc="-1" strike="noStrike">
              <a:latin typeface="Arial"/>
            </a:endParaRPr>
          </a:p>
        </p:txBody>
      </p:sp>
      <p:sp>
        <p:nvSpPr>
          <p:cNvPr id="45" name="Text 1"/>
          <p:cNvSpPr/>
          <p:nvPr/>
        </p:nvSpPr>
        <p:spPr>
          <a:xfrm>
            <a:off x="0" y="3200400"/>
            <a:ext cx="12161160" cy="45684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800" spc="-1" strike="noStrike">
                <a:solidFill>
                  <a:srgbClr val="555555"/>
                </a:solidFill>
                <a:latin typeface="Arial"/>
                <a:ea typeface="Arial"/>
              </a:rPr>
              <a:t>Stakeholder Briefing</a:t>
            </a:r>
            <a:endParaRPr b="0" lang="en-US" sz="1800" spc="-1" strike="noStrike">
              <a:latin typeface="Arial"/>
            </a:endParaRPr>
          </a:p>
        </p:txBody>
      </p:sp>
      <p:sp>
        <p:nvSpPr>
          <p:cNvPr id="46" name="Text 2"/>
          <p:cNvSpPr/>
          <p:nvPr/>
        </p:nvSpPr>
        <p:spPr>
          <a:xfrm>
            <a:off x="0" y="3657600"/>
            <a:ext cx="12161160" cy="36540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400" spc="-1" strike="noStrike">
                <a:solidFill>
                  <a:srgbClr val="888888"/>
                </a:solidFill>
                <a:latin typeface="Arial"/>
                <a:ea typeface="Arial"/>
              </a:rPr>
              <a:t>August 14, 2026</a:t>
            </a:r>
            <a:endParaRPr b="0" lang="en-US" sz="1400" spc="-1" strike="noStrike">
              <a:latin typeface="Arial"/>
            </a:endParaRPr>
          </a:p>
        </p:txBody>
      </p:sp>
      <p:sp>
        <p:nvSpPr>
          <p:cNvPr id="47" name="Shape 3"/>
          <p:cNvSpPr/>
          <p:nvPr/>
        </p:nvSpPr>
        <p:spPr>
          <a:xfrm>
            <a:off x="1371600" y="6035040"/>
            <a:ext cx="2011320" cy="456840"/>
          </a:xfrm>
          <a:prstGeom prst="rect">
            <a:avLst/>
          </a:prstGeom>
          <a:solidFill>
            <a:srgbClr val="f2f2f2"/>
          </a:solidFill>
          <a:ln w="9525">
            <a:solidFill>
              <a:srgbClr val="dddddd"/>
            </a:solidFill>
            <a:round/>
          </a:ln>
        </p:spPr>
        <p:style>
          <a:lnRef idx="0"/>
          <a:fillRef idx="0"/>
          <a:effectRef idx="0"/>
          <a:fontRef idx="minor"/>
        </p:style>
      </p:sp>
      <p:sp>
        <p:nvSpPr>
          <p:cNvPr id="48" name="Text 4"/>
          <p:cNvSpPr/>
          <p:nvPr/>
        </p:nvSpPr>
        <p:spPr>
          <a:xfrm>
            <a:off x="1371600" y="6035040"/>
            <a:ext cx="2011320" cy="45684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000" spc="-1" strike="noStrike">
                <a:solidFill>
                  <a:srgbClr val="888888"/>
                </a:solidFill>
                <a:latin typeface="Arial"/>
                <a:ea typeface="Arial"/>
              </a:rPr>
              <a:t>[Dr. Shawn M. Nicholson logo]</a:t>
            </a:r>
            <a:endParaRPr b="0" lang="en-US" sz="1000" spc="-1" strike="noStrike">
              <a:latin typeface="Arial"/>
            </a:endParaRPr>
          </a:p>
        </p:txBody>
      </p:sp>
      <p:sp>
        <p:nvSpPr>
          <p:cNvPr id="49" name="Shape 5"/>
          <p:cNvSpPr/>
          <p:nvPr/>
        </p:nvSpPr>
        <p:spPr>
          <a:xfrm>
            <a:off x="3840480" y="6035040"/>
            <a:ext cx="2011320" cy="456840"/>
          </a:xfrm>
          <a:prstGeom prst="rect">
            <a:avLst/>
          </a:prstGeom>
          <a:solidFill>
            <a:srgbClr val="f2f2f2"/>
          </a:solidFill>
          <a:ln w="9525">
            <a:solidFill>
              <a:srgbClr val="dddddd"/>
            </a:solidFill>
            <a:round/>
          </a:ln>
        </p:spPr>
        <p:style>
          <a:lnRef idx="0"/>
          <a:fillRef idx="0"/>
          <a:effectRef idx="0"/>
          <a:fontRef idx="minor"/>
        </p:style>
      </p:sp>
      <p:sp>
        <p:nvSpPr>
          <p:cNvPr id="50" name="Text 6"/>
          <p:cNvSpPr/>
          <p:nvPr/>
        </p:nvSpPr>
        <p:spPr>
          <a:xfrm>
            <a:off x="3840480" y="6035040"/>
            <a:ext cx="2011320" cy="45684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000" spc="-1" strike="noStrike">
                <a:solidFill>
                  <a:srgbClr val="888888"/>
                </a:solidFill>
                <a:latin typeface="Arial"/>
                <a:ea typeface="Arial"/>
              </a:rPr>
              <a:t>[Builder Tech logo]</a:t>
            </a:r>
            <a:endParaRPr b="0" lang="en-US" sz="1000" spc="-1" strike="noStrike">
              <a:latin typeface="Arial"/>
            </a:endParaRPr>
          </a:p>
        </p:txBody>
      </p:sp>
      <p:sp>
        <p:nvSpPr>
          <p:cNvPr id="51" name="Shape 7"/>
          <p:cNvSpPr/>
          <p:nvPr/>
        </p:nvSpPr>
        <p:spPr>
          <a:xfrm>
            <a:off x="6309360" y="6035040"/>
            <a:ext cx="2011320" cy="456840"/>
          </a:xfrm>
          <a:prstGeom prst="rect">
            <a:avLst/>
          </a:prstGeom>
          <a:solidFill>
            <a:srgbClr val="f2f2f2"/>
          </a:solidFill>
          <a:ln w="9525">
            <a:solidFill>
              <a:srgbClr val="dddddd"/>
            </a:solidFill>
            <a:round/>
          </a:ln>
        </p:spPr>
        <p:style>
          <a:lnRef idx="0"/>
          <a:fillRef idx="0"/>
          <a:effectRef idx="0"/>
          <a:fontRef idx="minor"/>
        </p:style>
      </p:sp>
      <p:sp>
        <p:nvSpPr>
          <p:cNvPr id="52" name="Text 8"/>
          <p:cNvSpPr/>
          <p:nvPr/>
        </p:nvSpPr>
        <p:spPr>
          <a:xfrm>
            <a:off x="6309360" y="6035040"/>
            <a:ext cx="2011320" cy="45684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000" spc="-1" strike="noStrike">
                <a:solidFill>
                  <a:srgbClr val="888888"/>
                </a:solidFill>
                <a:latin typeface="Arial"/>
                <a:ea typeface="Arial"/>
              </a:rPr>
              <a:t>[Voltpop logo]</a:t>
            </a:r>
            <a:endParaRPr b="0" lang="en-US" sz="1000" spc="-1" strike="noStrike">
              <a:latin typeface="Arial"/>
            </a:endParaRPr>
          </a:p>
        </p:txBody>
      </p:sp>
      <p:sp>
        <p:nvSpPr>
          <p:cNvPr id="53" name="Shape 9"/>
          <p:cNvSpPr/>
          <p:nvPr/>
        </p:nvSpPr>
        <p:spPr>
          <a:xfrm>
            <a:off x="8778240" y="6035040"/>
            <a:ext cx="2011320" cy="456840"/>
          </a:xfrm>
          <a:prstGeom prst="rect">
            <a:avLst/>
          </a:prstGeom>
          <a:solidFill>
            <a:srgbClr val="f2f2f2"/>
          </a:solidFill>
          <a:ln w="9525">
            <a:solidFill>
              <a:srgbClr val="dddddd"/>
            </a:solidFill>
            <a:round/>
          </a:ln>
        </p:spPr>
        <p:style>
          <a:lnRef idx="0"/>
          <a:fillRef idx="0"/>
          <a:effectRef idx="0"/>
          <a:fontRef idx="minor"/>
        </p:style>
      </p:sp>
      <p:sp>
        <p:nvSpPr>
          <p:cNvPr id="54" name="Text 10"/>
          <p:cNvSpPr/>
          <p:nvPr/>
        </p:nvSpPr>
        <p:spPr>
          <a:xfrm>
            <a:off x="8778240" y="6035040"/>
            <a:ext cx="2011320" cy="45684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000" spc="-1" strike="noStrike">
                <a:solidFill>
                  <a:srgbClr val="888888"/>
                </a:solidFill>
                <a:latin typeface="Arial"/>
                <a:ea typeface="Arial"/>
              </a:rPr>
              <a:t>[Explay logo]</a:t>
            </a:r>
            <a:endParaRPr b="0" lang="en-US" sz="10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5" name="Text 0"/>
          <p:cNvSpPr/>
          <p:nvPr/>
        </p:nvSpPr>
        <p:spPr>
          <a:xfrm>
            <a:off x="548640" y="548640"/>
            <a:ext cx="11063880" cy="822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3000" spc="-1" strike="noStrike">
                <a:solidFill>
                  <a:srgbClr val="1a1a1a"/>
                </a:solidFill>
                <a:latin typeface="Arial"/>
                <a:ea typeface="Arial"/>
              </a:rPr>
              <a:t>Overview</a:t>
            </a:r>
            <a:endParaRPr b="0" lang="en-US" sz="3000" spc="-1" strike="noStrike">
              <a:latin typeface="Arial"/>
            </a:endParaRPr>
          </a:p>
        </p:txBody>
      </p:sp>
      <p:sp>
        <p:nvSpPr>
          <p:cNvPr id="56" name="Text 1"/>
          <p:cNvSpPr/>
          <p:nvPr/>
        </p:nvSpPr>
        <p:spPr>
          <a:xfrm>
            <a:off x="548640" y="1828800"/>
            <a:ext cx="3657240" cy="4571640"/>
          </a:xfrm>
          <a:prstGeom prst="rect">
            <a:avLst/>
          </a:prstGeom>
          <a:noFill/>
          <a:ln w="0">
            <a:noFill/>
          </a:ln>
        </p:spPr>
        <p:style>
          <a:lnRef idx="0"/>
          <a:fillRef idx="0"/>
          <a:effectRef idx="0"/>
          <a:fontRef idx="minor"/>
        </p:style>
        <p:txBody>
          <a:bodyPr lIns="90000" rIns="90000" tIns="45000" bIns="45000" anchor="ctr">
            <a:noAutofit/>
          </a:bodyPr>
          <a:p>
            <a:pPr>
              <a:lnSpc>
                <a:spcPct val="100000"/>
              </a:lnSpc>
              <a:spcAft>
                <a:spcPts val="1199"/>
              </a:spcAft>
              <a:buNone/>
              <a:tabLst>
                <a:tab algn="l" pos="0"/>
              </a:tabLst>
            </a:pPr>
            <a:r>
              <a:rPr b="0" lang="en-US" sz="1600" spc="-1" strike="noStrike">
                <a:solidFill>
                  <a:srgbClr val="1a1a1a"/>
                </a:solidFill>
                <a:latin typeface="Arial"/>
                <a:ea typeface="Arial"/>
              </a:rPr>
              <a:t>1.  Who We Are</a:t>
            </a:r>
            <a:endParaRPr b="0" lang="en-US" sz="1600" spc="-1" strike="noStrike">
              <a:latin typeface="Arial"/>
            </a:endParaRPr>
          </a:p>
          <a:p>
            <a:pPr>
              <a:lnSpc>
                <a:spcPct val="100000"/>
              </a:lnSpc>
              <a:spcAft>
                <a:spcPts val="1199"/>
              </a:spcAft>
              <a:buNone/>
              <a:tabLst>
                <a:tab algn="l" pos="0"/>
              </a:tabLst>
            </a:pPr>
            <a:r>
              <a:rPr b="0" lang="en-US" sz="1600" spc="-1" strike="noStrike">
                <a:solidFill>
                  <a:srgbClr val="1a1a1a"/>
                </a:solidFill>
                <a:latin typeface="Arial"/>
                <a:ea typeface="Arial"/>
              </a:rPr>
              <a:t>2.  Purpose</a:t>
            </a:r>
            <a:endParaRPr b="0" lang="en-US" sz="1600" spc="-1" strike="noStrike">
              <a:latin typeface="Arial"/>
            </a:endParaRPr>
          </a:p>
          <a:p>
            <a:pPr>
              <a:lnSpc>
                <a:spcPct val="100000"/>
              </a:lnSpc>
              <a:spcAft>
                <a:spcPts val="1199"/>
              </a:spcAft>
              <a:buNone/>
              <a:tabLst>
                <a:tab algn="l" pos="0"/>
              </a:tabLst>
            </a:pPr>
            <a:r>
              <a:rPr b="0" lang="en-US" sz="1600" spc="-1" strike="noStrike">
                <a:solidFill>
                  <a:srgbClr val="1a1a1a"/>
                </a:solidFill>
                <a:latin typeface="Arial"/>
                <a:ea typeface="Arial"/>
              </a:rPr>
              <a:t>3.  What Is the Program</a:t>
            </a:r>
            <a:endParaRPr b="0" lang="en-US" sz="1600" spc="-1" strike="noStrike">
              <a:latin typeface="Arial"/>
            </a:endParaRPr>
          </a:p>
          <a:p>
            <a:pPr>
              <a:lnSpc>
                <a:spcPct val="100000"/>
              </a:lnSpc>
              <a:spcAft>
                <a:spcPts val="1199"/>
              </a:spcAft>
              <a:buNone/>
              <a:tabLst>
                <a:tab algn="l" pos="0"/>
              </a:tabLst>
            </a:pPr>
            <a:r>
              <a:rPr b="0" lang="en-US" sz="1600" spc="-1" strike="noStrike">
                <a:solidFill>
                  <a:srgbClr val="1a1a1a"/>
                </a:solidFill>
                <a:latin typeface="Arial"/>
                <a:ea typeface="Arial"/>
              </a:rPr>
              <a:t>4.  Inside the Program</a:t>
            </a:r>
            <a:endParaRPr b="0" lang="en-US" sz="1600" spc="-1" strike="noStrike">
              <a:latin typeface="Arial"/>
            </a:endParaRPr>
          </a:p>
          <a:p>
            <a:pPr>
              <a:lnSpc>
                <a:spcPct val="100000"/>
              </a:lnSpc>
              <a:spcAft>
                <a:spcPts val="1199"/>
              </a:spcAft>
              <a:buNone/>
              <a:tabLst>
                <a:tab algn="l" pos="0"/>
              </a:tabLst>
            </a:pPr>
            <a:r>
              <a:rPr b="0" lang="en-US" sz="1600" spc="-1" strike="noStrike">
                <a:solidFill>
                  <a:srgbClr val="1a1a1a"/>
                </a:solidFill>
                <a:latin typeface="Arial"/>
                <a:ea typeface="Arial"/>
              </a:rPr>
              <a:t>5.  The Tri-Cities Career Showcase</a:t>
            </a:r>
            <a:endParaRPr b="0" lang="en-US" sz="1600" spc="-1" strike="noStrike">
              <a:latin typeface="Arial"/>
            </a:endParaRPr>
          </a:p>
          <a:p>
            <a:pPr>
              <a:lnSpc>
                <a:spcPct val="100000"/>
              </a:lnSpc>
              <a:spcAft>
                <a:spcPts val="1199"/>
              </a:spcAft>
              <a:buNone/>
              <a:tabLst>
                <a:tab algn="l" pos="0"/>
              </a:tabLst>
            </a:pPr>
            <a:r>
              <a:rPr b="0" lang="en-US" sz="1600" spc="-1" strike="noStrike">
                <a:solidFill>
                  <a:srgbClr val="1a1a1a"/>
                </a:solidFill>
                <a:latin typeface="Arial"/>
                <a:ea typeface="Arial"/>
              </a:rPr>
              <a:t>6.  Proposed Timeline</a:t>
            </a:r>
            <a:endParaRPr b="0" lang="en-US" sz="1600" spc="-1" strike="noStrike">
              <a:latin typeface="Arial"/>
            </a:endParaRPr>
          </a:p>
          <a:p>
            <a:pPr>
              <a:lnSpc>
                <a:spcPct val="100000"/>
              </a:lnSpc>
              <a:spcAft>
                <a:spcPts val="1199"/>
              </a:spcAft>
              <a:buNone/>
              <a:tabLst>
                <a:tab algn="l" pos="0"/>
              </a:tabLst>
            </a:pPr>
            <a:r>
              <a:rPr b="0" lang="en-US" sz="1600" spc="-1" strike="noStrike">
                <a:solidFill>
                  <a:srgbClr val="1a1a1a"/>
                </a:solidFill>
                <a:latin typeface="Arial"/>
                <a:ea typeface="Arial"/>
              </a:rPr>
              <a:t>7.  The Ask</a:t>
            </a:r>
            <a:endParaRPr b="0" lang="en-US" sz="1600" spc="-1" strike="noStrike">
              <a:latin typeface="Arial"/>
            </a:endParaRPr>
          </a:p>
          <a:p>
            <a:pPr>
              <a:lnSpc>
                <a:spcPct val="100000"/>
              </a:lnSpc>
              <a:spcAft>
                <a:spcPts val="1199"/>
              </a:spcAft>
              <a:buNone/>
              <a:tabLst>
                <a:tab algn="l" pos="0"/>
              </a:tabLst>
            </a:pPr>
            <a:r>
              <a:rPr b="0" lang="en-US" sz="1600" spc="-1" strike="noStrike">
                <a:solidFill>
                  <a:srgbClr val="1a1a1a"/>
                </a:solidFill>
                <a:latin typeface="Arial"/>
                <a:ea typeface="Arial"/>
              </a:rPr>
              <a:t>8.  Contact and Next Steps</a:t>
            </a:r>
            <a:endParaRPr b="0" lang="en-US" sz="1600" spc="-1" strike="noStrike">
              <a:latin typeface="Arial"/>
            </a:endParaRPr>
          </a:p>
        </p:txBody>
      </p:sp>
      <p:sp>
        <p:nvSpPr>
          <p:cNvPr id="57" name="Shape 2"/>
          <p:cNvSpPr/>
          <p:nvPr/>
        </p:nvSpPr>
        <p:spPr>
          <a:xfrm>
            <a:off x="4480560" y="1600200"/>
            <a:ext cx="7131960" cy="4845960"/>
          </a:xfrm>
          <a:prstGeom prst="rect">
            <a:avLst/>
          </a:prstGeom>
          <a:solidFill>
            <a:srgbClr val="f2f2f2"/>
          </a:solidFill>
          <a:ln w="9525">
            <a:solidFill>
              <a:srgbClr val="dddddd"/>
            </a:solidFill>
            <a:round/>
          </a:ln>
        </p:spPr>
        <p:style>
          <a:lnRef idx="0"/>
          <a:fillRef idx="0"/>
          <a:effectRef idx="0"/>
          <a:fontRef idx="minor"/>
        </p:style>
      </p:sp>
      <p:sp>
        <p:nvSpPr>
          <p:cNvPr id="58" name="Text 3"/>
          <p:cNvSpPr/>
          <p:nvPr/>
        </p:nvSpPr>
        <p:spPr>
          <a:xfrm>
            <a:off x="4480560" y="1600200"/>
            <a:ext cx="7131960" cy="484596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100" spc="-1" strike="noStrike">
                <a:solidFill>
                  <a:srgbClr val="888888"/>
                </a:solidFill>
                <a:latin typeface="Arial"/>
                <a:ea typeface="Arial"/>
              </a:rPr>
              <a:t>[Photo]</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9" name="Text 0"/>
          <p:cNvSpPr/>
          <p:nvPr/>
        </p:nvSpPr>
        <p:spPr>
          <a:xfrm>
            <a:off x="548640" y="548640"/>
            <a:ext cx="11063880" cy="822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3000" spc="-1" strike="noStrike">
                <a:solidFill>
                  <a:srgbClr val="1a1a1a"/>
                </a:solidFill>
                <a:latin typeface="Arial"/>
                <a:ea typeface="Arial"/>
              </a:rPr>
              <a:t>Who We Are</a:t>
            </a:r>
            <a:endParaRPr b="0" lang="en-US" sz="3000" spc="-1" strike="noStrike">
              <a:latin typeface="Arial"/>
            </a:endParaRPr>
          </a:p>
        </p:txBody>
      </p:sp>
      <p:sp>
        <p:nvSpPr>
          <p:cNvPr id="60" name="Shape 1"/>
          <p:cNvSpPr/>
          <p:nvPr/>
        </p:nvSpPr>
        <p:spPr>
          <a:xfrm>
            <a:off x="548640" y="1691640"/>
            <a:ext cx="2559960" cy="1645560"/>
          </a:xfrm>
          <a:prstGeom prst="rect">
            <a:avLst/>
          </a:prstGeom>
          <a:solidFill>
            <a:srgbClr val="f2f2f2"/>
          </a:solidFill>
          <a:ln w="9525">
            <a:solidFill>
              <a:srgbClr val="dddddd"/>
            </a:solidFill>
            <a:round/>
          </a:ln>
        </p:spPr>
        <p:style>
          <a:lnRef idx="0"/>
          <a:fillRef idx="0"/>
          <a:effectRef idx="0"/>
          <a:fontRef idx="minor"/>
        </p:style>
      </p:sp>
      <p:sp>
        <p:nvSpPr>
          <p:cNvPr id="61" name="Text 2"/>
          <p:cNvSpPr/>
          <p:nvPr/>
        </p:nvSpPr>
        <p:spPr>
          <a:xfrm>
            <a:off x="548640" y="1691640"/>
            <a:ext cx="2559960" cy="164556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100" spc="-1" strike="noStrike">
                <a:solidFill>
                  <a:srgbClr val="888888"/>
                </a:solidFill>
                <a:latin typeface="Arial"/>
                <a:ea typeface="Arial"/>
              </a:rPr>
              <a:t>[Photo]</a:t>
            </a:r>
            <a:endParaRPr b="0" lang="en-US" sz="1100" spc="-1" strike="noStrike">
              <a:latin typeface="Arial"/>
            </a:endParaRPr>
          </a:p>
        </p:txBody>
      </p:sp>
      <p:sp>
        <p:nvSpPr>
          <p:cNvPr id="62" name="Text 3"/>
          <p:cNvSpPr/>
          <p:nvPr/>
        </p:nvSpPr>
        <p:spPr>
          <a:xfrm>
            <a:off x="548640" y="3474720"/>
            <a:ext cx="2559960" cy="45684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tabLst>
                <a:tab algn="l" pos="0"/>
              </a:tabLst>
            </a:pPr>
            <a:r>
              <a:rPr b="1" lang="en-US" sz="1300" spc="-1" strike="noStrike">
                <a:solidFill>
                  <a:srgbClr val="1a1a1a"/>
                </a:solidFill>
                <a:latin typeface="Arial"/>
                <a:ea typeface="Arial"/>
              </a:rPr>
              <a:t>Dr. Shawn M. Nicholson</a:t>
            </a:r>
            <a:endParaRPr b="0" lang="en-US" sz="1300" spc="-1" strike="noStrike">
              <a:latin typeface="Arial"/>
            </a:endParaRPr>
          </a:p>
        </p:txBody>
      </p:sp>
      <p:sp>
        <p:nvSpPr>
          <p:cNvPr id="63" name="Text 4"/>
          <p:cNvSpPr/>
          <p:nvPr/>
        </p:nvSpPr>
        <p:spPr>
          <a:xfrm>
            <a:off x="548640" y="3886200"/>
            <a:ext cx="2559960" cy="31968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tabLst>
                <a:tab algn="l" pos="0"/>
              </a:tabLst>
            </a:pPr>
            <a:r>
              <a:rPr b="0" lang="en-US" sz="1100" spc="-1" strike="noStrike">
                <a:solidFill>
                  <a:srgbClr val="555555"/>
                </a:solidFill>
                <a:latin typeface="Arial"/>
                <a:ea typeface="Arial"/>
              </a:rPr>
              <a:t>Chief Executive Officer</a:t>
            </a:r>
            <a:endParaRPr b="0" lang="en-US" sz="1100" spc="-1" strike="noStrike">
              <a:latin typeface="Arial"/>
            </a:endParaRPr>
          </a:p>
        </p:txBody>
      </p:sp>
      <p:sp>
        <p:nvSpPr>
          <p:cNvPr id="64" name="Text 5"/>
          <p:cNvSpPr/>
          <p:nvPr/>
        </p:nvSpPr>
        <p:spPr>
          <a:xfrm>
            <a:off x="548640" y="4251960"/>
            <a:ext cx="2559960" cy="1828440"/>
          </a:xfrm>
          <a:prstGeom prst="rect">
            <a:avLst/>
          </a:prstGeom>
          <a:noFill/>
          <a:ln w="0">
            <a:noFill/>
          </a:ln>
        </p:spPr>
        <p:style>
          <a:lnRef idx="0"/>
          <a:fillRef idx="0"/>
          <a:effectRef idx="0"/>
          <a:fontRef idx="minor"/>
        </p:style>
        <p:txBody>
          <a:bodyPr lIns="90000" rIns="90000" tIns="45000" bIns="45000" anchor="t">
            <a:noAutofit/>
          </a:bodyPr>
          <a:p>
            <a:pPr>
              <a:lnSpc>
                <a:spcPct val="115000"/>
              </a:lnSpc>
              <a:buNone/>
              <a:tabLst>
                <a:tab algn="l" pos="0"/>
              </a:tabLst>
            </a:pPr>
            <a:r>
              <a:rPr b="0" lang="en-US" sz="950" spc="-1" strike="noStrike">
                <a:solidFill>
                  <a:srgbClr val="1a1a1a"/>
                </a:solidFill>
                <a:latin typeface="Arial"/>
                <a:ea typeface="Arial"/>
              </a:rPr>
              <a:t>Background running workforce development programs. [Track record figures to be confirmed]</a:t>
            </a:r>
            <a:endParaRPr b="0" lang="en-US" sz="950" spc="-1" strike="noStrike">
              <a:latin typeface="Arial"/>
            </a:endParaRPr>
          </a:p>
        </p:txBody>
      </p:sp>
      <p:sp>
        <p:nvSpPr>
          <p:cNvPr id="65" name="Shape 6"/>
          <p:cNvSpPr/>
          <p:nvPr/>
        </p:nvSpPr>
        <p:spPr>
          <a:xfrm>
            <a:off x="3383280" y="1691640"/>
            <a:ext cx="2559960" cy="1645560"/>
          </a:xfrm>
          <a:prstGeom prst="rect">
            <a:avLst/>
          </a:prstGeom>
          <a:solidFill>
            <a:srgbClr val="f2f2f2"/>
          </a:solidFill>
          <a:ln w="9525">
            <a:solidFill>
              <a:srgbClr val="dddddd"/>
            </a:solidFill>
            <a:round/>
          </a:ln>
        </p:spPr>
        <p:style>
          <a:lnRef idx="0"/>
          <a:fillRef idx="0"/>
          <a:effectRef idx="0"/>
          <a:fontRef idx="minor"/>
        </p:style>
      </p:sp>
      <p:sp>
        <p:nvSpPr>
          <p:cNvPr id="66" name="Text 7"/>
          <p:cNvSpPr/>
          <p:nvPr/>
        </p:nvSpPr>
        <p:spPr>
          <a:xfrm>
            <a:off x="3383280" y="1691640"/>
            <a:ext cx="2559960" cy="164556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100" spc="-1" strike="noStrike">
                <a:solidFill>
                  <a:srgbClr val="888888"/>
                </a:solidFill>
                <a:latin typeface="Arial"/>
                <a:ea typeface="Arial"/>
              </a:rPr>
              <a:t>[Photo]</a:t>
            </a:r>
            <a:endParaRPr b="0" lang="en-US" sz="1100" spc="-1" strike="noStrike">
              <a:latin typeface="Arial"/>
            </a:endParaRPr>
          </a:p>
        </p:txBody>
      </p:sp>
      <p:sp>
        <p:nvSpPr>
          <p:cNvPr id="67" name="Text 8"/>
          <p:cNvSpPr/>
          <p:nvPr/>
        </p:nvSpPr>
        <p:spPr>
          <a:xfrm>
            <a:off x="3383280" y="3474720"/>
            <a:ext cx="2559960" cy="45684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tabLst>
                <a:tab algn="l" pos="0"/>
              </a:tabLst>
            </a:pPr>
            <a:r>
              <a:rPr b="1" lang="en-US" sz="1300" spc="-1" strike="noStrike">
                <a:solidFill>
                  <a:srgbClr val="1a1a1a"/>
                </a:solidFill>
                <a:latin typeface="Arial"/>
                <a:ea typeface="Arial"/>
              </a:rPr>
              <a:t>Javon Guerrier</a:t>
            </a:r>
            <a:endParaRPr b="0" lang="en-US" sz="1300" spc="-1" strike="noStrike">
              <a:latin typeface="Arial"/>
            </a:endParaRPr>
          </a:p>
        </p:txBody>
      </p:sp>
      <p:sp>
        <p:nvSpPr>
          <p:cNvPr id="68" name="Text 9"/>
          <p:cNvSpPr/>
          <p:nvPr/>
        </p:nvSpPr>
        <p:spPr>
          <a:xfrm>
            <a:off x="3383280" y="3886200"/>
            <a:ext cx="2559960" cy="31968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tabLst>
                <a:tab algn="l" pos="0"/>
              </a:tabLst>
            </a:pPr>
            <a:r>
              <a:rPr b="0" lang="en-US" sz="1100" spc="-1" strike="noStrike">
                <a:solidFill>
                  <a:srgbClr val="555555"/>
                </a:solidFill>
                <a:latin typeface="Arial"/>
                <a:ea typeface="Arial"/>
              </a:rPr>
              <a:t>Program Director</a:t>
            </a:r>
            <a:endParaRPr b="0" lang="en-US" sz="1100" spc="-1" strike="noStrike">
              <a:latin typeface="Arial"/>
            </a:endParaRPr>
          </a:p>
        </p:txBody>
      </p:sp>
      <p:sp>
        <p:nvSpPr>
          <p:cNvPr id="69" name="Text 10"/>
          <p:cNvSpPr/>
          <p:nvPr/>
        </p:nvSpPr>
        <p:spPr>
          <a:xfrm>
            <a:off x="3383280" y="4251960"/>
            <a:ext cx="2559960" cy="1828440"/>
          </a:xfrm>
          <a:prstGeom prst="rect">
            <a:avLst/>
          </a:prstGeom>
          <a:noFill/>
          <a:ln w="0">
            <a:noFill/>
          </a:ln>
        </p:spPr>
        <p:style>
          <a:lnRef idx="0"/>
          <a:fillRef idx="0"/>
          <a:effectRef idx="0"/>
          <a:fontRef idx="minor"/>
        </p:style>
        <p:txBody>
          <a:bodyPr lIns="90000" rIns="90000" tIns="45000" bIns="45000" anchor="t">
            <a:noAutofit/>
          </a:bodyPr>
          <a:p>
            <a:pPr>
              <a:lnSpc>
                <a:spcPct val="115000"/>
              </a:lnSpc>
              <a:buNone/>
              <a:tabLst>
                <a:tab algn="l" pos="0"/>
              </a:tabLst>
            </a:pPr>
            <a:r>
              <a:rPr b="0" lang="en-US" sz="950" spc="-1" strike="noStrike">
                <a:solidFill>
                  <a:srgbClr val="1a1a1a"/>
                </a:solidFill>
                <a:latin typeface="Arial"/>
                <a:ea typeface="Arial"/>
              </a:rPr>
              <a:t>Business and technical education specialist. Former Business Technology Solutions Analyst and UX Designer in an AI / Data Engineering practice. Educator, [Richmond / Petersburg — confirm] City Public Schools.</a:t>
            </a:r>
            <a:endParaRPr b="0" lang="en-US" sz="950" spc="-1" strike="noStrike">
              <a:latin typeface="Arial"/>
            </a:endParaRPr>
          </a:p>
        </p:txBody>
      </p:sp>
      <p:sp>
        <p:nvSpPr>
          <p:cNvPr id="70" name="Shape 11"/>
          <p:cNvSpPr/>
          <p:nvPr/>
        </p:nvSpPr>
        <p:spPr>
          <a:xfrm>
            <a:off x="6217920" y="1691640"/>
            <a:ext cx="2559960" cy="1645560"/>
          </a:xfrm>
          <a:prstGeom prst="rect">
            <a:avLst/>
          </a:prstGeom>
          <a:solidFill>
            <a:srgbClr val="f2f2f2"/>
          </a:solidFill>
          <a:ln w="9525">
            <a:solidFill>
              <a:srgbClr val="dddddd"/>
            </a:solidFill>
            <a:round/>
          </a:ln>
        </p:spPr>
        <p:style>
          <a:lnRef idx="0"/>
          <a:fillRef idx="0"/>
          <a:effectRef idx="0"/>
          <a:fontRef idx="minor"/>
        </p:style>
      </p:sp>
      <p:sp>
        <p:nvSpPr>
          <p:cNvPr id="71" name="Text 12"/>
          <p:cNvSpPr/>
          <p:nvPr/>
        </p:nvSpPr>
        <p:spPr>
          <a:xfrm>
            <a:off x="6217920" y="1691640"/>
            <a:ext cx="2559960" cy="164556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100" spc="-1" strike="noStrike">
                <a:solidFill>
                  <a:srgbClr val="888888"/>
                </a:solidFill>
                <a:latin typeface="Arial"/>
                <a:ea typeface="Arial"/>
              </a:rPr>
              <a:t>[Photo]</a:t>
            </a:r>
            <a:endParaRPr b="0" lang="en-US" sz="1100" spc="-1" strike="noStrike">
              <a:latin typeface="Arial"/>
            </a:endParaRPr>
          </a:p>
        </p:txBody>
      </p:sp>
      <p:sp>
        <p:nvSpPr>
          <p:cNvPr id="72" name="Text 13"/>
          <p:cNvSpPr/>
          <p:nvPr/>
        </p:nvSpPr>
        <p:spPr>
          <a:xfrm>
            <a:off x="6217920" y="3474720"/>
            <a:ext cx="2559960" cy="45684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tabLst>
                <a:tab algn="l" pos="0"/>
              </a:tabLst>
            </a:pPr>
            <a:r>
              <a:rPr b="1" lang="en-US" sz="1300" spc="-1" strike="noStrike">
                <a:solidFill>
                  <a:srgbClr val="1a1a1a"/>
                </a:solidFill>
                <a:latin typeface="Arial"/>
                <a:ea typeface="Arial"/>
              </a:rPr>
              <a:t>Andrew Foulks</a:t>
            </a:r>
            <a:endParaRPr b="0" lang="en-US" sz="1300" spc="-1" strike="noStrike">
              <a:latin typeface="Arial"/>
            </a:endParaRPr>
          </a:p>
        </p:txBody>
      </p:sp>
      <p:sp>
        <p:nvSpPr>
          <p:cNvPr id="73" name="Text 14"/>
          <p:cNvSpPr/>
          <p:nvPr/>
        </p:nvSpPr>
        <p:spPr>
          <a:xfrm>
            <a:off x="6217920" y="3886200"/>
            <a:ext cx="2559960" cy="31968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tabLst>
                <a:tab algn="l" pos="0"/>
              </a:tabLst>
            </a:pPr>
            <a:r>
              <a:rPr b="0" lang="en-US" sz="1100" spc="-1" strike="noStrike">
                <a:solidFill>
                  <a:srgbClr val="555555"/>
                </a:solidFill>
                <a:latin typeface="Arial"/>
                <a:ea typeface="Arial"/>
              </a:rPr>
              <a:t>Curriculum Developer</a:t>
            </a:r>
            <a:endParaRPr b="0" lang="en-US" sz="1100" spc="-1" strike="noStrike">
              <a:latin typeface="Arial"/>
            </a:endParaRPr>
          </a:p>
        </p:txBody>
      </p:sp>
      <p:sp>
        <p:nvSpPr>
          <p:cNvPr id="74" name="Text 15"/>
          <p:cNvSpPr/>
          <p:nvPr/>
        </p:nvSpPr>
        <p:spPr>
          <a:xfrm>
            <a:off x="6217920" y="4251960"/>
            <a:ext cx="2559960" cy="1828440"/>
          </a:xfrm>
          <a:prstGeom prst="rect">
            <a:avLst/>
          </a:prstGeom>
          <a:noFill/>
          <a:ln w="0">
            <a:noFill/>
          </a:ln>
        </p:spPr>
        <p:style>
          <a:lnRef idx="0"/>
          <a:fillRef idx="0"/>
          <a:effectRef idx="0"/>
          <a:fontRef idx="minor"/>
        </p:style>
        <p:txBody>
          <a:bodyPr lIns="90000" rIns="90000" tIns="45000" bIns="45000" anchor="t">
            <a:noAutofit/>
          </a:bodyPr>
          <a:p>
            <a:pPr>
              <a:lnSpc>
                <a:spcPct val="115000"/>
              </a:lnSpc>
              <a:buNone/>
              <a:tabLst>
                <a:tab algn="l" pos="0"/>
              </a:tabLst>
            </a:pPr>
            <a:r>
              <a:rPr b="0" lang="en-US" sz="950" spc="-1" strike="noStrike">
                <a:solidFill>
                  <a:srgbClr val="1a1a1a"/>
                </a:solidFill>
                <a:latin typeface="Arial"/>
                <a:ea typeface="Arial"/>
              </a:rPr>
              <a:t>Hardware and software integration, Apache Software Foundation Responsible AI committee member, Community Developer and FOSS Advocate. Prior experience with NASA.</a:t>
            </a:r>
            <a:endParaRPr b="0" lang="en-US" sz="950" spc="-1" strike="noStrike">
              <a:latin typeface="Arial"/>
            </a:endParaRPr>
          </a:p>
        </p:txBody>
      </p:sp>
      <p:sp>
        <p:nvSpPr>
          <p:cNvPr id="75" name="Shape 16"/>
          <p:cNvSpPr/>
          <p:nvPr/>
        </p:nvSpPr>
        <p:spPr>
          <a:xfrm>
            <a:off x="9052560" y="1691640"/>
            <a:ext cx="2559960" cy="1645560"/>
          </a:xfrm>
          <a:prstGeom prst="rect">
            <a:avLst/>
          </a:prstGeom>
          <a:solidFill>
            <a:srgbClr val="f2f2f2"/>
          </a:solidFill>
          <a:ln w="9525">
            <a:solidFill>
              <a:srgbClr val="dddddd"/>
            </a:solidFill>
            <a:round/>
          </a:ln>
        </p:spPr>
        <p:style>
          <a:lnRef idx="0"/>
          <a:fillRef idx="0"/>
          <a:effectRef idx="0"/>
          <a:fontRef idx="minor"/>
        </p:style>
      </p:sp>
      <p:sp>
        <p:nvSpPr>
          <p:cNvPr id="76" name="Text 17"/>
          <p:cNvSpPr/>
          <p:nvPr/>
        </p:nvSpPr>
        <p:spPr>
          <a:xfrm>
            <a:off x="9052560" y="1691640"/>
            <a:ext cx="2559960" cy="164556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100" spc="-1" strike="noStrike">
                <a:solidFill>
                  <a:srgbClr val="888888"/>
                </a:solidFill>
                <a:latin typeface="Arial"/>
                <a:ea typeface="Arial"/>
              </a:rPr>
              <a:t>[Photo]</a:t>
            </a:r>
            <a:endParaRPr b="0" lang="en-US" sz="1100" spc="-1" strike="noStrike">
              <a:latin typeface="Arial"/>
            </a:endParaRPr>
          </a:p>
        </p:txBody>
      </p:sp>
      <p:sp>
        <p:nvSpPr>
          <p:cNvPr id="77" name="Text 18"/>
          <p:cNvSpPr/>
          <p:nvPr/>
        </p:nvSpPr>
        <p:spPr>
          <a:xfrm>
            <a:off x="9052560" y="3474720"/>
            <a:ext cx="2559960" cy="45684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tabLst>
                <a:tab algn="l" pos="0"/>
              </a:tabLst>
            </a:pPr>
            <a:r>
              <a:rPr b="1" lang="en-US" sz="1300" spc="-1" strike="noStrike">
                <a:solidFill>
                  <a:srgbClr val="1a1a1a"/>
                </a:solidFill>
                <a:latin typeface="Arial"/>
                <a:ea typeface="Arial"/>
              </a:rPr>
              <a:t>Emanuel Perez</a:t>
            </a:r>
            <a:endParaRPr b="0" lang="en-US" sz="1300" spc="-1" strike="noStrike">
              <a:latin typeface="Arial"/>
            </a:endParaRPr>
          </a:p>
        </p:txBody>
      </p:sp>
      <p:sp>
        <p:nvSpPr>
          <p:cNvPr id="78" name="Text 19"/>
          <p:cNvSpPr/>
          <p:nvPr/>
        </p:nvSpPr>
        <p:spPr>
          <a:xfrm>
            <a:off x="9052560" y="3886200"/>
            <a:ext cx="2559960" cy="31968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tabLst>
                <a:tab algn="l" pos="0"/>
              </a:tabLst>
            </a:pPr>
            <a:r>
              <a:rPr b="0" lang="en-US" sz="1100" spc="-1" strike="noStrike">
                <a:solidFill>
                  <a:srgbClr val="555555"/>
                </a:solidFill>
                <a:latin typeface="Arial"/>
                <a:ea typeface="Arial"/>
              </a:rPr>
              <a:t>Curriculum Developer &amp; Instructor</a:t>
            </a:r>
            <a:endParaRPr b="0" lang="en-US" sz="1100" spc="-1" strike="noStrike">
              <a:latin typeface="Arial"/>
            </a:endParaRPr>
          </a:p>
        </p:txBody>
      </p:sp>
      <p:sp>
        <p:nvSpPr>
          <p:cNvPr id="79" name="Text 20"/>
          <p:cNvSpPr/>
          <p:nvPr/>
        </p:nvSpPr>
        <p:spPr>
          <a:xfrm>
            <a:off x="9052560" y="4251960"/>
            <a:ext cx="2559960" cy="1828440"/>
          </a:xfrm>
          <a:prstGeom prst="rect">
            <a:avLst/>
          </a:prstGeom>
          <a:noFill/>
          <a:ln w="0">
            <a:noFill/>
          </a:ln>
        </p:spPr>
        <p:style>
          <a:lnRef idx="0"/>
          <a:fillRef idx="0"/>
          <a:effectRef idx="0"/>
          <a:fontRef idx="minor"/>
        </p:style>
        <p:txBody>
          <a:bodyPr lIns="90000" rIns="90000" tIns="45000" bIns="45000" anchor="t">
            <a:noAutofit/>
          </a:bodyPr>
          <a:p>
            <a:pPr>
              <a:lnSpc>
                <a:spcPct val="115000"/>
              </a:lnSpc>
              <a:buNone/>
              <a:tabLst>
                <a:tab algn="l" pos="0"/>
              </a:tabLst>
            </a:pPr>
            <a:r>
              <a:rPr b="0" lang="en-US" sz="950" spc="-1" strike="noStrike">
                <a:solidFill>
                  <a:srgbClr val="1a1a1a"/>
                </a:solidFill>
                <a:latin typeface="Arial"/>
                <a:ea typeface="Arial"/>
              </a:rPr>
              <a:t>Entrepreneurial education programs, including work with Norfolk State and Unlock Alabama. Prior experience with BuildSpace.</a:t>
            </a:r>
            <a:endParaRPr b="0" lang="en-US" sz="95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0" name="Text 0"/>
          <p:cNvSpPr/>
          <p:nvPr/>
        </p:nvSpPr>
        <p:spPr>
          <a:xfrm>
            <a:off x="548640" y="548640"/>
            <a:ext cx="11063880" cy="822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3000" spc="-1" strike="noStrike">
                <a:solidFill>
                  <a:srgbClr val="1a1a1a"/>
                </a:solidFill>
                <a:latin typeface="Arial"/>
                <a:ea typeface="Arial"/>
              </a:rPr>
              <a:t>Purpose</a:t>
            </a:r>
            <a:endParaRPr b="0" lang="en-US" sz="3000" spc="-1" strike="noStrike">
              <a:latin typeface="Arial"/>
            </a:endParaRPr>
          </a:p>
        </p:txBody>
      </p:sp>
      <p:sp>
        <p:nvSpPr>
          <p:cNvPr id="81" name="Text 1"/>
          <p:cNvSpPr/>
          <p:nvPr/>
        </p:nvSpPr>
        <p:spPr>
          <a:xfrm>
            <a:off x="548640" y="1645920"/>
            <a:ext cx="11063880" cy="1005480"/>
          </a:xfrm>
          <a:prstGeom prst="rect">
            <a:avLst/>
          </a:prstGeom>
          <a:noFill/>
          <a:ln w="0">
            <a:noFill/>
          </a:ln>
        </p:spPr>
        <p:style>
          <a:lnRef idx="0"/>
          <a:fillRef idx="0"/>
          <a:effectRef idx="0"/>
          <a:fontRef idx="minor"/>
        </p:style>
        <p:txBody>
          <a:bodyPr lIns="90000" rIns="90000" tIns="45000" bIns="45000" anchor="ctr">
            <a:noAutofit/>
          </a:bodyPr>
          <a:p>
            <a:pPr>
              <a:lnSpc>
                <a:spcPct val="125000"/>
              </a:lnSpc>
              <a:buNone/>
              <a:tabLst>
                <a:tab algn="l" pos="0"/>
              </a:tabLst>
            </a:pPr>
            <a:r>
              <a:rPr b="0" lang="en-US" sz="1700" spc="-1" strike="noStrike">
                <a:solidFill>
                  <a:srgbClr val="1a1a1a"/>
                </a:solidFill>
                <a:latin typeface="Arial"/>
                <a:ea typeface="Arial"/>
              </a:rPr>
              <a:t>The Tri-Cities region is producing that human capital, but some of the most talented students leave the region that helped develop them. That exit weakens the region's own capacity for economic growth.</a:t>
            </a:r>
            <a:endParaRPr b="0" lang="en-US" sz="1700" spc="-1" strike="noStrike">
              <a:latin typeface="Arial"/>
            </a:endParaRPr>
          </a:p>
        </p:txBody>
      </p:sp>
      <p:sp>
        <p:nvSpPr>
          <p:cNvPr id="82" name="Text 2"/>
          <p:cNvSpPr/>
          <p:nvPr/>
        </p:nvSpPr>
        <p:spPr>
          <a:xfrm>
            <a:off x="548640" y="3063240"/>
            <a:ext cx="3382920" cy="3654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400" spc="-1" strike="noStrike">
                <a:solidFill>
                  <a:srgbClr val="555555"/>
                </a:solidFill>
                <a:latin typeface="Arial"/>
                <a:ea typeface="Arial"/>
              </a:rPr>
              <a:t>Industries</a:t>
            </a:r>
            <a:endParaRPr b="0" lang="en-US" sz="1400" spc="-1" strike="noStrike">
              <a:latin typeface="Arial"/>
            </a:endParaRPr>
          </a:p>
        </p:txBody>
      </p:sp>
      <p:sp>
        <p:nvSpPr>
          <p:cNvPr id="83" name="Text 3"/>
          <p:cNvSpPr/>
          <p:nvPr/>
        </p:nvSpPr>
        <p:spPr>
          <a:xfrm>
            <a:off x="548640" y="3429000"/>
            <a:ext cx="3382920" cy="2742840"/>
          </a:xfrm>
          <a:prstGeom prst="rect">
            <a:avLst/>
          </a:prstGeom>
          <a:noFill/>
          <a:ln w="0">
            <a:noFill/>
          </a:ln>
        </p:spPr>
        <p:style>
          <a:lnRef idx="0"/>
          <a:fillRef idx="0"/>
          <a:effectRef idx="0"/>
          <a:fontRef idx="minor"/>
        </p:style>
        <p:txBody>
          <a:bodyPr lIns="90000" rIns="90000" tIns="45000" bIns="45000" anchor="ctr">
            <a:noAutofit/>
          </a:bodyPr>
          <a:p>
            <a:pPr marL="177840" indent="-177840">
              <a:lnSpc>
                <a:spcPct val="100000"/>
              </a:lnSpc>
              <a:spcAft>
                <a:spcPts val="700"/>
              </a:spcAft>
              <a:buClr>
                <a:srgbClr val="1a1a1a"/>
              </a:buClr>
              <a:buFont typeface="Symbol" charset="2"/>
              <a:buChar char=""/>
            </a:pPr>
            <a:r>
              <a:rPr b="0" lang="en-US" sz="1350" spc="-1" strike="noStrike">
                <a:solidFill>
                  <a:srgbClr val="1a1a1a"/>
                </a:solidFill>
                <a:latin typeface="Arial"/>
                <a:ea typeface="Arial"/>
              </a:rPr>
              <a:t>Agriculture</a:t>
            </a:r>
            <a:endParaRPr b="0" lang="en-US" sz="1350" spc="-1" strike="noStrike">
              <a:latin typeface="Arial"/>
            </a:endParaRPr>
          </a:p>
          <a:p>
            <a:pPr marL="177840" indent="-177840">
              <a:lnSpc>
                <a:spcPct val="100000"/>
              </a:lnSpc>
              <a:spcAft>
                <a:spcPts val="700"/>
              </a:spcAft>
              <a:buClr>
                <a:srgbClr val="1a1a1a"/>
              </a:buClr>
              <a:buFont typeface="Symbol" charset="2"/>
              <a:buChar char=""/>
            </a:pPr>
            <a:r>
              <a:rPr b="0" lang="en-US" sz="1350" spc="-1" strike="noStrike">
                <a:solidFill>
                  <a:srgbClr val="1a1a1a"/>
                </a:solidFill>
                <a:latin typeface="Arial"/>
                <a:ea typeface="Arial"/>
              </a:rPr>
              <a:t>Manufacturing</a:t>
            </a:r>
            <a:endParaRPr b="0" lang="en-US" sz="1350" spc="-1" strike="noStrike">
              <a:latin typeface="Arial"/>
            </a:endParaRPr>
          </a:p>
          <a:p>
            <a:pPr marL="177840" indent="-177840">
              <a:lnSpc>
                <a:spcPct val="100000"/>
              </a:lnSpc>
              <a:spcAft>
                <a:spcPts val="700"/>
              </a:spcAft>
              <a:buClr>
                <a:srgbClr val="1a1a1a"/>
              </a:buClr>
              <a:buFont typeface="Symbol" charset="2"/>
              <a:buChar char=""/>
            </a:pPr>
            <a:r>
              <a:rPr b="0" lang="en-US" sz="1350" spc="-1" strike="noStrike">
                <a:solidFill>
                  <a:srgbClr val="1a1a1a"/>
                </a:solidFill>
                <a:latin typeface="Arial"/>
                <a:ea typeface="Arial"/>
              </a:rPr>
              <a:t>Logistics</a:t>
            </a:r>
            <a:endParaRPr b="0" lang="en-US" sz="1350" spc="-1" strike="noStrike">
              <a:latin typeface="Arial"/>
            </a:endParaRPr>
          </a:p>
          <a:p>
            <a:pPr marL="177840" indent="-177840">
              <a:lnSpc>
                <a:spcPct val="100000"/>
              </a:lnSpc>
              <a:spcAft>
                <a:spcPts val="700"/>
              </a:spcAft>
              <a:buClr>
                <a:srgbClr val="1a1a1a"/>
              </a:buClr>
              <a:buFont typeface="Symbol" charset="2"/>
              <a:buChar char=""/>
            </a:pPr>
            <a:r>
              <a:rPr b="0" lang="en-US" sz="1350" spc="-1" strike="noStrike">
                <a:solidFill>
                  <a:srgbClr val="1a1a1a"/>
                </a:solidFill>
                <a:latin typeface="Arial"/>
                <a:ea typeface="Arial"/>
              </a:rPr>
              <a:t>Energy and Utilities</a:t>
            </a:r>
            <a:endParaRPr b="0" lang="en-US" sz="1350" spc="-1" strike="noStrike">
              <a:latin typeface="Arial"/>
            </a:endParaRPr>
          </a:p>
          <a:p>
            <a:pPr marL="177840" indent="-177840">
              <a:lnSpc>
                <a:spcPct val="100000"/>
              </a:lnSpc>
              <a:spcAft>
                <a:spcPts val="700"/>
              </a:spcAft>
              <a:buClr>
                <a:srgbClr val="1a1a1a"/>
              </a:buClr>
              <a:buFont typeface="Symbol" charset="2"/>
              <a:buChar char=""/>
            </a:pPr>
            <a:r>
              <a:rPr b="0" lang="en-US" sz="1350" spc="-1" strike="noStrike">
                <a:solidFill>
                  <a:srgbClr val="1a1a1a"/>
                </a:solidFill>
                <a:latin typeface="Arial"/>
                <a:ea typeface="Arial"/>
              </a:rPr>
              <a:t>Healthcare Technology</a:t>
            </a:r>
            <a:endParaRPr b="0" lang="en-US" sz="1350" spc="-1" strike="noStrike">
              <a:latin typeface="Arial"/>
            </a:endParaRPr>
          </a:p>
        </p:txBody>
      </p:sp>
      <p:sp>
        <p:nvSpPr>
          <p:cNvPr id="84" name="Text 4"/>
          <p:cNvSpPr/>
          <p:nvPr/>
        </p:nvSpPr>
        <p:spPr>
          <a:xfrm>
            <a:off x="4160520" y="3063240"/>
            <a:ext cx="3382920" cy="3654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400" spc="-1" strike="noStrike">
                <a:solidFill>
                  <a:srgbClr val="555555"/>
                </a:solidFill>
                <a:latin typeface="Arial"/>
                <a:ea typeface="Arial"/>
              </a:rPr>
              <a:t>How It Works</a:t>
            </a:r>
            <a:endParaRPr b="0" lang="en-US" sz="1400" spc="-1" strike="noStrike">
              <a:latin typeface="Arial"/>
            </a:endParaRPr>
          </a:p>
        </p:txBody>
      </p:sp>
      <p:sp>
        <p:nvSpPr>
          <p:cNvPr id="85" name="Text 5"/>
          <p:cNvSpPr/>
          <p:nvPr/>
        </p:nvSpPr>
        <p:spPr>
          <a:xfrm>
            <a:off x="4160520" y="3429000"/>
            <a:ext cx="3382920" cy="2742840"/>
          </a:xfrm>
          <a:prstGeom prst="rect">
            <a:avLst/>
          </a:prstGeom>
          <a:noFill/>
          <a:ln w="0">
            <a:noFill/>
          </a:ln>
        </p:spPr>
        <p:style>
          <a:lnRef idx="0"/>
          <a:fillRef idx="0"/>
          <a:effectRef idx="0"/>
          <a:fontRef idx="minor"/>
        </p:style>
        <p:txBody>
          <a:bodyPr lIns="90000" rIns="90000" tIns="45000" bIns="45000" anchor="ctr">
            <a:noAutofit/>
          </a:bodyPr>
          <a:p>
            <a:pPr marL="177840" indent="-177840">
              <a:lnSpc>
                <a:spcPct val="100000"/>
              </a:lnSpc>
              <a:spcAft>
                <a:spcPts val="700"/>
              </a:spcAft>
              <a:buClr>
                <a:srgbClr val="1a1a1a"/>
              </a:buClr>
              <a:buFont typeface="Symbol" charset="2"/>
              <a:buChar char=""/>
            </a:pPr>
            <a:r>
              <a:rPr b="0" lang="en-US" sz="1350" spc="-1" strike="noStrike">
                <a:solidFill>
                  <a:srgbClr val="1a1a1a"/>
                </a:solidFill>
                <a:latin typeface="Arial"/>
                <a:ea typeface="Arial"/>
              </a:rPr>
              <a:t>Transferable skills applied across industries</a:t>
            </a:r>
            <a:endParaRPr b="0" lang="en-US" sz="1350" spc="-1" strike="noStrike">
              <a:latin typeface="Arial"/>
            </a:endParaRPr>
          </a:p>
          <a:p>
            <a:pPr marL="177840" indent="-177840">
              <a:lnSpc>
                <a:spcPct val="100000"/>
              </a:lnSpc>
              <a:spcAft>
                <a:spcPts val="700"/>
              </a:spcAft>
              <a:buClr>
                <a:srgbClr val="1a1a1a"/>
              </a:buClr>
              <a:buFont typeface="Symbol" charset="2"/>
              <a:buChar char=""/>
            </a:pPr>
            <a:r>
              <a:rPr b="0" lang="en-US" sz="1350" spc="-1" strike="noStrike">
                <a:solidFill>
                  <a:srgbClr val="1a1a1a"/>
                </a:solidFill>
                <a:latin typeface="Arial"/>
                <a:ea typeface="Arial"/>
              </a:rPr>
              <a:t>Project-based work tied directly to employers</a:t>
            </a:r>
            <a:endParaRPr b="0" lang="en-US" sz="1350" spc="-1" strike="noStrike">
              <a:latin typeface="Arial"/>
            </a:endParaRPr>
          </a:p>
          <a:p>
            <a:pPr marL="177840" indent="-177840">
              <a:lnSpc>
                <a:spcPct val="100000"/>
              </a:lnSpc>
              <a:spcAft>
                <a:spcPts val="700"/>
              </a:spcAft>
              <a:buClr>
                <a:srgbClr val="1a1a1a"/>
              </a:buClr>
              <a:buFont typeface="Symbol" charset="2"/>
              <a:buChar char=""/>
            </a:pPr>
            <a:r>
              <a:rPr b="0" lang="en-US" sz="1350" spc="-1" strike="noStrike">
                <a:solidFill>
                  <a:srgbClr val="1a1a1a"/>
                </a:solidFill>
                <a:latin typeface="Arial"/>
                <a:ea typeface="Arial"/>
              </a:rPr>
              <a:t>Soft skills built alongside technical skills</a:t>
            </a:r>
            <a:endParaRPr b="0" lang="en-US" sz="1350" spc="-1" strike="noStrike">
              <a:latin typeface="Arial"/>
            </a:endParaRPr>
          </a:p>
          <a:p>
            <a:pPr marL="177840" indent="-177840">
              <a:lnSpc>
                <a:spcPct val="100000"/>
              </a:lnSpc>
              <a:spcAft>
                <a:spcPts val="700"/>
              </a:spcAft>
              <a:buClr>
                <a:srgbClr val="1a1a1a"/>
              </a:buClr>
              <a:buFont typeface="Symbol" charset="2"/>
              <a:buChar char=""/>
            </a:pPr>
            <a:r>
              <a:rPr b="0" lang="en-US" sz="1350" spc="-1" strike="noStrike">
                <a:solidFill>
                  <a:srgbClr val="1a1a1a"/>
                </a:solidFill>
                <a:latin typeface="Arial"/>
                <a:ea typeface="Arial"/>
              </a:rPr>
              <a:t>Framed around Competency, Compatibility, and Commitment</a:t>
            </a:r>
            <a:endParaRPr b="0" lang="en-US" sz="1350" spc="-1" strike="noStrike">
              <a:latin typeface="Arial"/>
            </a:endParaRPr>
          </a:p>
        </p:txBody>
      </p:sp>
      <p:sp>
        <p:nvSpPr>
          <p:cNvPr id="86" name="Shape 6"/>
          <p:cNvSpPr/>
          <p:nvPr/>
        </p:nvSpPr>
        <p:spPr>
          <a:xfrm>
            <a:off x="7772400" y="3063240"/>
            <a:ext cx="3840120" cy="3108600"/>
          </a:xfrm>
          <a:prstGeom prst="rect">
            <a:avLst/>
          </a:prstGeom>
          <a:solidFill>
            <a:srgbClr val="f2f2f2"/>
          </a:solidFill>
          <a:ln w="9525">
            <a:solidFill>
              <a:srgbClr val="dddddd"/>
            </a:solidFill>
            <a:round/>
          </a:ln>
        </p:spPr>
        <p:style>
          <a:lnRef idx="0"/>
          <a:fillRef idx="0"/>
          <a:effectRef idx="0"/>
          <a:fontRef idx="minor"/>
        </p:style>
      </p:sp>
      <p:sp>
        <p:nvSpPr>
          <p:cNvPr id="87" name="Text 7"/>
          <p:cNvSpPr/>
          <p:nvPr/>
        </p:nvSpPr>
        <p:spPr>
          <a:xfrm>
            <a:off x="7772400" y="3063240"/>
            <a:ext cx="3840120" cy="310860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100" spc="-1" strike="noStrike">
                <a:solidFill>
                  <a:srgbClr val="888888"/>
                </a:solidFill>
                <a:latin typeface="Arial"/>
                <a:ea typeface="Arial"/>
              </a:rPr>
              <a:t>[Photo]</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8" name="Text 0"/>
          <p:cNvSpPr/>
          <p:nvPr/>
        </p:nvSpPr>
        <p:spPr>
          <a:xfrm>
            <a:off x="548640" y="548640"/>
            <a:ext cx="11063880" cy="822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3000" spc="-1" strike="noStrike">
                <a:solidFill>
                  <a:srgbClr val="1a1a1a"/>
                </a:solidFill>
                <a:latin typeface="Arial"/>
                <a:ea typeface="Arial"/>
              </a:rPr>
              <a:t>What Is the Program</a:t>
            </a:r>
            <a:endParaRPr b="0" lang="en-US" sz="3000" spc="-1" strike="noStrike">
              <a:latin typeface="Arial"/>
            </a:endParaRPr>
          </a:p>
        </p:txBody>
      </p:sp>
      <p:sp>
        <p:nvSpPr>
          <p:cNvPr id="89" name="Text 1"/>
          <p:cNvSpPr/>
          <p:nvPr/>
        </p:nvSpPr>
        <p:spPr>
          <a:xfrm>
            <a:off x="548640" y="1508760"/>
            <a:ext cx="6674760" cy="1005480"/>
          </a:xfrm>
          <a:prstGeom prst="rect">
            <a:avLst/>
          </a:prstGeom>
          <a:noFill/>
          <a:ln w="0">
            <a:noFill/>
          </a:ln>
        </p:spPr>
        <p:style>
          <a:lnRef idx="0"/>
          <a:fillRef idx="0"/>
          <a:effectRef idx="0"/>
          <a:fontRef idx="minor"/>
        </p:style>
        <p:txBody>
          <a:bodyPr lIns="90000" rIns="90000" tIns="45000" bIns="45000" anchor="ctr">
            <a:noAutofit/>
          </a:bodyPr>
          <a:p>
            <a:pPr>
              <a:lnSpc>
                <a:spcPct val="115000"/>
              </a:lnSpc>
              <a:buNone/>
              <a:tabLst>
                <a:tab algn="l" pos="0"/>
              </a:tabLst>
            </a:pPr>
            <a:r>
              <a:rPr b="0" lang="en-US" sz="1400" spc="-1" strike="noStrike">
                <a:solidFill>
                  <a:srgbClr val="1a1a1a"/>
                </a:solidFill>
                <a:latin typeface="Arial"/>
                <a:ea typeface="Arial"/>
              </a:rPr>
              <a:t>A 15-week program where undergraduate teams turn a real idea into a working product. Grounded in project-based, experiential learning, students pair IoT and AI technologies with the business skills needed to bring that product to market.</a:t>
            </a:r>
            <a:endParaRPr b="0" lang="en-US" sz="1400" spc="-1" strike="noStrike">
              <a:latin typeface="Arial"/>
            </a:endParaRPr>
          </a:p>
        </p:txBody>
      </p:sp>
      <p:sp>
        <p:nvSpPr>
          <p:cNvPr id="90" name="Text 2"/>
          <p:cNvSpPr/>
          <p:nvPr/>
        </p:nvSpPr>
        <p:spPr>
          <a:xfrm>
            <a:off x="548640" y="2651760"/>
            <a:ext cx="6674760" cy="29232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300" spc="97" strike="noStrike">
                <a:solidFill>
                  <a:srgbClr val="555555"/>
                </a:solidFill>
                <a:latin typeface="Arial"/>
                <a:ea typeface="Arial"/>
              </a:rPr>
              <a:t>Dates and Times</a:t>
            </a:r>
            <a:endParaRPr b="0" lang="en-US" sz="1300" spc="-1" strike="noStrike">
              <a:latin typeface="Arial"/>
            </a:endParaRPr>
          </a:p>
        </p:txBody>
      </p:sp>
      <p:sp>
        <p:nvSpPr>
          <p:cNvPr id="91" name="Text 3"/>
          <p:cNvSpPr/>
          <p:nvPr/>
        </p:nvSpPr>
        <p:spPr>
          <a:xfrm>
            <a:off x="548640" y="2980800"/>
            <a:ext cx="6674760" cy="1279800"/>
          </a:xfrm>
          <a:prstGeom prst="rect">
            <a:avLst/>
          </a:prstGeom>
          <a:noFill/>
          <a:ln w="0">
            <a:noFill/>
          </a:ln>
        </p:spPr>
        <p:style>
          <a:lnRef idx="0"/>
          <a:fillRef idx="0"/>
          <a:effectRef idx="0"/>
          <a:fontRef idx="minor"/>
        </p:style>
        <p:txBody>
          <a:bodyPr lIns="90000" rIns="90000" tIns="45000" bIns="45000" anchor="t">
            <a:noAutofit/>
          </a:bodyPr>
          <a:p>
            <a:pPr marL="203040" indent="-203040">
              <a:lnSpc>
                <a:spcPct val="100000"/>
              </a:lnSpc>
              <a:spcAft>
                <a:spcPts val="799"/>
              </a:spcAft>
              <a:buClr>
                <a:srgbClr val="1a1a1a"/>
              </a:buClr>
              <a:buFont typeface="Symbol" charset="2"/>
              <a:buChar char=""/>
            </a:pPr>
            <a:r>
              <a:rPr b="0" lang="en-US" sz="1400" spc="-1" strike="noStrike">
                <a:solidFill>
                  <a:srgbClr val="1a1a1a"/>
                </a:solidFill>
                <a:latin typeface="Arial"/>
                <a:ea typeface="Arial"/>
              </a:rPr>
              <a:t>Program Date: January 2027 - April 2027</a:t>
            </a:r>
            <a:endParaRPr b="0" lang="en-US" sz="1400" spc="-1" strike="noStrike">
              <a:latin typeface="Arial"/>
            </a:endParaRPr>
          </a:p>
          <a:p>
            <a:pPr marL="203040" indent="-203040">
              <a:lnSpc>
                <a:spcPct val="100000"/>
              </a:lnSpc>
              <a:spcAft>
                <a:spcPts val="799"/>
              </a:spcAft>
              <a:buClr>
                <a:srgbClr val="1a1a1a"/>
              </a:buClr>
              <a:buFont typeface="Symbol" charset="2"/>
              <a:buChar char=""/>
            </a:pPr>
            <a:r>
              <a:rPr b="0" lang="en-US" sz="1400" spc="-1" strike="noStrike">
                <a:solidFill>
                  <a:srgbClr val="1a1a1a"/>
                </a:solidFill>
                <a:latin typeface="Arial"/>
                <a:ea typeface="Arial"/>
              </a:rPr>
              <a:t>Schedule: Tuesday and Thursday, 5:00 - 8:00 PM</a:t>
            </a:r>
            <a:endParaRPr b="0" lang="en-US" sz="1400" spc="-1" strike="noStrike">
              <a:latin typeface="Arial"/>
            </a:endParaRPr>
          </a:p>
        </p:txBody>
      </p:sp>
      <p:sp>
        <p:nvSpPr>
          <p:cNvPr id="92" name="Text 4"/>
          <p:cNvSpPr/>
          <p:nvPr/>
        </p:nvSpPr>
        <p:spPr>
          <a:xfrm>
            <a:off x="548640" y="3877200"/>
            <a:ext cx="6674760" cy="29232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300" spc="97" strike="noStrike">
                <a:solidFill>
                  <a:srgbClr val="555555"/>
                </a:solidFill>
                <a:latin typeface="Arial"/>
                <a:ea typeface="Arial"/>
              </a:rPr>
              <a:t>Cohort Profile</a:t>
            </a:r>
            <a:endParaRPr b="0" lang="en-US" sz="1300" spc="-1" strike="noStrike">
              <a:latin typeface="Arial"/>
            </a:endParaRPr>
          </a:p>
        </p:txBody>
      </p:sp>
      <p:sp>
        <p:nvSpPr>
          <p:cNvPr id="93" name="Text 5"/>
          <p:cNvSpPr/>
          <p:nvPr/>
        </p:nvSpPr>
        <p:spPr>
          <a:xfrm>
            <a:off x="548640" y="4206240"/>
            <a:ext cx="6674760" cy="1279800"/>
          </a:xfrm>
          <a:prstGeom prst="rect">
            <a:avLst/>
          </a:prstGeom>
          <a:noFill/>
          <a:ln w="0">
            <a:noFill/>
          </a:ln>
        </p:spPr>
        <p:style>
          <a:lnRef idx="0"/>
          <a:fillRef idx="0"/>
          <a:effectRef idx="0"/>
          <a:fontRef idx="minor"/>
        </p:style>
        <p:txBody>
          <a:bodyPr lIns="90000" rIns="90000" tIns="45000" bIns="45000" anchor="t">
            <a:noAutofit/>
          </a:bodyPr>
          <a:p>
            <a:pPr marL="203040" indent="-203040">
              <a:lnSpc>
                <a:spcPct val="100000"/>
              </a:lnSpc>
              <a:spcAft>
                <a:spcPts val="799"/>
              </a:spcAft>
              <a:buClr>
                <a:srgbClr val="1a1a1a"/>
              </a:buClr>
              <a:buFont typeface="Symbol" charset="2"/>
              <a:buChar char=""/>
            </a:pPr>
            <a:r>
              <a:rPr b="0" lang="en-US" sz="1400" spc="-1" strike="noStrike">
                <a:solidFill>
                  <a:srgbClr val="1a1a1a"/>
                </a:solidFill>
                <a:latin typeface="Arial"/>
                <a:ea typeface="Arial"/>
              </a:rPr>
              <a:t>Total Students: 60</a:t>
            </a:r>
            <a:endParaRPr b="0" lang="en-US" sz="1400" spc="-1" strike="noStrike">
              <a:latin typeface="Arial"/>
            </a:endParaRPr>
          </a:p>
          <a:p>
            <a:pPr marL="203040" indent="-203040">
              <a:lnSpc>
                <a:spcPct val="100000"/>
              </a:lnSpc>
              <a:spcAft>
                <a:spcPts val="799"/>
              </a:spcAft>
              <a:buClr>
                <a:srgbClr val="1a1a1a"/>
              </a:buClr>
              <a:buFont typeface="Symbol" charset="2"/>
              <a:buChar char=""/>
            </a:pPr>
            <a:r>
              <a:rPr b="0" lang="en-US" sz="1400" spc="-1" strike="noStrike">
                <a:solidFill>
                  <a:srgbClr val="1a1a1a"/>
                </a:solidFill>
                <a:latin typeface="Arial"/>
                <a:ea typeface="Arial"/>
              </a:rPr>
              <a:t>Schools: Engineering &amp; Technology, Business, and Agriculture</a:t>
            </a:r>
            <a:endParaRPr b="0" lang="en-US" sz="1400" spc="-1" strike="noStrike">
              <a:latin typeface="Arial"/>
            </a:endParaRPr>
          </a:p>
          <a:p>
            <a:pPr marL="203040" indent="-203040">
              <a:lnSpc>
                <a:spcPct val="100000"/>
              </a:lnSpc>
              <a:spcAft>
                <a:spcPts val="799"/>
              </a:spcAft>
              <a:buClr>
                <a:srgbClr val="1a1a1a"/>
              </a:buClr>
              <a:buFont typeface="Symbol" charset="2"/>
              <a:buChar char=""/>
            </a:pPr>
            <a:r>
              <a:rPr b="0" lang="en-US" sz="1400" spc="-1" strike="noStrike">
                <a:solidFill>
                  <a:srgbClr val="1a1a1a"/>
                </a:solidFill>
                <a:latin typeface="Arial"/>
                <a:ea typeface="Arial"/>
              </a:rPr>
              <a:t>Class: Open to all (prioritize freshman and sophomore)</a:t>
            </a:r>
            <a:endParaRPr b="0" lang="en-US" sz="1400" spc="-1" strike="noStrike">
              <a:latin typeface="Arial"/>
            </a:endParaRPr>
          </a:p>
        </p:txBody>
      </p:sp>
      <p:sp>
        <p:nvSpPr>
          <p:cNvPr id="94" name="Shape 6"/>
          <p:cNvSpPr/>
          <p:nvPr/>
        </p:nvSpPr>
        <p:spPr>
          <a:xfrm>
            <a:off x="7680960" y="1737360"/>
            <a:ext cx="3931560" cy="4297320"/>
          </a:xfrm>
          <a:prstGeom prst="rect">
            <a:avLst/>
          </a:prstGeom>
          <a:solidFill>
            <a:srgbClr val="f2f2f2"/>
          </a:solidFill>
          <a:ln w="9525">
            <a:solidFill>
              <a:srgbClr val="dddddd"/>
            </a:solidFill>
            <a:round/>
          </a:ln>
        </p:spPr>
        <p:style>
          <a:lnRef idx="0"/>
          <a:fillRef idx="0"/>
          <a:effectRef idx="0"/>
          <a:fontRef idx="minor"/>
        </p:style>
      </p:sp>
      <p:sp>
        <p:nvSpPr>
          <p:cNvPr id="95" name="Text 7"/>
          <p:cNvSpPr/>
          <p:nvPr/>
        </p:nvSpPr>
        <p:spPr>
          <a:xfrm>
            <a:off x="7680960" y="1737360"/>
            <a:ext cx="3931560" cy="429732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100" spc="-1" strike="noStrike">
                <a:solidFill>
                  <a:srgbClr val="888888"/>
                </a:solidFill>
                <a:latin typeface="Arial"/>
                <a:ea typeface="Arial"/>
              </a:rPr>
              <a:t>[Photo: students programming</a:t>
            </a:r>
            <a:endParaRPr b="0" lang="en-US" sz="1100" spc="-1" strike="noStrike">
              <a:latin typeface="Arial"/>
            </a:endParaRPr>
          </a:p>
          <a:p>
            <a:pPr algn="ctr">
              <a:lnSpc>
                <a:spcPct val="100000"/>
              </a:lnSpc>
              <a:buNone/>
              <a:tabLst>
                <a:tab algn="l" pos="0"/>
              </a:tabLst>
            </a:pPr>
            <a:r>
              <a:rPr b="0" lang="en-US" sz="1100" spc="-1" strike="noStrike">
                <a:solidFill>
                  <a:srgbClr val="888888"/>
                </a:solidFill>
                <a:latin typeface="Arial"/>
                <a:ea typeface="Arial"/>
              </a:rPr>
              <a:t>a Raspberry Pi]</a:t>
            </a:r>
            <a:endParaRPr b="0" lang="en-US" sz="1100" spc="-1" strike="noStrike">
              <a:latin typeface="Arial"/>
            </a:endParaRPr>
          </a:p>
        </p:txBody>
      </p:sp>
      <p:sp>
        <p:nvSpPr>
          <p:cNvPr id="96" name="Text 8"/>
          <p:cNvSpPr/>
          <p:nvPr/>
        </p:nvSpPr>
        <p:spPr>
          <a:xfrm>
            <a:off x="548640" y="5257800"/>
            <a:ext cx="6674760" cy="456840"/>
          </a:xfrm>
          <a:prstGeom prst="rect">
            <a:avLst/>
          </a:prstGeom>
          <a:noFill/>
          <a:ln w="0">
            <a:noFill/>
          </a:ln>
        </p:spPr>
        <p:style>
          <a:lnRef idx="0"/>
          <a:fillRef idx="0"/>
          <a:effectRef idx="0"/>
          <a:fontRef idx="minor"/>
        </p:style>
        <p:txBody>
          <a:bodyPr lIns="90000" rIns="90000" tIns="45000" bIns="45000" anchor="ctr">
            <a:noAutofit/>
          </a:bodyPr>
          <a:p>
            <a:pPr>
              <a:lnSpc>
                <a:spcPct val="110000"/>
              </a:lnSpc>
              <a:buNone/>
              <a:tabLst>
                <a:tab algn="l" pos="0"/>
              </a:tabLst>
            </a:pPr>
            <a:r>
              <a:rPr b="0" i="1" lang="en-US" sz="1100" spc="-1" strike="noStrike">
                <a:solidFill>
                  <a:srgbClr val="888888"/>
                </a:solidFill>
                <a:latin typeface="Arial"/>
                <a:ea typeface="Arial"/>
              </a:rPr>
              <a:t>Dates, times, and cohort profile are tentative, pending alignment with Virginia State University.</a:t>
            </a:r>
            <a:endParaRPr b="0" lang="en-US" sz="1100" spc="-1" strike="noStrike">
              <a:latin typeface="Arial"/>
            </a:endParaRPr>
          </a:p>
        </p:txBody>
      </p:sp>
      <p:sp>
        <p:nvSpPr>
          <p:cNvPr id="97" name="Text 9"/>
          <p:cNvSpPr/>
          <p:nvPr/>
        </p:nvSpPr>
        <p:spPr>
          <a:xfrm>
            <a:off x="548640" y="6263640"/>
            <a:ext cx="11063880" cy="456840"/>
          </a:xfrm>
          <a:prstGeom prst="rect">
            <a:avLst/>
          </a:prstGeom>
          <a:noFill/>
          <a:ln w="0">
            <a:noFill/>
          </a:ln>
        </p:spPr>
        <p:style>
          <a:lnRef idx="0"/>
          <a:fillRef idx="0"/>
          <a:effectRef idx="0"/>
          <a:fontRef idx="minor"/>
        </p:style>
        <p:txBody>
          <a:bodyPr lIns="90000" rIns="90000" tIns="45000" bIns="45000" anchor="ctr">
            <a:noAutofit/>
          </a:bodyPr>
          <a:p>
            <a:pPr>
              <a:lnSpc>
                <a:spcPct val="110000"/>
              </a:lnSpc>
              <a:buNone/>
              <a:tabLst>
                <a:tab algn="l" pos="0"/>
              </a:tabLst>
            </a:pPr>
            <a:r>
              <a:rPr b="0" i="1" lang="en-US" sz="1100" spc="-1" strike="noStrike">
                <a:solidFill>
                  <a:srgbClr val="888888"/>
                </a:solidFill>
                <a:latin typeface="Arial"/>
                <a:ea typeface="Arial"/>
              </a:rPr>
              <a:t>Based at Virginia State University in Ettrick, where the Richmond metro area meets the Tri-Cities at the I-95 / I-85 junction, anchoring a footprint across Central and Southside Virginia.</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8" name="Text 0"/>
          <p:cNvSpPr/>
          <p:nvPr/>
        </p:nvSpPr>
        <p:spPr>
          <a:xfrm>
            <a:off x="548640" y="548640"/>
            <a:ext cx="11063880" cy="822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3000" spc="-1" strike="noStrike">
                <a:solidFill>
                  <a:srgbClr val="1a1a1a"/>
                </a:solidFill>
                <a:latin typeface="Arial"/>
                <a:ea typeface="Arial"/>
              </a:rPr>
              <a:t>Inside the Program</a:t>
            </a:r>
            <a:endParaRPr b="0" lang="en-US" sz="3000" spc="-1" strike="noStrike">
              <a:latin typeface="Arial"/>
            </a:endParaRPr>
          </a:p>
        </p:txBody>
      </p:sp>
      <p:sp>
        <p:nvSpPr>
          <p:cNvPr id="99" name="Text 1"/>
          <p:cNvSpPr/>
          <p:nvPr/>
        </p:nvSpPr>
        <p:spPr>
          <a:xfrm>
            <a:off x="548640" y="1463040"/>
            <a:ext cx="11063880" cy="456840"/>
          </a:xfrm>
          <a:prstGeom prst="rect">
            <a:avLst/>
          </a:prstGeom>
          <a:noFill/>
          <a:ln w="0">
            <a:noFill/>
          </a:ln>
        </p:spPr>
        <p:style>
          <a:lnRef idx="0"/>
          <a:fillRef idx="0"/>
          <a:effectRef idx="0"/>
          <a:fontRef idx="minor"/>
        </p:style>
        <p:txBody>
          <a:bodyPr lIns="90000" rIns="90000" tIns="45000" bIns="45000" anchor="ctr">
            <a:noAutofit/>
          </a:bodyPr>
          <a:p>
            <a:pPr>
              <a:lnSpc>
                <a:spcPct val="115000"/>
              </a:lnSpc>
              <a:buNone/>
              <a:tabLst>
                <a:tab algn="l" pos="0"/>
              </a:tabLst>
            </a:pPr>
            <a:r>
              <a:rPr b="0" lang="en-US" sz="1400" spc="-1" strike="noStrike">
                <a:solidFill>
                  <a:srgbClr val="1a1a1a"/>
                </a:solidFill>
                <a:latin typeface="Arial"/>
                <a:ea typeface="Arial"/>
              </a:rPr>
              <a:t>Students move through a full build cycle, from finding a real problem to launching a working product and presenting it.</a:t>
            </a:r>
            <a:endParaRPr b="0" lang="en-US" sz="1400" spc="-1" strike="noStrike">
              <a:latin typeface="Arial"/>
            </a:endParaRPr>
          </a:p>
        </p:txBody>
      </p:sp>
      <p:sp>
        <p:nvSpPr>
          <p:cNvPr id="100" name="Text 2"/>
          <p:cNvSpPr/>
          <p:nvPr/>
        </p:nvSpPr>
        <p:spPr>
          <a:xfrm>
            <a:off x="548640" y="2148840"/>
            <a:ext cx="3520080" cy="2739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200" spc="97" strike="noStrike">
                <a:solidFill>
                  <a:srgbClr val="1a1a1a"/>
                </a:solidFill>
                <a:latin typeface="Arial"/>
                <a:ea typeface="Arial"/>
              </a:rPr>
              <a:t>ACTIVITIES</a:t>
            </a:r>
            <a:endParaRPr b="0" lang="en-US" sz="1200" spc="-1" strike="noStrike">
              <a:latin typeface="Arial"/>
            </a:endParaRPr>
          </a:p>
        </p:txBody>
      </p:sp>
      <p:sp>
        <p:nvSpPr>
          <p:cNvPr id="101" name="Text 3"/>
          <p:cNvSpPr/>
          <p:nvPr/>
        </p:nvSpPr>
        <p:spPr>
          <a:xfrm>
            <a:off x="548640" y="2404800"/>
            <a:ext cx="3520080" cy="255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i="1" lang="en-US" sz="1050" spc="-1" strike="noStrike">
                <a:solidFill>
                  <a:srgbClr val="888888"/>
                </a:solidFill>
                <a:latin typeface="Arial"/>
                <a:ea typeface="Arial"/>
              </a:rPr>
              <a:t>What students do</a:t>
            </a:r>
            <a:endParaRPr b="0" lang="en-US" sz="1050" spc="-1" strike="noStrike">
              <a:latin typeface="Arial"/>
            </a:endParaRPr>
          </a:p>
        </p:txBody>
      </p:sp>
      <p:sp>
        <p:nvSpPr>
          <p:cNvPr id="102" name="Text 4"/>
          <p:cNvSpPr/>
          <p:nvPr/>
        </p:nvSpPr>
        <p:spPr>
          <a:xfrm>
            <a:off x="548640" y="2770560"/>
            <a:ext cx="3520080" cy="237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050" spc="-1" strike="noStrike">
                <a:solidFill>
                  <a:srgbClr val="555555"/>
                </a:solidFill>
                <a:latin typeface="Arial"/>
                <a:ea typeface="Arial"/>
              </a:rPr>
              <a:t>Technical</a:t>
            </a:r>
            <a:endParaRPr b="0" lang="en-US" sz="1050" spc="-1" strike="noStrike">
              <a:latin typeface="Arial"/>
            </a:endParaRPr>
          </a:p>
        </p:txBody>
      </p:sp>
      <p:sp>
        <p:nvSpPr>
          <p:cNvPr id="103" name="Text 5"/>
          <p:cNvSpPr/>
          <p:nvPr/>
        </p:nvSpPr>
        <p:spPr>
          <a:xfrm>
            <a:off x="548640" y="3008520"/>
            <a:ext cx="3520080" cy="3565800"/>
          </a:xfrm>
          <a:prstGeom prst="rect">
            <a:avLst/>
          </a:prstGeom>
          <a:noFill/>
          <a:ln w="0">
            <a:noFill/>
          </a:ln>
        </p:spPr>
        <p:style>
          <a:lnRef idx="0"/>
          <a:fillRef idx="0"/>
          <a:effectRef idx="0"/>
          <a:fontRef idx="minor"/>
        </p:style>
        <p:txBody>
          <a:bodyPr lIns="90000" rIns="90000" tIns="45000" bIns="45000" anchor="t">
            <a:noAutofit/>
          </a:bodyPr>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Breadboard a microcontroller and wire sensors</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Prompt AI tools to generate firmware and software</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Build and deploy a web app with MCP servers and APIs</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Run live user tests and a public launch</a:t>
            </a:r>
            <a:endParaRPr b="0" lang="en-US" sz="1100" spc="-1" strike="noStrike">
              <a:latin typeface="Arial"/>
            </a:endParaRPr>
          </a:p>
        </p:txBody>
      </p:sp>
      <p:sp>
        <p:nvSpPr>
          <p:cNvPr id="104" name="Text 6"/>
          <p:cNvSpPr/>
          <p:nvPr/>
        </p:nvSpPr>
        <p:spPr>
          <a:xfrm>
            <a:off x="548640" y="4507920"/>
            <a:ext cx="3520080" cy="237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050" spc="-1" strike="noStrike">
                <a:solidFill>
                  <a:srgbClr val="555555"/>
                </a:solidFill>
                <a:latin typeface="Arial"/>
                <a:ea typeface="Arial"/>
              </a:rPr>
              <a:t>Business</a:t>
            </a:r>
            <a:endParaRPr b="0" lang="en-US" sz="1050" spc="-1" strike="noStrike">
              <a:latin typeface="Arial"/>
            </a:endParaRPr>
          </a:p>
        </p:txBody>
      </p:sp>
      <p:sp>
        <p:nvSpPr>
          <p:cNvPr id="105" name="Text 7"/>
          <p:cNvSpPr/>
          <p:nvPr/>
        </p:nvSpPr>
        <p:spPr>
          <a:xfrm>
            <a:off x="548640" y="4745880"/>
            <a:ext cx="3520080" cy="3565800"/>
          </a:xfrm>
          <a:prstGeom prst="rect">
            <a:avLst/>
          </a:prstGeom>
          <a:noFill/>
          <a:ln w="0">
            <a:noFill/>
          </a:ln>
        </p:spPr>
        <p:style>
          <a:lnRef idx="0"/>
          <a:fillRef idx="0"/>
          <a:effectRef idx="0"/>
          <a:fontRef idx="minor"/>
        </p:style>
        <p:txBody>
          <a:bodyPr lIns="90000" rIns="90000" tIns="45000" bIns="45000" anchor="t">
            <a:noAutofit/>
          </a:bodyPr>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Interview users and define a real regional problem</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Pitch and present to a live audience</a:t>
            </a:r>
            <a:endParaRPr b="0" lang="en-US" sz="1100" spc="-1" strike="noStrike">
              <a:latin typeface="Arial"/>
            </a:endParaRPr>
          </a:p>
        </p:txBody>
      </p:sp>
      <p:sp>
        <p:nvSpPr>
          <p:cNvPr id="106" name="Text 8"/>
          <p:cNvSpPr/>
          <p:nvPr/>
        </p:nvSpPr>
        <p:spPr>
          <a:xfrm>
            <a:off x="4325040" y="2148840"/>
            <a:ext cx="3520080" cy="2739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200" spc="97" strike="noStrike">
                <a:solidFill>
                  <a:srgbClr val="1a1a1a"/>
                </a:solidFill>
                <a:latin typeface="Arial"/>
                <a:ea typeface="Arial"/>
              </a:rPr>
              <a:t>SKILLS</a:t>
            </a:r>
            <a:endParaRPr b="0" lang="en-US" sz="1200" spc="-1" strike="noStrike">
              <a:latin typeface="Arial"/>
            </a:endParaRPr>
          </a:p>
        </p:txBody>
      </p:sp>
      <p:sp>
        <p:nvSpPr>
          <p:cNvPr id="107" name="Text 9"/>
          <p:cNvSpPr/>
          <p:nvPr/>
        </p:nvSpPr>
        <p:spPr>
          <a:xfrm>
            <a:off x="4325040" y="2404800"/>
            <a:ext cx="3520080" cy="255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i="1" lang="en-US" sz="1050" spc="-1" strike="noStrike">
                <a:solidFill>
                  <a:srgbClr val="888888"/>
                </a:solidFill>
                <a:latin typeface="Arial"/>
                <a:ea typeface="Arial"/>
              </a:rPr>
              <a:t>What students learn</a:t>
            </a:r>
            <a:endParaRPr b="0" lang="en-US" sz="1050" spc="-1" strike="noStrike">
              <a:latin typeface="Arial"/>
            </a:endParaRPr>
          </a:p>
        </p:txBody>
      </p:sp>
      <p:sp>
        <p:nvSpPr>
          <p:cNvPr id="108" name="Text 10"/>
          <p:cNvSpPr/>
          <p:nvPr/>
        </p:nvSpPr>
        <p:spPr>
          <a:xfrm>
            <a:off x="4325040" y="2770560"/>
            <a:ext cx="3520080" cy="237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050" spc="-1" strike="noStrike">
                <a:solidFill>
                  <a:srgbClr val="555555"/>
                </a:solidFill>
                <a:latin typeface="Arial"/>
                <a:ea typeface="Arial"/>
              </a:rPr>
              <a:t>Technical</a:t>
            </a:r>
            <a:endParaRPr b="0" lang="en-US" sz="1050" spc="-1" strike="noStrike">
              <a:latin typeface="Arial"/>
            </a:endParaRPr>
          </a:p>
        </p:txBody>
      </p:sp>
      <p:sp>
        <p:nvSpPr>
          <p:cNvPr id="109" name="Text 11"/>
          <p:cNvSpPr/>
          <p:nvPr/>
        </p:nvSpPr>
        <p:spPr>
          <a:xfrm>
            <a:off x="4325040" y="3008520"/>
            <a:ext cx="3520080" cy="3565800"/>
          </a:xfrm>
          <a:prstGeom prst="rect">
            <a:avLst/>
          </a:prstGeom>
          <a:noFill/>
          <a:ln w="0">
            <a:noFill/>
          </a:ln>
        </p:spPr>
        <p:style>
          <a:lnRef idx="0"/>
          <a:fillRef idx="0"/>
          <a:effectRef idx="0"/>
          <a:fontRef idx="minor"/>
        </p:style>
        <p:txBody>
          <a:bodyPr lIns="90000" rIns="90000" tIns="45000" bIns="45000" anchor="t">
            <a:noAutofit/>
          </a:bodyPr>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Systems thinking</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Hardware, firmware, and software fundamentals</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AI-assisted software development</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System integration with MCP servers and APIs</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Data analysis and data storytelling</a:t>
            </a:r>
            <a:endParaRPr b="0" lang="en-US" sz="1100" spc="-1" strike="noStrike">
              <a:latin typeface="Arial"/>
            </a:endParaRPr>
          </a:p>
        </p:txBody>
      </p:sp>
      <p:sp>
        <p:nvSpPr>
          <p:cNvPr id="110" name="Text 12"/>
          <p:cNvSpPr/>
          <p:nvPr/>
        </p:nvSpPr>
        <p:spPr>
          <a:xfrm>
            <a:off x="4325040" y="4873680"/>
            <a:ext cx="3520080" cy="237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050" spc="-1" strike="noStrike">
                <a:solidFill>
                  <a:srgbClr val="555555"/>
                </a:solidFill>
                <a:latin typeface="Arial"/>
                <a:ea typeface="Arial"/>
              </a:rPr>
              <a:t>Business</a:t>
            </a:r>
            <a:endParaRPr b="0" lang="en-US" sz="1050" spc="-1" strike="noStrike">
              <a:latin typeface="Arial"/>
            </a:endParaRPr>
          </a:p>
        </p:txBody>
      </p:sp>
      <p:sp>
        <p:nvSpPr>
          <p:cNvPr id="111" name="Text 13"/>
          <p:cNvSpPr/>
          <p:nvPr/>
        </p:nvSpPr>
        <p:spPr>
          <a:xfrm>
            <a:off x="4325040" y="5111640"/>
            <a:ext cx="3520080" cy="3565800"/>
          </a:xfrm>
          <a:prstGeom prst="rect">
            <a:avLst/>
          </a:prstGeom>
          <a:noFill/>
          <a:ln w="0">
            <a:noFill/>
          </a:ln>
        </p:spPr>
        <p:style>
          <a:lnRef idx="0"/>
          <a:fillRef idx="0"/>
          <a:effectRef idx="0"/>
          <a:fontRef idx="minor"/>
        </p:style>
        <p:txBody>
          <a:bodyPr lIns="90000" rIns="90000" tIns="45000" bIns="45000" anchor="t">
            <a:noAutofit/>
          </a:bodyPr>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Design thinking and problem definition</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Project management and delivery</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Cross-functional collaboration across engineering and business</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Business development and pitching</a:t>
            </a:r>
            <a:endParaRPr b="0" lang="en-US" sz="1100" spc="-1" strike="noStrike">
              <a:latin typeface="Arial"/>
            </a:endParaRPr>
          </a:p>
        </p:txBody>
      </p:sp>
      <p:sp>
        <p:nvSpPr>
          <p:cNvPr id="112" name="Text 14"/>
          <p:cNvSpPr/>
          <p:nvPr/>
        </p:nvSpPr>
        <p:spPr>
          <a:xfrm>
            <a:off x="8101440" y="2148840"/>
            <a:ext cx="3520080" cy="2739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200" spc="97" strike="noStrike">
                <a:solidFill>
                  <a:srgbClr val="1a1a1a"/>
                </a:solidFill>
                <a:latin typeface="Arial"/>
                <a:ea typeface="Arial"/>
              </a:rPr>
              <a:t>OUTCOMES</a:t>
            </a:r>
            <a:endParaRPr b="0" lang="en-US" sz="1200" spc="-1" strike="noStrike">
              <a:latin typeface="Arial"/>
            </a:endParaRPr>
          </a:p>
        </p:txBody>
      </p:sp>
      <p:sp>
        <p:nvSpPr>
          <p:cNvPr id="113" name="Text 15"/>
          <p:cNvSpPr/>
          <p:nvPr/>
        </p:nvSpPr>
        <p:spPr>
          <a:xfrm>
            <a:off x="8101440" y="2404800"/>
            <a:ext cx="3520080" cy="255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i="1" lang="en-US" sz="1050" spc="-1" strike="noStrike">
                <a:solidFill>
                  <a:srgbClr val="888888"/>
                </a:solidFill>
                <a:latin typeface="Arial"/>
                <a:ea typeface="Arial"/>
              </a:rPr>
              <a:t>What students walk away with</a:t>
            </a:r>
            <a:endParaRPr b="0" lang="en-US" sz="1050" spc="-1" strike="noStrike">
              <a:latin typeface="Arial"/>
            </a:endParaRPr>
          </a:p>
        </p:txBody>
      </p:sp>
      <p:sp>
        <p:nvSpPr>
          <p:cNvPr id="114" name="Text 16"/>
          <p:cNvSpPr/>
          <p:nvPr/>
        </p:nvSpPr>
        <p:spPr>
          <a:xfrm>
            <a:off x="8101440" y="2770560"/>
            <a:ext cx="3520080" cy="237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050" spc="-1" strike="noStrike">
                <a:solidFill>
                  <a:srgbClr val="555555"/>
                </a:solidFill>
                <a:latin typeface="Arial"/>
                <a:ea typeface="Arial"/>
              </a:rPr>
              <a:t>Tangible Assets</a:t>
            </a:r>
            <a:endParaRPr b="0" lang="en-US" sz="1050" spc="-1" strike="noStrike">
              <a:latin typeface="Arial"/>
            </a:endParaRPr>
          </a:p>
        </p:txBody>
      </p:sp>
      <p:sp>
        <p:nvSpPr>
          <p:cNvPr id="115" name="Text 17"/>
          <p:cNvSpPr/>
          <p:nvPr/>
        </p:nvSpPr>
        <p:spPr>
          <a:xfrm>
            <a:off x="8101440" y="3008520"/>
            <a:ext cx="3520080" cy="3565800"/>
          </a:xfrm>
          <a:prstGeom prst="rect">
            <a:avLst/>
          </a:prstGeom>
          <a:noFill/>
          <a:ln w="0">
            <a:noFill/>
          </a:ln>
        </p:spPr>
        <p:style>
          <a:lnRef idx="0"/>
          <a:fillRef idx="0"/>
          <a:effectRef idx="0"/>
          <a:fontRef idx="minor"/>
        </p:style>
        <p:txBody>
          <a:bodyPr lIns="90000" rIns="90000" tIns="45000" bIns="45000" anchor="t">
            <a:noAutofit/>
          </a:bodyPr>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A working IoT prototype (hardware)</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A working software application (digital)</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A business case</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A resume and portfolio</a:t>
            </a:r>
            <a:endParaRPr b="0" lang="en-US" sz="1100" spc="-1" strike="noStrike">
              <a:latin typeface="Arial"/>
            </a:endParaRPr>
          </a:p>
        </p:txBody>
      </p:sp>
      <p:sp>
        <p:nvSpPr>
          <p:cNvPr id="116" name="Text 18"/>
          <p:cNvSpPr/>
          <p:nvPr/>
        </p:nvSpPr>
        <p:spPr>
          <a:xfrm>
            <a:off x="8101440" y="4251960"/>
            <a:ext cx="3520080" cy="237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050" spc="-1" strike="noStrike">
                <a:solidFill>
                  <a:srgbClr val="555555"/>
                </a:solidFill>
                <a:latin typeface="Arial"/>
                <a:ea typeface="Arial"/>
              </a:rPr>
              <a:t>Literacies</a:t>
            </a:r>
            <a:endParaRPr b="0" lang="en-US" sz="1050" spc="-1" strike="noStrike">
              <a:latin typeface="Arial"/>
            </a:endParaRPr>
          </a:p>
        </p:txBody>
      </p:sp>
      <p:sp>
        <p:nvSpPr>
          <p:cNvPr id="117" name="Text 19"/>
          <p:cNvSpPr/>
          <p:nvPr/>
        </p:nvSpPr>
        <p:spPr>
          <a:xfrm>
            <a:off x="8101440" y="4489560"/>
            <a:ext cx="3520080" cy="3565800"/>
          </a:xfrm>
          <a:prstGeom prst="rect">
            <a:avLst/>
          </a:prstGeom>
          <a:noFill/>
          <a:ln w="0">
            <a:noFill/>
          </a:ln>
        </p:spPr>
        <p:style>
          <a:lnRef idx="0"/>
          <a:fillRef idx="0"/>
          <a:effectRef idx="0"/>
          <a:fontRef idx="minor"/>
        </p:style>
        <p:txBody>
          <a:bodyPr lIns="90000" rIns="90000" tIns="45000" bIns="45000" anchor="t">
            <a:noAutofit/>
          </a:bodyPr>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AI literacy</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Data literacy</a:t>
            </a:r>
            <a:endParaRPr b="0" lang="en-US" sz="1100" spc="-1" strike="noStrike">
              <a:latin typeface="Arial"/>
            </a:endParaRPr>
          </a:p>
        </p:txBody>
      </p:sp>
      <p:sp>
        <p:nvSpPr>
          <p:cNvPr id="118" name="Text 20"/>
          <p:cNvSpPr/>
          <p:nvPr/>
        </p:nvSpPr>
        <p:spPr>
          <a:xfrm>
            <a:off x="8101440" y="5148000"/>
            <a:ext cx="3520080" cy="237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050" spc="-1" strike="noStrike">
                <a:solidFill>
                  <a:srgbClr val="555555"/>
                </a:solidFill>
                <a:latin typeface="Arial"/>
                <a:ea typeface="Arial"/>
              </a:rPr>
              <a:t>Experience</a:t>
            </a:r>
            <a:endParaRPr b="0" lang="en-US" sz="1050" spc="-1" strike="noStrike">
              <a:latin typeface="Arial"/>
            </a:endParaRPr>
          </a:p>
        </p:txBody>
      </p:sp>
      <p:sp>
        <p:nvSpPr>
          <p:cNvPr id="119" name="Text 21"/>
          <p:cNvSpPr/>
          <p:nvPr/>
        </p:nvSpPr>
        <p:spPr>
          <a:xfrm>
            <a:off x="8101440" y="5385960"/>
            <a:ext cx="3520080" cy="3565800"/>
          </a:xfrm>
          <a:prstGeom prst="rect">
            <a:avLst/>
          </a:prstGeom>
          <a:noFill/>
          <a:ln w="0">
            <a:noFill/>
          </a:ln>
        </p:spPr>
        <p:style>
          <a:lnRef idx="0"/>
          <a:fillRef idx="0"/>
          <a:effectRef idx="0"/>
          <a:fontRef idx="minor"/>
        </p:style>
        <p:txBody>
          <a:bodyPr lIns="90000" rIns="90000" tIns="45000" bIns="45000" anchor="t">
            <a:noAutofit/>
          </a:bodyPr>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End-to-end product development</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Cross-functional team collaboration</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Stakeholder presentation and pitching</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0" name="Text 0"/>
          <p:cNvSpPr/>
          <p:nvPr/>
        </p:nvSpPr>
        <p:spPr>
          <a:xfrm>
            <a:off x="548640" y="548640"/>
            <a:ext cx="11063880" cy="822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3000" spc="-1" strike="noStrike">
                <a:solidFill>
                  <a:srgbClr val="1a1a1a"/>
                </a:solidFill>
                <a:latin typeface="Arial"/>
                <a:ea typeface="Arial"/>
              </a:rPr>
              <a:t>The Tri-Cities Career Showcase</a:t>
            </a:r>
            <a:endParaRPr b="0" lang="en-US" sz="3000" spc="-1" strike="noStrike">
              <a:latin typeface="Arial"/>
            </a:endParaRPr>
          </a:p>
        </p:txBody>
      </p:sp>
      <p:sp>
        <p:nvSpPr>
          <p:cNvPr id="121" name="Text 1"/>
          <p:cNvSpPr/>
          <p:nvPr/>
        </p:nvSpPr>
        <p:spPr>
          <a:xfrm>
            <a:off x="548640" y="1600200"/>
            <a:ext cx="6674760" cy="914040"/>
          </a:xfrm>
          <a:prstGeom prst="rect">
            <a:avLst/>
          </a:prstGeom>
          <a:noFill/>
          <a:ln w="0">
            <a:noFill/>
          </a:ln>
        </p:spPr>
        <p:style>
          <a:lnRef idx="0"/>
          <a:fillRef idx="0"/>
          <a:effectRef idx="0"/>
          <a:fontRef idx="minor"/>
        </p:style>
        <p:txBody>
          <a:bodyPr lIns="90000" rIns="90000" tIns="45000" bIns="45000" anchor="ctr">
            <a:noAutofit/>
          </a:bodyPr>
          <a:p>
            <a:pPr>
              <a:lnSpc>
                <a:spcPct val="120000"/>
              </a:lnSpc>
              <a:buNone/>
              <a:tabLst>
                <a:tab algn="l" pos="0"/>
              </a:tabLst>
            </a:pPr>
            <a:r>
              <a:rPr b="0" lang="en-US" sz="1400" spc="-1" strike="noStrike">
                <a:solidFill>
                  <a:srgbClr val="1a1a1a"/>
                </a:solidFill>
                <a:latin typeface="Arial"/>
                <a:ea typeface="Arial"/>
              </a:rPr>
              <a:t>The program's culminating event. Student teams present finished IoT and AI prototypes and business cases live, in front of employers, stakeholders, and the region.</a:t>
            </a:r>
            <a:endParaRPr b="0" lang="en-US" sz="1400" spc="-1" strike="noStrike">
              <a:latin typeface="Arial"/>
            </a:endParaRPr>
          </a:p>
        </p:txBody>
      </p:sp>
      <p:sp>
        <p:nvSpPr>
          <p:cNvPr id="122" name="Text 2"/>
          <p:cNvSpPr/>
          <p:nvPr/>
        </p:nvSpPr>
        <p:spPr>
          <a:xfrm>
            <a:off x="548640" y="2697480"/>
            <a:ext cx="6674760" cy="2739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250" spc="97" strike="noStrike">
                <a:solidFill>
                  <a:srgbClr val="555555"/>
                </a:solidFill>
                <a:latin typeface="Arial"/>
                <a:ea typeface="Arial"/>
              </a:rPr>
              <a:t>What Happens</a:t>
            </a:r>
            <a:endParaRPr b="0" lang="en-US" sz="1250" spc="-1" strike="noStrike">
              <a:latin typeface="Arial"/>
            </a:endParaRPr>
          </a:p>
        </p:txBody>
      </p:sp>
      <p:sp>
        <p:nvSpPr>
          <p:cNvPr id="123" name="Text 3"/>
          <p:cNvSpPr/>
          <p:nvPr/>
        </p:nvSpPr>
        <p:spPr>
          <a:xfrm>
            <a:off x="548640" y="3017520"/>
            <a:ext cx="6674760" cy="1462680"/>
          </a:xfrm>
          <a:prstGeom prst="rect">
            <a:avLst/>
          </a:prstGeom>
          <a:noFill/>
          <a:ln w="0">
            <a:noFill/>
          </a:ln>
        </p:spPr>
        <p:style>
          <a:lnRef idx="0"/>
          <a:fillRef idx="0"/>
          <a:effectRef idx="0"/>
          <a:fontRef idx="minor"/>
        </p:style>
        <p:txBody>
          <a:bodyPr lIns="90000" rIns="90000" tIns="45000" bIns="45000" anchor="t">
            <a:noAutofit/>
          </a:bodyPr>
          <a:p>
            <a:pPr marL="177840" indent="-177840">
              <a:lnSpc>
                <a:spcPct val="100000"/>
              </a:lnSpc>
              <a:spcAft>
                <a:spcPts val="499"/>
              </a:spcAft>
              <a:buClr>
                <a:srgbClr val="1a1a1a"/>
              </a:buClr>
              <a:buFont typeface="Symbol" charset="2"/>
              <a:buChar char=""/>
            </a:pPr>
            <a:r>
              <a:rPr b="0" lang="en-US" sz="1200" spc="-1" strike="noStrike">
                <a:solidFill>
                  <a:srgbClr val="1a1a1a"/>
                </a:solidFill>
                <a:latin typeface="Arial"/>
                <a:ea typeface="Arial"/>
              </a:rPr>
              <a:t>60 students across 15 teams pitch and demo working prototypes</a:t>
            </a:r>
            <a:endParaRPr b="0" lang="en-US" sz="1200" spc="-1" strike="noStrike">
              <a:latin typeface="Arial"/>
            </a:endParaRPr>
          </a:p>
          <a:p>
            <a:pPr marL="177840" indent="-177840">
              <a:lnSpc>
                <a:spcPct val="100000"/>
              </a:lnSpc>
              <a:spcAft>
                <a:spcPts val="499"/>
              </a:spcAft>
              <a:buClr>
                <a:srgbClr val="1a1a1a"/>
              </a:buClr>
              <a:buFont typeface="Symbol" charset="2"/>
              <a:buChar char=""/>
            </a:pPr>
            <a:r>
              <a:rPr b="0" lang="en-US" sz="1200" spc="-1" strike="noStrike">
                <a:solidFill>
                  <a:srgbClr val="1a1a1a"/>
                </a:solidFill>
                <a:latin typeface="Arial"/>
                <a:ea typeface="Arial"/>
              </a:rPr>
              <a:t>Teams present the business case behind each product</a:t>
            </a:r>
            <a:endParaRPr b="0" lang="en-US" sz="1200" spc="-1" strike="noStrike">
              <a:latin typeface="Arial"/>
            </a:endParaRPr>
          </a:p>
          <a:p>
            <a:pPr marL="177840" indent="-177840">
              <a:lnSpc>
                <a:spcPct val="100000"/>
              </a:lnSpc>
              <a:spcAft>
                <a:spcPts val="499"/>
              </a:spcAft>
              <a:buClr>
                <a:srgbClr val="1a1a1a"/>
              </a:buClr>
              <a:buFont typeface="Symbol" charset="2"/>
              <a:buChar char=""/>
            </a:pPr>
            <a:r>
              <a:rPr b="0" lang="en-US" sz="1200" spc="-1" strike="noStrike">
                <a:solidFill>
                  <a:srgbClr val="1a1a1a"/>
                </a:solidFill>
                <a:latin typeface="Arial"/>
                <a:ea typeface="Arial"/>
              </a:rPr>
              <a:t>Judges score presentations; recruiters meet students directly</a:t>
            </a:r>
            <a:endParaRPr b="0" lang="en-US" sz="1200" spc="-1" strike="noStrike">
              <a:latin typeface="Arial"/>
            </a:endParaRPr>
          </a:p>
          <a:p>
            <a:pPr marL="177840" indent="-177840">
              <a:lnSpc>
                <a:spcPct val="100000"/>
              </a:lnSpc>
              <a:spcAft>
                <a:spcPts val="499"/>
              </a:spcAft>
              <a:buClr>
                <a:srgbClr val="1a1a1a"/>
              </a:buClr>
              <a:buFont typeface="Symbol" charset="2"/>
              <a:buChar char=""/>
            </a:pPr>
            <a:r>
              <a:rPr b="0" lang="en-US" sz="1200" spc="-1" strike="noStrike">
                <a:solidFill>
                  <a:srgbClr val="1a1a1a"/>
                </a:solidFill>
                <a:latin typeface="Arial"/>
                <a:ea typeface="Arial"/>
              </a:rPr>
              <a:t>Students bring resumes and portfolios for direct conversations with recruiters</a:t>
            </a:r>
            <a:endParaRPr b="0" lang="en-US" sz="1200" spc="-1" strike="noStrike">
              <a:latin typeface="Arial"/>
            </a:endParaRPr>
          </a:p>
        </p:txBody>
      </p:sp>
      <p:sp>
        <p:nvSpPr>
          <p:cNvPr id="124" name="Text 4"/>
          <p:cNvSpPr/>
          <p:nvPr/>
        </p:nvSpPr>
        <p:spPr>
          <a:xfrm>
            <a:off x="548640" y="4617720"/>
            <a:ext cx="6674760" cy="2739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250" spc="97" strike="noStrike">
                <a:solidFill>
                  <a:srgbClr val="555555"/>
                </a:solidFill>
                <a:latin typeface="Arial"/>
                <a:ea typeface="Arial"/>
              </a:rPr>
              <a:t>Why It Matters to Employers</a:t>
            </a:r>
            <a:endParaRPr b="0" lang="en-US" sz="1250" spc="-1" strike="noStrike">
              <a:latin typeface="Arial"/>
            </a:endParaRPr>
          </a:p>
        </p:txBody>
      </p:sp>
      <p:sp>
        <p:nvSpPr>
          <p:cNvPr id="125" name="Text 5"/>
          <p:cNvSpPr/>
          <p:nvPr/>
        </p:nvSpPr>
        <p:spPr>
          <a:xfrm>
            <a:off x="548640" y="4937760"/>
            <a:ext cx="6674760" cy="1462680"/>
          </a:xfrm>
          <a:prstGeom prst="rect">
            <a:avLst/>
          </a:prstGeom>
          <a:noFill/>
          <a:ln w="0">
            <a:noFill/>
          </a:ln>
        </p:spPr>
        <p:style>
          <a:lnRef idx="0"/>
          <a:fillRef idx="0"/>
          <a:effectRef idx="0"/>
          <a:fontRef idx="minor"/>
        </p:style>
        <p:txBody>
          <a:bodyPr lIns="90000" rIns="90000" tIns="45000" bIns="45000" anchor="t">
            <a:noAutofit/>
          </a:bodyPr>
          <a:p>
            <a:pPr marL="177840" indent="-177840">
              <a:lnSpc>
                <a:spcPct val="100000"/>
              </a:lnSpc>
              <a:spcAft>
                <a:spcPts val="499"/>
              </a:spcAft>
              <a:buClr>
                <a:srgbClr val="1a1a1a"/>
              </a:buClr>
              <a:buFont typeface="Symbol" charset="2"/>
              <a:buChar char=""/>
            </a:pPr>
            <a:r>
              <a:rPr b="0" lang="en-US" sz="1200" spc="-1" strike="noStrike">
                <a:solidFill>
                  <a:srgbClr val="1a1a1a"/>
                </a:solidFill>
                <a:latin typeface="Arial"/>
                <a:ea typeface="Arial"/>
              </a:rPr>
              <a:t>Early, direct access to a talent pipeline before hiring season starts</a:t>
            </a:r>
            <a:endParaRPr b="0" lang="en-US" sz="1200" spc="-1" strike="noStrike">
              <a:latin typeface="Arial"/>
            </a:endParaRPr>
          </a:p>
          <a:p>
            <a:pPr marL="177840" indent="-177840">
              <a:lnSpc>
                <a:spcPct val="100000"/>
              </a:lnSpc>
              <a:spcAft>
                <a:spcPts val="499"/>
              </a:spcAft>
              <a:buClr>
                <a:srgbClr val="1a1a1a"/>
              </a:buClr>
              <a:buFont typeface="Symbol" charset="2"/>
              <a:buChar char=""/>
            </a:pPr>
            <a:r>
              <a:rPr b="0" lang="en-US" sz="1200" spc="-1" strike="noStrike">
                <a:solidFill>
                  <a:srgbClr val="1a1a1a"/>
                </a:solidFill>
                <a:latin typeface="Arial"/>
                <a:ea typeface="Arial"/>
              </a:rPr>
              <a:t>See how students think and solve, the same way you would in an interview</a:t>
            </a:r>
            <a:endParaRPr b="0" lang="en-US" sz="1200" spc="-1" strike="noStrike">
              <a:latin typeface="Arial"/>
            </a:endParaRPr>
          </a:p>
          <a:p>
            <a:pPr marL="177840" indent="-177840">
              <a:lnSpc>
                <a:spcPct val="100000"/>
              </a:lnSpc>
              <a:spcAft>
                <a:spcPts val="499"/>
              </a:spcAft>
              <a:buClr>
                <a:srgbClr val="1a1a1a"/>
              </a:buClr>
              <a:buFont typeface="Symbol" charset="2"/>
              <a:buChar char=""/>
            </a:pPr>
            <a:r>
              <a:rPr b="0" lang="en-US" sz="1200" spc="-1" strike="noStrike">
                <a:solidFill>
                  <a:srgbClr val="1a1a1a"/>
                </a:solidFill>
                <a:latin typeface="Arial"/>
                <a:ea typeface="Arial"/>
              </a:rPr>
              <a:t>Low commitment: no internship program required to get this visibility</a:t>
            </a:r>
            <a:endParaRPr b="0" lang="en-US" sz="1200" spc="-1" strike="noStrike">
              <a:latin typeface="Arial"/>
            </a:endParaRPr>
          </a:p>
          <a:p>
            <a:pPr marL="177840" indent="-177840">
              <a:lnSpc>
                <a:spcPct val="100000"/>
              </a:lnSpc>
              <a:spcAft>
                <a:spcPts val="499"/>
              </a:spcAft>
              <a:buClr>
                <a:srgbClr val="1a1a1a"/>
              </a:buClr>
              <a:buFont typeface="Symbol" charset="2"/>
              <a:buChar char=""/>
            </a:pPr>
            <a:r>
              <a:rPr b="0" lang="en-US" sz="1200" spc="-1" strike="noStrike">
                <a:solidFill>
                  <a:srgbClr val="1a1a1a"/>
                </a:solidFill>
                <a:latin typeface="Arial"/>
                <a:ea typeface="Arial"/>
              </a:rPr>
              <a:t>Most students are freshmen and sophomores, so early exposure builds a multi-year relationship before other employers start recruiting them</a:t>
            </a:r>
            <a:endParaRPr b="0" lang="en-US" sz="1200" spc="-1" strike="noStrike">
              <a:latin typeface="Arial"/>
            </a:endParaRPr>
          </a:p>
        </p:txBody>
      </p:sp>
      <p:sp>
        <p:nvSpPr>
          <p:cNvPr id="126" name="Text 6"/>
          <p:cNvSpPr/>
          <p:nvPr/>
        </p:nvSpPr>
        <p:spPr>
          <a:xfrm>
            <a:off x="548640" y="6446520"/>
            <a:ext cx="6674760" cy="3654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i="1" lang="en-US" sz="1050" spc="-1" strike="noStrike">
                <a:solidFill>
                  <a:srgbClr val="888888"/>
                </a:solidFill>
                <a:latin typeface="Arial"/>
                <a:ea typeface="Arial"/>
              </a:rPr>
              <a:t>Held at the close of the program, April 2027. Exact date and venue to be confirmed.</a:t>
            </a:r>
            <a:endParaRPr b="0" lang="en-US" sz="1050" spc="-1" strike="noStrike">
              <a:latin typeface="Arial"/>
            </a:endParaRPr>
          </a:p>
        </p:txBody>
      </p:sp>
      <p:sp>
        <p:nvSpPr>
          <p:cNvPr id="127" name="Shape 7"/>
          <p:cNvSpPr/>
          <p:nvPr/>
        </p:nvSpPr>
        <p:spPr>
          <a:xfrm>
            <a:off x="7589520" y="1600200"/>
            <a:ext cx="4023000" cy="5211720"/>
          </a:xfrm>
          <a:prstGeom prst="rect">
            <a:avLst/>
          </a:prstGeom>
          <a:solidFill>
            <a:srgbClr val="f2f2f2"/>
          </a:solidFill>
          <a:ln w="9525">
            <a:solidFill>
              <a:srgbClr val="dddddd"/>
            </a:solidFill>
            <a:round/>
          </a:ln>
        </p:spPr>
        <p:style>
          <a:lnRef idx="0"/>
          <a:fillRef idx="0"/>
          <a:effectRef idx="0"/>
          <a:fontRef idx="minor"/>
        </p:style>
      </p:sp>
      <p:sp>
        <p:nvSpPr>
          <p:cNvPr id="128" name="Text 8"/>
          <p:cNvSpPr/>
          <p:nvPr/>
        </p:nvSpPr>
        <p:spPr>
          <a:xfrm>
            <a:off x="7589520" y="1600200"/>
            <a:ext cx="4023000" cy="521172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100" spc="-1" strike="noStrike">
                <a:solidFill>
                  <a:srgbClr val="888888"/>
                </a:solidFill>
                <a:latin typeface="Arial"/>
                <a:ea typeface="Arial"/>
              </a:rPr>
              <a:t>[Photo]</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9" name="Text 0"/>
          <p:cNvSpPr/>
          <p:nvPr/>
        </p:nvSpPr>
        <p:spPr>
          <a:xfrm>
            <a:off x="548640" y="548640"/>
            <a:ext cx="11063880" cy="822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3000" spc="-1" strike="noStrike">
                <a:solidFill>
                  <a:srgbClr val="1a1a1a"/>
                </a:solidFill>
                <a:latin typeface="Arial"/>
                <a:ea typeface="Arial"/>
              </a:rPr>
              <a:t>Proposed Timeline</a:t>
            </a:r>
            <a:endParaRPr b="0" lang="en-US" sz="3000" spc="-1" strike="noStrike">
              <a:latin typeface="Arial"/>
            </a:endParaRPr>
          </a:p>
        </p:txBody>
      </p:sp>
      <p:graphicFrame>
        <p:nvGraphicFramePr>
          <p:cNvPr id="130" name="Table 0"/>
          <p:cNvGraphicFramePr/>
          <p:nvPr/>
        </p:nvGraphicFramePr>
        <p:xfrm>
          <a:off x="548640" y="1828800"/>
          <a:ext cx="11063880" cy="3611520"/>
        </p:xfrm>
        <a:graphic>
          <a:graphicData uri="http://schemas.openxmlformats.org/drawingml/2006/table">
            <a:tbl>
              <a:tblPr/>
              <a:tblGrid>
                <a:gridCol w="2468880"/>
                <a:gridCol w="2377440"/>
                <a:gridCol w="6217920"/>
              </a:tblGrid>
              <a:tr h="411480">
                <a:tc>
                  <a:txBody>
                    <a:bodyPr anchor="ctr">
                      <a:noAutofit/>
                    </a:bodyPr>
                    <a:p>
                      <a:pPr>
                        <a:lnSpc>
                          <a:spcPct val="100000"/>
                        </a:lnSpc>
                        <a:buNone/>
                        <a:tabLst>
                          <a:tab algn="l" pos="0"/>
                        </a:tabLst>
                      </a:pPr>
                      <a:r>
                        <a:rPr b="1" lang="en-US" sz="1300" spc="-1" strike="noStrike">
                          <a:solidFill>
                            <a:srgbClr val="ffffff"/>
                          </a:solidFill>
                          <a:latin typeface="Arial"/>
                          <a:ea typeface="Arial"/>
                        </a:rPr>
                        <a:t>Phase</a:t>
                      </a:r>
                      <a:endParaRPr b="0" lang="en-US" sz="130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solidFill>
                      <a:srgbClr val="1a1a1a"/>
                    </a:solidFill>
                  </a:tcPr>
                </a:tc>
                <a:tc>
                  <a:txBody>
                    <a:bodyPr anchor="ctr">
                      <a:noAutofit/>
                    </a:bodyPr>
                    <a:p>
                      <a:pPr>
                        <a:lnSpc>
                          <a:spcPct val="100000"/>
                        </a:lnSpc>
                        <a:buNone/>
                        <a:tabLst>
                          <a:tab algn="l" pos="0"/>
                        </a:tabLst>
                      </a:pPr>
                      <a:r>
                        <a:rPr b="1" lang="en-US" sz="1300" spc="-1" strike="noStrike">
                          <a:solidFill>
                            <a:srgbClr val="ffffff"/>
                          </a:solidFill>
                          <a:latin typeface="Arial"/>
                          <a:ea typeface="Arial"/>
                        </a:rPr>
                        <a:t>Timing</a:t>
                      </a:r>
                      <a:endParaRPr b="0" lang="en-US" sz="130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solidFill>
                      <a:srgbClr val="1a1a1a"/>
                    </a:solidFill>
                  </a:tcPr>
                </a:tc>
                <a:tc>
                  <a:txBody>
                    <a:bodyPr anchor="ctr">
                      <a:noAutofit/>
                    </a:bodyPr>
                    <a:p>
                      <a:pPr>
                        <a:lnSpc>
                          <a:spcPct val="100000"/>
                        </a:lnSpc>
                        <a:buNone/>
                        <a:tabLst>
                          <a:tab algn="l" pos="0"/>
                        </a:tabLst>
                      </a:pPr>
                      <a:r>
                        <a:rPr b="1" lang="en-US" sz="1300" spc="-1" strike="noStrike">
                          <a:solidFill>
                            <a:srgbClr val="ffffff"/>
                          </a:solidFill>
                          <a:latin typeface="Arial"/>
                          <a:ea typeface="Arial"/>
                        </a:rPr>
                        <a:t>What Happens</a:t>
                      </a:r>
                      <a:endParaRPr b="0" lang="en-US" sz="130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solidFill>
                      <a:srgbClr val="1a1a1a"/>
                    </a:solidFill>
                  </a:tcPr>
                </a:tc>
              </a:tr>
              <a:tr h="777240">
                <a:tc>
                  <a:txBody>
                    <a:bodyPr anchor="ctr">
                      <a:noAutofit/>
                    </a:bodyPr>
                    <a:p>
                      <a:pPr>
                        <a:lnSpc>
                          <a:spcPct val="100000"/>
                        </a:lnSpc>
                        <a:buNone/>
                        <a:tabLst>
                          <a:tab algn="l" pos="0"/>
                        </a:tabLst>
                      </a:pPr>
                      <a:r>
                        <a:rPr b="1" lang="en-US" sz="1250" spc="-1" strike="noStrike">
                          <a:solidFill>
                            <a:srgbClr val="1a1a1a"/>
                          </a:solidFill>
                          <a:latin typeface="Arial"/>
                          <a:ea typeface="Arial"/>
                        </a:rPr>
                        <a:t>Proposal</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c>
                  <a:txBody>
                    <a:bodyPr anchor="ctr">
                      <a:noAutofit/>
                    </a:bodyPr>
                    <a:p>
                      <a:pPr>
                        <a:lnSpc>
                          <a:spcPct val="100000"/>
                        </a:lnSpc>
                        <a:buNone/>
                        <a:tabLst>
                          <a:tab algn="l" pos="0"/>
                        </a:tabLst>
                      </a:pPr>
                      <a:r>
                        <a:rPr b="0" lang="en-US" sz="1250" spc="-1" strike="noStrike">
                          <a:solidFill>
                            <a:srgbClr val="1a1a1a"/>
                          </a:solidFill>
                          <a:latin typeface="Arial"/>
                          <a:ea typeface="Arial"/>
                        </a:rPr>
                        <a:t>August – September 2026</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c>
                  <a:txBody>
                    <a:bodyPr anchor="ctr">
                      <a:noAutofit/>
                    </a:bodyPr>
                    <a:p>
                      <a:pPr>
                        <a:lnSpc>
                          <a:spcPct val="100000"/>
                        </a:lnSpc>
                        <a:buNone/>
                        <a:tabLst>
                          <a:tab algn="l" pos="0"/>
                        </a:tabLst>
                      </a:pPr>
                      <a:r>
                        <a:rPr b="0" lang="en-US" sz="1250" spc="-1" strike="noStrike">
                          <a:solidFill>
                            <a:srgbClr val="1a1a1a"/>
                          </a:solidFill>
                          <a:latin typeface="Arial"/>
                          <a:ea typeface="Arial"/>
                        </a:rPr>
                        <a:t>Finalize partners, secure commitments, and align on scope with VSU</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r>
              <a:tr h="777240">
                <a:tc>
                  <a:txBody>
                    <a:bodyPr anchor="ctr">
                      <a:noAutofit/>
                    </a:bodyPr>
                    <a:p>
                      <a:pPr>
                        <a:lnSpc>
                          <a:spcPct val="100000"/>
                        </a:lnSpc>
                        <a:buNone/>
                        <a:tabLst>
                          <a:tab algn="l" pos="0"/>
                        </a:tabLst>
                      </a:pPr>
                      <a:r>
                        <a:rPr b="1" lang="en-US" sz="1250" spc="-1" strike="noStrike">
                          <a:solidFill>
                            <a:srgbClr val="1a1a1a"/>
                          </a:solidFill>
                          <a:latin typeface="Arial"/>
                          <a:ea typeface="Arial"/>
                        </a:rPr>
                        <a:t>Setup</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c>
                  <a:txBody>
                    <a:bodyPr anchor="ctr">
                      <a:noAutofit/>
                    </a:bodyPr>
                    <a:p>
                      <a:pPr>
                        <a:lnSpc>
                          <a:spcPct val="100000"/>
                        </a:lnSpc>
                        <a:buNone/>
                        <a:tabLst>
                          <a:tab algn="l" pos="0"/>
                        </a:tabLst>
                      </a:pPr>
                      <a:r>
                        <a:rPr b="0" lang="en-US" sz="1250" spc="-1" strike="noStrike">
                          <a:solidFill>
                            <a:srgbClr val="1a1a1a"/>
                          </a:solidFill>
                          <a:latin typeface="Arial"/>
                          <a:ea typeface="Arial"/>
                        </a:rPr>
                        <a:t>October – December 2026</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c>
                  <a:txBody>
                    <a:bodyPr anchor="ctr">
                      <a:noAutofit/>
                    </a:bodyPr>
                    <a:p>
                      <a:pPr>
                        <a:lnSpc>
                          <a:spcPct val="100000"/>
                        </a:lnSpc>
                        <a:buNone/>
                        <a:tabLst>
                          <a:tab algn="l" pos="0"/>
                        </a:tabLst>
                      </a:pPr>
                      <a:r>
                        <a:rPr b="0" lang="en-US" sz="1250" spc="-1" strike="noStrike">
                          <a:solidFill>
                            <a:srgbClr val="1a1a1a"/>
                          </a:solidFill>
                          <a:latin typeface="Arial"/>
                          <a:ea typeface="Arial"/>
                        </a:rPr>
                        <a:t>Recruit the student cohort, prepare curriculum and equipment, and onboard instructors</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r>
              <a:tr h="868680">
                <a:tc>
                  <a:txBody>
                    <a:bodyPr anchor="ctr">
                      <a:noAutofit/>
                    </a:bodyPr>
                    <a:p>
                      <a:pPr>
                        <a:lnSpc>
                          <a:spcPct val="100000"/>
                        </a:lnSpc>
                        <a:buNone/>
                        <a:tabLst>
                          <a:tab algn="l" pos="0"/>
                        </a:tabLst>
                      </a:pPr>
                      <a:r>
                        <a:rPr b="1" lang="en-US" sz="1250" spc="-1" strike="noStrike">
                          <a:solidFill>
                            <a:srgbClr val="1a1a1a"/>
                          </a:solidFill>
                          <a:latin typeface="Arial"/>
                          <a:ea typeface="Arial"/>
                        </a:rPr>
                        <a:t>Program</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c>
                  <a:txBody>
                    <a:bodyPr anchor="ctr">
                      <a:noAutofit/>
                    </a:bodyPr>
                    <a:p>
                      <a:pPr>
                        <a:lnSpc>
                          <a:spcPct val="100000"/>
                        </a:lnSpc>
                        <a:buNone/>
                        <a:tabLst>
                          <a:tab algn="l" pos="0"/>
                        </a:tabLst>
                      </a:pPr>
                      <a:r>
                        <a:rPr b="0" lang="en-US" sz="1250" spc="-1" strike="noStrike">
                          <a:solidFill>
                            <a:srgbClr val="1a1a1a"/>
                          </a:solidFill>
                          <a:latin typeface="Arial"/>
                          <a:ea typeface="Arial"/>
                        </a:rPr>
                        <a:t>January – April 2027</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c>
                  <a:txBody>
                    <a:bodyPr anchor="ctr">
                      <a:noAutofit/>
                    </a:bodyPr>
                    <a:p>
                      <a:pPr>
                        <a:lnSpc>
                          <a:spcPct val="100000"/>
                        </a:lnSpc>
                        <a:buNone/>
                        <a:tabLst>
                          <a:tab algn="l" pos="0"/>
                        </a:tabLst>
                      </a:pPr>
                      <a:r>
                        <a:rPr b="0" lang="en-US" sz="1250" spc="-1" strike="noStrike">
                          <a:solidFill>
                            <a:srgbClr val="1a1a1a"/>
                          </a:solidFill>
                          <a:latin typeface="Arial"/>
                          <a:ea typeface="Arial"/>
                        </a:rPr>
                        <a:t>Students work through the 15-week build cycle, from problem to launch (Tuesday and Thursday, 5:00 – 8:00 PM)</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r>
              <a:tr h="777240">
                <a:tc>
                  <a:txBody>
                    <a:bodyPr anchor="ctr">
                      <a:noAutofit/>
                    </a:bodyPr>
                    <a:p>
                      <a:pPr>
                        <a:lnSpc>
                          <a:spcPct val="100000"/>
                        </a:lnSpc>
                        <a:buNone/>
                        <a:tabLst>
                          <a:tab algn="l" pos="0"/>
                        </a:tabLst>
                      </a:pPr>
                      <a:r>
                        <a:rPr b="1" lang="en-US" sz="1250" spc="-1" strike="noStrike">
                          <a:solidFill>
                            <a:srgbClr val="1a1a1a"/>
                          </a:solidFill>
                          <a:latin typeface="Arial"/>
                          <a:ea typeface="Arial"/>
                        </a:rPr>
                        <a:t>Outcomes and Reporting</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c>
                  <a:txBody>
                    <a:bodyPr anchor="ctr">
                      <a:noAutofit/>
                    </a:bodyPr>
                    <a:p>
                      <a:pPr>
                        <a:lnSpc>
                          <a:spcPct val="100000"/>
                        </a:lnSpc>
                        <a:buNone/>
                        <a:tabLst>
                          <a:tab algn="l" pos="0"/>
                        </a:tabLst>
                      </a:pPr>
                      <a:r>
                        <a:rPr b="0" lang="en-US" sz="1250" spc="-1" strike="noStrike">
                          <a:solidFill>
                            <a:srgbClr val="1a1a1a"/>
                          </a:solidFill>
                          <a:latin typeface="Arial"/>
                          <a:ea typeface="Arial"/>
                        </a:rPr>
                        <a:t>May 2027</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c>
                  <a:txBody>
                    <a:bodyPr anchor="ctr">
                      <a:noAutofit/>
                    </a:bodyPr>
                    <a:p>
                      <a:pPr>
                        <a:lnSpc>
                          <a:spcPct val="100000"/>
                        </a:lnSpc>
                        <a:buNone/>
                        <a:tabLst>
                          <a:tab algn="l" pos="0"/>
                        </a:tabLst>
                      </a:pPr>
                      <a:r>
                        <a:rPr b="0" lang="en-US" sz="1250" spc="-1" strike="noStrike">
                          <a:solidFill>
                            <a:srgbClr val="1a1a1a"/>
                          </a:solidFill>
                          <a:latin typeface="Arial"/>
                          <a:ea typeface="Arial"/>
                        </a:rPr>
                        <a:t>Tri-Cities Career Showcase, then results and feedback shared with stakeholders</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r>
            </a:tbl>
          </a:graphicData>
        </a:graphic>
      </p:graphicFrame>
      <p:sp>
        <p:nvSpPr>
          <p:cNvPr id="131" name="Text 1"/>
          <p:cNvSpPr/>
          <p:nvPr/>
        </p:nvSpPr>
        <p:spPr>
          <a:xfrm>
            <a:off x="548640" y="5486400"/>
            <a:ext cx="11063880" cy="3654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i="1" lang="en-US" sz="1200" spc="-1" strike="noStrike">
                <a:solidFill>
                  <a:srgbClr val="888888"/>
                </a:solidFill>
                <a:latin typeface="Arial"/>
                <a:ea typeface="Arial"/>
              </a:rPr>
              <a:t>All dates are tentative, pending alignment with Virginia State University.</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2" name="Text 0"/>
          <p:cNvSpPr/>
          <p:nvPr/>
        </p:nvSpPr>
        <p:spPr>
          <a:xfrm>
            <a:off x="548640" y="548640"/>
            <a:ext cx="11063880" cy="822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3000" spc="-1" strike="noStrike">
                <a:solidFill>
                  <a:srgbClr val="1a1a1a"/>
                </a:solidFill>
                <a:latin typeface="Arial"/>
                <a:ea typeface="Arial"/>
              </a:rPr>
              <a:t>The Ask</a:t>
            </a:r>
            <a:endParaRPr b="0" lang="en-US" sz="3000" spc="-1" strike="noStrike">
              <a:latin typeface="Arial"/>
            </a:endParaRPr>
          </a:p>
        </p:txBody>
      </p:sp>
      <p:sp>
        <p:nvSpPr>
          <p:cNvPr id="133" name="Text 1"/>
          <p:cNvSpPr/>
          <p:nvPr/>
        </p:nvSpPr>
        <p:spPr>
          <a:xfrm>
            <a:off x="548640" y="1737360"/>
            <a:ext cx="6674760" cy="3654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600" spc="-1" strike="noStrike">
                <a:solidFill>
                  <a:srgbClr val="1a1a1a"/>
                </a:solidFill>
                <a:latin typeface="Arial"/>
                <a:ea typeface="Arial"/>
              </a:rPr>
              <a:t>Financial Sponsorship</a:t>
            </a:r>
            <a:endParaRPr b="0" lang="en-US" sz="1600" spc="-1" strike="noStrike">
              <a:latin typeface="Arial"/>
            </a:endParaRPr>
          </a:p>
        </p:txBody>
      </p:sp>
      <p:sp>
        <p:nvSpPr>
          <p:cNvPr id="134" name="Text 2"/>
          <p:cNvSpPr/>
          <p:nvPr/>
        </p:nvSpPr>
        <p:spPr>
          <a:xfrm>
            <a:off x="548640" y="2148840"/>
            <a:ext cx="6674760" cy="4568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lang="en-US" sz="1500" spc="-1" strike="noStrike">
                <a:solidFill>
                  <a:srgbClr val="555555"/>
                </a:solidFill>
                <a:latin typeface="Arial"/>
                <a:ea typeface="Arial"/>
              </a:rPr>
              <a:t>Direct cost coverage via a selected budget line.</a:t>
            </a:r>
            <a:endParaRPr b="0" lang="en-US" sz="1500" spc="-1" strike="noStrike">
              <a:latin typeface="Arial"/>
            </a:endParaRPr>
          </a:p>
        </p:txBody>
      </p:sp>
      <p:sp>
        <p:nvSpPr>
          <p:cNvPr id="135" name="Text 3"/>
          <p:cNvSpPr/>
          <p:nvPr/>
        </p:nvSpPr>
        <p:spPr>
          <a:xfrm>
            <a:off x="548640" y="2743200"/>
            <a:ext cx="6674760" cy="3654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600" spc="-1" strike="noStrike">
                <a:solidFill>
                  <a:srgbClr val="1a1a1a"/>
                </a:solidFill>
                <a:latin typeface="Arial"/>
                <a:ea typeface="Arial"/>
              </a:rPr>
              <a:t>In-Kind Support</a:t>
            </a:r>
            <a:endParaRPr b="0" lang="en-US" sz="1600" spc="-1" strike="noStrike">
              <a:latin typeface="Arial"/>
            </a:endParaRPr>
          </a:p>
        </p:txBody>
      </p:sp>
      <p:sp>
        <p:nvSpPr>
          <p:cNvPr id="136" name="Text 4"/>
          <p:cNvSpPr/>
          <p:nvPr/>
        </p:nvSpPr>
        <p:spPr>
          <a:xfrm>
            <a:off x="548640" y="3154680"/>
            <a:ext cx="6674760" cy="1279800"/>
          </a:xfrm>
          <a:prstGeom prst="rect">
            <a:avLst/>
          </a:prstGeom>
          <a:noFill/>
          <a:ln w="0">
            <a:noFill/>
          </a:ln>
        </p:spPr>
        <p:style>
          <a:lnRef idx="0"/>
          <a:fillRef idx="0"/>
          <a:effectRef idx="0"/>
          <a:fontRef idx="minor"/>
        </p:style>
        <p:txBody>
          <a:bodyPr lIns="90000" rIns="90000" tIns="45000" bIns="45000" anchor="ctr">
            <a:noAutofit/>
          </a:bodyPr>
          <a:p>
            <a:pPr marL="190440" indent="-190440">
              <a:lnSpc>
                <a:spcPct val="100000"/>
              </a:lnSpc>
              <a:spcAft>
                <a:spcPts val="799"/>
              </a:spcAft>
              <a:buClr>
                <a:srgbClr val="555555"/>
              </a:buClr>
              <a:buFont typeface="Symbol" charset="2"/>
              <a:buChar char=""/>
            </a:pPr>
            <a:r>
              <a:rPr b="0" lang="en-US" sz="1500" spc="-1" strike="noStrike">
                <a:solidFill>
                  <a:srgbClr val="555555"/>
                </a:solidFill>
                <a:latin typeface="Arial"/>
                <a:ea typeface="Arial"/>
              </a:rPr>
              <a:t>Mentorship</a:t>
            </a:r>
            <a:endParaRPr b="0" lang="en-US" sz="1500" spc="-1" strike="noStrike">
              <a:latin typeface="Arial"/>
            </a:endParaRPr>
          </a:p>
          <a:p>
            <a:pPr marL="190440" indent="-190440">
              <a:lnSpc>
                <a:spcPct val="100000"/>
              </a:lnSpc>
              <a:spcAft>
                <a:spcPts val="799"/>
              </a:spcAft>
              <a:buClr>
                <a:srgbClr val="555555"/>
              </a:buClr>
              <a:buFont typeface="Symbol" charset="2"/>
              <a:buChar char=""/>
            </a:pPr>
            <a:r>
              <a:rPr b="0" lang="en-US" sz="1500" spc="-1" strike="noStrike">
                <a:solidFill>
                  <a:srgbClr val="555555"/>
                </a:solidFill>
                <a:latin typeface="Arial"/>
                <a:ea typeface="Arial"/>
              </a:rPr>
              <a:t>Judges and recruiters for the Tri-Cities Career Showcase</a:t>
            </a:r>
            <a:endParaRPr b="0" lang="en-US" sz="1500" spc="-1" strike="noStrike">
              <a:latin typeface="Arial"/>
            </a:endParaRPr>
          </a:p>
          <a:p>
            <a:pPr marL="190440" indent="-190440">
              <a:lnSpc>
                <a:spcPct val="100000"/>
              </a:lnSpc>
              <a:spcAft>
                <a:spcPts val="799"/>
              </a:spcAft>
              <a:buClr>
                <a:srgbClr val="555555"/>
              </a:buClr>
              <a:buFont typeface="Symbol" charset="2"/>
              <a:buChar char=""/>
            </a:pPr>
            <a:r>
              <a:rPr b="0" lang="en-US" sz="1500" spc="-1" strike="noStrike">
                <a:solidFill>
                  <a:srgbClr val="555555"/>
                </a:solidFill>
                <a:latin typeface="Arial"/>
                <a:ea typeface="Arial"/>
              </a:rPr>
              <a:t>Equipment donation</a:t>
            </a:r>
            <a:endParaRPr b="0" lang="en-US" sz="1500" spc="-1" strike="noStrike">
              <a:latin typeface="Arial"/>
            </a:endParaRPr>
          </a:p>
        </p:txBody>
      </p:sp>
      <p:sp>
        <p:nvSpPr>
          <p:cNvPr id="137" name="Text 5"/>
          <p:cNvSpPr/>
          <p:nvPr/>
        </p:nvSpPr>
        <p:spPr>
          <a:xfrm>
            <a:off x="548640" y="4663440"/>
            <a:ext cx="6674760" cy="4568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i="1" lang="en-US" sz="1300" spc="-1" strike="noStrike">
                <a:solidFill>
                  <a:srgbClr val="888888"/>
                </a:solidFill>
                <a:latin typeface="Arial"/>
                <a:ea typeface="Arial"/>
              </a:rPr>
              <a:t>Grant funding is being pursued separately. This ask is additive, not a substitute.</a:t>
            </a:r>
            <a:endParaRPr b="0" lang="en-US" sz="1300" spc="-1" strike="noStrike">
              <a:latin typeface="Arial"/>
            </a:endParaRPr>
          </a:p>
        </p:txBody>
      </p:sp>
      <p:sp>
        <p:nvSpPr>
          <p:cNvPr id="138" name="Shape 6"/>
          <p:cNvSpPr/>
          <p:nvPr/>
        </p:nvSpPr>
        <p:spPr>
          <a:xfrm>
            <a:off x="7589520" y="1737360"/>
            <a:ext cx="4023000" cy="4205880"/>
          </a:xfrm>
          <a:prstGeom prst="rect">
            <a:avLst/>
          </a:prstGeom>
          <a:solidFill>
            <a:srgbClr val="f2f2f2"/>
          </a:solidFill>
          <a:ln w="9525">
            <a:solidFill>
              <a:srgbClr val="dddddd"/>
            </a:solidFill>
            <a:round/>
          </a:ln>
        </p:spPr>
        <p:style>
          <a:lnRef idx="0"/>
          <a:fillRef idx="0"/>
          <a:effectRef idx="0"/>
          <a:fontRef idx="minor"/>
        </p:style>
      </p:sp>
      <p:sp>
        <p:nvSpPr>
          <p:cNvPr id="139" name="Text 7"/>
          <p:cNvSpPr/>
          <p:nvPr/>
        </p:nvSpPr>
        <p:spPr>
          <a:xfrm>
            <a:off x="7589520" y="1737360"/>
            <a:ext cx="4023000" cy="420588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100" spc="-1" strike="noStrike">
                <a:solidFill>
                  <a:srgbClr val="888888"/>
                </a:solidFill>
                <a:latin typeface="Arial"/>
                <a:ea typeface="Arial"/>
              </a:rPr>
              <a:t>[Photo]</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0" name="Text 0"/>
          <p:cNvSpPr/>
          <p:nvPr/>
        </p:nvSpPr>
        <p:spPr>
          <a:xfrm>
            <a:off x="548640" y="548640"/>
            <a:ext cx="11063880" cy="822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3000" spc="-1" strike="noStrike">
                <a:solidFill>
                  <a:srgbClr val="1a1a1a"/>
                </a:solidFill>
                <a:latin typeface="Arial"/>
                <a:ea typeface="Arial"/>
              </a:rPr>
              <a:t>Contact and Next Steps</a:t>
            </a:r>
            <a:endParaRPr b="0" lang="en-US" sz="3000" spc="-1" strike="noStrike">
              <a:latin typeface="Arial"/>
            </a:endParaRPr>
          </a:p>
        </p:txBody>
      </p:sp>
      <p:sp>
        <p:nvSpPr>
          <p:cNvPr id="141" name="Text 1"/>
          <p:cNvSpPr/>
          <p:nvPr/>
        </p:nvSpPr>
        <p:spPr>
          <a:xfrm>
            <a:off x="548640" y="1463040"/>
            <a:ext cx="6674760" cy="3196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400" spc="-1" strike="noStrike">
                <a:solidFill>
                  <a:srgbClr val="555555"/>
                </a:solidFill>
                <a:latin typeface="Arial"/>
                <a:ea typeface="Arial"/>
              </a:rPr>
              <a:t>Next Steps</a:t>
            </a:r>
            <a:endParaRPr b="0" lang="en-US" sz="1400" spc="-1" strike="noStrike">
              <a:latin typeface="Arial"/>
            </a:endParaRPr>
          </a:p>
        </p:txBody>
      </p:sp>
      <p:sp>
        <p:nvSpPr>
          <p:cNvPr id="142" name="Text 2"/>
          <p:cNvSpPr/>
          <p:nvPr/>
        </p:nvSpPr>
        <p:spPr>
          <a:xfrm>
            <a:off x="548640" y="1828800"/>
            <a:ext cx="6674760" cy="2739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350" spc="-1" strike="noStrike">
                <a:solidFill>
                  <a:srgbClr val="1a1a1a"/>
                </a:solidFill>
                <a:latin typeface="Arial"/>
                <a:ea typeface="Arial"/>
              </a:rPr>
              <a:t>1.  Confirm which form of support fits</a:t>
            </a:r>
            <a:endParaRPr b="0" lang="en-US" sz="1350" spc="-1" strike="noStrike">
              <a:latin typeface="Arial"/>
            </a:endParaRPr>
          </a:p>
        </p:txBody>
      </p:sp>
      <p:sp>
        <p:nvSpPr>
          <p:cNvPr id="143" name="Text 3"/>
          <p:cNvSpPr/>
          <p:nvPr/>
        </p:nvSpPr>
        <p:spPr>
          <a:xfrm>
            <a:off x="822960" y="2084760"/>
            <a:ext cx="6400440" cy="383760"/>
          </a:xfrm>
          <a:prstGeom prst="rect">
            <a:avLst/>
          </a:prstGeom>
          <a:noFill/>
          <a:ln w="0">
            <a:noFill/>
          </a:ln>
        </p:spPr>
        <p:style>
          <a:lnRef idx="0"/>
          <a:fillRef idx="0"/>
          <a:effectRef idx="0"/>
          <a:fontRef idx="minor"/>
        </p:style>
        <p:txBody>
          <a:bodyPr lIns="90000" rIns="90000" tIns="45000" bIns="45000" anchor="ctr">
            <a:noAutofit/>
          </a:bodyPr>
          <a:p>
            <a:pPr>
              <a:lnSpc>
                <a:spcPct val="105000"/>
              </a:lnSpc>
              <a:buNone/>
              <a:tabLst>
                <a:tab algn="l" pos="0"/>
              </a:tabLst>
            </a:pPr>
            <a:r>
              <a:rPr b="0" i="1" lang="en-US" sz="1000" spc="-1" strike="noStrike">
                <a:solidFill>
                  <a:srgbClr val="555555"/>
                </a:solidFill>
                <a:latin typeface="Arial"/>
                <a:ea typeface="Arial"/>
              </a:rPr>
              <a:t>Financial sponsorship, mentorship, serving as a judge or recruiter at the Tri-Cities Career Showcase, or an equipment donation.</a:t>
            </a:r>
            <a:endParaRPr b="0" lang="en-US" sz="1000" spc="-1" strike="noStrike">
              <a:latin typeface="Arial"/>
            </a:endParaRPr>
          </a:p>
        </p:txBody>
      </p:sp>
      <p:sp>
        <p:nvSpPr>
          <p:cNvPr id="144" name="Text 4"/>
          <p:cNvSpPr/>
          <p:nvPr/>
        </p:nvSpPr>
        <p:spPr>
          <a:xfrm>
            <a:off x="548640" y="2450520"/>
            <a:ext cx="6674760" cy="2739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350" spc="-1" strike="noStrike">
                <a:solidFill>
                  <a:srgbClr val="1a1a1a"/>
                </a:solidFill>
                <a:latin typeface="Arial"/>
                <a:ea typeface="Arial"/>
              </a:rPr>
              <a:t>2.  Schedule a working session</a:t>
            </a:r>
            <a:endParaRPr b="0" lang="en-US" sz="1350" spc="-1" strike="noStrike">
              <a:latin typeface="Arial"/>
            </a:endParaRPr>
          </a:p>
        </p:txBody>
      </p:sp>
      <p:sp>
        <p:nvSpPr>
          <p:cNvPr id="145" name="Text 5"/>
          <p:cNvSpPr/>
          <p:nvPr/>
        </p:nvSpPr>
        <p:spPr>
          <a:xfrm>
            <a:off x="822960" y="2706480"/>
            <a:ext cx="6400440" cy="383760"/>
          </a:xfrm>
          <a:prstGeom prst="rect">
            <a:avLst/>
          </a:prstGeom>
          <a:noFill/>
          <a:ln w="0">
            <a:noFill/>
          </a:ln>
        </p:spPr>
        <p:style>
          <a:lnRef idx="0"/>
          <a:fillRef idx="0"/>
          <a:effectRef idx="0"/>
          <a:fontRef idx="minor"/>
        </p:style>
        <p:txBody>
          <a:bodyPr lIns="90000" rIns="90000" tIns="45000" bIns="45000" anchor="ctr">
            <a:noAutofit/>
          </a:bodyPr>
          <a:p>
            <a:pPr>
              <a:lnSpc>
                <a:spcPct val="105000"/>
              </a:lnSpc>
              <a:buNone/>
              <a:tabLst>
                <a:tab algn="l" pos="0"/>
              </a:tabLst>
            </a:pPr>
            <a:r>
              <a:rPr b="0" i="1" lang="en-US" sz="1000" spc="-1" strike="noStrike">
                <a:solidFill>
                  <a:srgbClr val="555555"/>
                </a:solidFill>
                <a:latin typeface="Arial"/>
                <a:ea typeface="Arial"/>
              </a:rPr>
              <a:t>To finalize the specific commitment, a budget line for direct cost coverage, or the scope of the in-kind contribution chosen above.</a:t>
            </a:r>
            <a:endParaRPr b="0" lang="en-US" sz="1000" spc="-1" strike="noStrike">
              <a:latin typeface="Arial"/>
            </a:endParaRPr>
          </a:p>
        </p:txBody>
      </p:sp>
      <p:sp>
        <p:nvSpPr>
          <p:cNvPr id="146" name="Text 6"/>
          <p:cNvSpPr/>
          <p:nvPr/>
        </p:nvSpPr>
        <p:spPr>
          <a:xfrm>
            <a:off x="548640" y="3072240"/>
            <a:ext cx="6674760" cy="2739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350" spc="-1" strike="noStrike">
                <a:solidFill>
                  <a:srgbClr val="1a1a1a"/>
                </a:solidFill>
                <a:latin typeface="Arial"/>
                <a:ea typeface="Arial"/>
              </a:rPr>
              <a:t>3.  Join a curriculum co-development conversation</a:t>
            </a:r>
            <a:endParaRPr b="0" lang="en-US" sz="1350" spc="-1" strike="noStrike">
              <a:latin typeface="Arial"/>
            </a:endParaRPr>
          </a:p>
        </p:txBody>
      </p:sp>
      <p:sp>
        <p:nvSpPr>
          <p:cNvPr id="147" name="Text 7"/>
          <p:cNvSpPr/>
          <p:nvPr/>
        </p:nvSpPr>
        <p:spPr>
          <a:xfrm>
            <a:off x="822960" y="3328560"/>
            <a:ext cx="6400440" cy="383760"/>
          </a:xfrm>
          <a:prstGeom prst="rect">
            <a:avLst/>
          </a:prstGeom>
          <a:noFill/>
          <a:ln w="0">
            <a:noFill/>
          </a:ln>
        </p:spPr>
        <p:style>
          <a:lnRef idx="0"/>
          <a:fillRef idx="0"/>
          <a:effectRef idx="0"/>
          <a:fontRef idx="minor"/>
        </p:style>
        <p:txBody>
          <a:bodyPr lIns="90000" rIns="90000" tIns="45000" bIns="45000" anchor="ctr">
            <a:noAutofit/>
          </a:bodyPr>
          <a:p>
            <a:pPr>
              <a:lnSpc>
                <a:spcPct val="105000"/>
              </a:lnSpc>
              <a:buNone/>
              <a:tabLst>
                <a:tab algn="l" pos="0"/>
              </a:tabLst>
            </a:pPr>
            <a:r>
              <a:rPr b="0" i="1" lang="en-US" sz="1000" spc="-1" strike="noStrike">
                <a:solidFill>
                  <a:srgbClr val="555555"/>
                </a:solidFill>
                <a:latin typeface="Arial"/>
                <a:ea typeface="Arial"/>
              </a:rPr>
              <a:t>With our program design team to shape a real business challenge your organization can bring into the program as a student project.</a:t>
            </a:r>
            <a:endParaRPr b="0" lang="en-US" sz="1000" spc="-1" strike="noStrike">
              <a:latin typeface="Arial"/>
            </a:endParaRPr>
          </a:p>
        </p:txBody>
      </p:sp>
      <p:sp>
        <p:nvSpPr>
          <p:cNvPr id="148" name="Text 8"/>
          <p:cNvSpPr/>
          <p:nvPr/>
        </p:nvSpPr>
        <p:spPr>
          <a:xfrm>
            <a:off x="548640" y="3694320"/>
            <a:ext cx="6674760" cy="2739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350" spc="-1" strike="noStrike">
                <a:solidFill>
                  <a:srgbClr val="1a1a1a"/>
                </a:solidFill>
                <a:latin typeface="Arial"/>
                <a:ea typeface="Arial"/>
              </a:rPr>
              <a:t>4.  Lock the commitment by [date]</a:t>
            </a:r>
            <a:endParaRPr b="0" lang="en-US" sz="1350" spc="-1" strike="noStrike">
              <a:latin typeface="Arial"/>
            </a:endParaRPr>
          </a:p>
        </p:txBody>
      </p:sp>
      <p:sp>
        <p:nvSpPr>
          <p:cNvPr id="149" name="Text 9"/>
          <p:cNvSpPr/>
          <p:nvPr/>
        </p:nvSpPr>
        <p:spPr>
          <a:xfrm>
            <a:off x="822960" y="3950280"/>
            <a:ext cx="6400440" cy="383760"/>
          </a:xfrm>
          <a:prstGeom prst="rect">
            <a:avLst/>
          </a:prstGeom>
          <a:noFill/>
          <a:ln w="0">
            <a:noFill/>
          </a:ln>
        </p:spPr>
        <p:style>
          <a:lnRef idx="0"/>
          <a:fillRef idx="0"/>
          <a:effectRef idx="0"/>
          <a:fontRef idx="minor"/>
        </p:style>
        <p:txBody>
          <a:bodyPr lIns="90000" rIns="90000" tIns="45000" bIns="45000" anchor="ctr">
            <a:noAutofit/>
          </a:bodyPr>
          <a:p>
            <a:pPr>
              <a:lnSpc>
                <a:spcPct val="105000"/>
              </a:lnSpc>
              <a:buNone/>
              <a:tabLst>
                <a:tab algn="l" pos="0"/>
              </a:tabLst>
            </a:pPr>
            <a:r>
              <a:rPr b="0" i="1" lang="en-US" sz="1000" spc="-1" strike="noStrike">
                <a:solidFill>
                  <a:srgbClr val="555555"/>
                </a:solidFill>
                <a:latin typeface="Arial"/>
                <a:ea typeface="Arial"/>
              </a:rPr>
              <a:t>Ahead of the January 2027 program launch, so we can finalize partner logistics during the Setup phase.</a:t>
            </a:r>
            <a:endParaRPr b="0" lang="en-US" sz="1000" spc="-1" strike="noStrike">
              <a:latin typeface="Arial"/>
            </a:endParaRPr>
          </a:p>
        </p:txBody>
      </p:sp>
      <p:sp>
        <p:nvSpPr>
          <p:cNvPr id="150" name="Text 10"/>
          <p:cNvSpPr/>
          <p:nvPr/>
        </p:nvSpPr>
        <p:spPr>
          <a:xfrm>
            <a:off x="548640" y="4370760"/>
            <a:ext cx="6674760" cy="3196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i="1" lang="en-US" sz="1100" spc="-1" strike="noStrike">
                <a:solidFill>
                  <a:srgbClr val="888888"/>
                </a:solidFill>
                <a:latin typeface="Arial"/>
                <a:ea typeface="Arial"/>
              </a:rPr>
              <a:t>If no decision is made in the room, a follow-up the next day.</a:t>
            </a:r>
            <a:endParaRPr b="0" lang="en-US" sz="1100" spc="-1" strike="noStrike">
              <a:latin typeface="Arial"/>
            </a:endParaRPr>
          </a:p>
        </p:txBody>
      </p:sp>
      <p:sp>
        <p:nvSpPr>
          <p:cNvPr id="151" name="Text 11"/>
          <p:cNvSpPr/>
          <p:nvPr/>
        </p:nvSpPr>
        <p:spPr>
          <a:xfrm>
            <a:off x="548640" y="4846320"/>
            <a:ext cx="6674760" cy="3196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400" spc="-1" strike="noStrike">
                <a:solidFill>
                  <a:srgbClr val="555555"/>
                </a:solidFill>
                <a:latin typeface="Arial"/>
                <a:ea typeface="Arial"/>
              </a:rPr>
              <a:t>Contact</a:t>
            </a:r>
            <a:endParaRPr b="0" lang="en-US" sz="1400" spc="-1" strike="noStrike">
              <a:latin typeface="Arial"/>
            </a:endParaRPr>
          </a:p>
        </p:txBody>
      </p:sp>
      <p:sp>
        <p:nvSpPr>
          <p:cNvPr id="152" name="Text 12"/>
          <p:cNvSpPr/>
          <p:nvPr/>
        </p:nvSpPr>
        <p:spPr>
          <a:xfrm>
            <a:off x="548640" y="5230440"/>
            <a:ext cx="3200040" cy="118836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tabLst>
                <a:tab algn="l" pos="0"/>
              </a:tabLst>
            </a:pPr>
            <a:r>
              <a:rPr b="1" lang="en-US" sz="1500" spc="-1" strike="noStrike">
                <a:solidFill>
                  <a:srgbClr val="1a1a1a"/>
                </a:solidFill>
                <a:latin typeface="Arial"/>
                <a:ea typeface="Arial"/>
              </a:rPr>
              <a:t>Dr. Shawn M. Nicholson</a:t>
            </a:r>
            <a:endParaRPr b="0" lang="en-US" sz="1500" spc="-1" strike="noStrike">
              <a:latin typeface="Arial"/>
            </a:endParaRPr>
          </a:p>
          <a:p>
            <a:pPr>
              <a:lnSpc>
                <a:spcPct val="100000"/>
              </a:lnSpc>
              <a:buNone/>
              <a:tabLst>
                <a:tab algn="l" pos="0"/>
              </a:tabLst>
            </a:pPr>
            <a:r>
              <a:rPr b="0" lang="en-US" sz="1200" spc="-1" strike="noStrike">
                <a:solidFill>
                  <a:srgbClr val="555555"/>
                </a:solidFill>
                <a:latin typeface="Arial"/>
                <a:ea typeface="Arial"/>
              </a:rPr>
              <a:t>Chief Executive Officer</a:t>
            </a:r>
            <a:endParaRPr b="0" lang="en-US" sz="1200" spc="-1" strike="noStrike">
              <a:latin typeface="Arial"/>
            </a:endParaRPr>
          </a:p>
          <a:p>
            <a:pPr>
              <a:lnSpc>
                <a:spcPct val="100000"/>
              </a:lnSpc>
              <a:buNone/>
              <a:tabLst>
                <a:tab algn="l" pos="0"/>
              </a:tabLst>
            </a:pPr>
            <a:r>
              <a:rPr b="0" lang="en-US" sz="1300" spc="-1" strike="noStrike">
                <a:solidFill>
                  <a:srgbClr val="555555"/>
                </a:solidFill>
                <a:latin typeface="Arial"/>
                <a:ea typeface="Arial"/>
              </a:rPr>
              <a:t>[email]  |  [phone]</a:t>
            </a:r>
            <a:endParaRPr b="0" lang="en-US" sz="1300" spc="-1" strike="noStrike">
              <a:latin typeface="Arial"/>
            </a:endParaRPr>
          </a:p>
        </p:txBody>
      </p:sp>
      <p:sp>
        <p:nvSpPr>
          <p:cNvPr id="153" name="Text 13"/>
          <p:cNvSpPr/>
          <p:nvPr/>
        </p:nvSpPr>
        <p:spPr>
          <a:xfrm>
            <a:off x="3931920" y="5230440"/>
            <a:ext cx="2742840" cy="118836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tabLst>
                <a:tab algn="l" pos="0"/>
              </a:tabLst>
            </a:pPr>
            <a:r>
              <a:rPr b="1" lang="en-US" sz="1500" spc="-1" strike="noStrike">
                <a:solidFill>
                  <a:srgbClr val="1a1a1a"/>
                </a:solidFill>
                <a:latin typeface="Arial"/>
                <a:ea typeface="Arial"/>
              </a:rPr>
              <a:t>Javon Guerrier</a:t>
            </a:r>
            <a:endParaRPr b="0" lang="en-US" sz="1500" spc="-1" strike="noStrike">
              <a:latin typeface="Arial"/>
            </a:endParaRPr>
          </a:p>
          <a:p>
            <a:pPr>
              <a:lnSpc>
                <a:spcPct val="100000"/>
              </a:lnSpc>
              <a:buNone/>
              <a:tabLst>
                <a:tab algn="l" pos="0"/>
              </a:tabLst>
            </a:pPr>
            <a:r>
              <a:rPr b="0" lang="en-US" sz="1200" spc="-1" strike="noStrike">
                <a:solidFill>
                  <a:srgbClr val="555555"/>
                </a:solidFill>
                <a:latin typeface="Arial"/>
                <a:ea typeface="Arial"/>
              </a:rPr>
              <a:t>Program Director</a:t>
            </a:r>
            <a:endParaRPr b="0" lang="en-US" sz="1200" spc="-1" strike="noStrike">
              <a:latin typeface="Arial"/>
            </a:endParaRPr>
          </a:p>
          <a:p>
            <a:pPr>
              <a:lnSpc>
                <a:spcPct val="100000"/>
              </a:lnSpc>
              <a:buNone/>
              <a:tabLst>
                <a:tab algn="l" pos="0"/>
              </a:tabLst>
            </a:pPr>
            <a:r>
              <a:rPr b="0" lang="en-US" sz="1300" spc="-1" strike="noStrike">
                <a:solidFill>
                  <a:srgbClr val="555555"/>
                </a:solidFill>
                <a:latin typeface="Arial"/>
                <a:ea typeface="Arial"/>
              </a:rPr>
              <a:t>[email]  |  [phone]</a:t>
            </a:r>
            <a:endParaRPr b="0" lang="en-US" sz="1300" spc="-1" strike="noStrike">
              <a:latin typeface="Arial"/>
            </a:endParaRPr>
          </a:p>
        </p:txBody>
      </p:sp>
      <p:sp>
        <p:nvSpPr>
          <p:cNvPr id="154" name="Shape 14"/>
          <p:cNvSpPr/>
          <p:nvPr/>
        </p:nvSpPr>
        <p:spPr>
          <a:xfrm>
            <a:off x="7589520" y="1463040"/>
            <a:ext cx="4023000" cy="5028840"/>
          </a:xfrm>
          <a:prstGeom prst="rect">
            <a:avLst/>
          </a:prstGeom>
          <a:solidFill>
            <a:srgbClr val="f2f2f2"/>
          </a:solidFill>
          <a:ln w="9525">
            <a:solidFill>
              <a:srgbClr val="dddddd"/>
            </a:solidFill>
            <a:round/>
          </a:ln>
        </p:spPr>
        <p:style>
          <a:lnRef idx="0"/>
          <a:fillRef idx="0"/>
          <a:effectRef idx="0"/>
          <a:fontRef idx="minor"/>
        </p:style>
      </p:sp>
      <p:sp>
        <p:nvSpPr>
          <p:cNvPr id="155" name="Text 15"/>
          <p:cNvSpPr/>
          <p:nvPr/>
        </p:nvSpPr>
        <p:spPr>
          <a:xfrm>
            <a:off x="7589520" y="1463040"/>
            <a:ext cx="4023000" cy="502884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100" spc="-1" strike="noStrike">
                <a:solidFill>
                  <a:srgbClr val="888888"/>
                </a:solidFill>
                <a:latin typeface="Arial"/>
                <a:ea typeface="Arial"/>
              </a:rPr>
              <a:t>[Photo]</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6</TotalTime>
  <Application>LibreOffice/7.3.7.2$Linux_X86_64 LibreOffice_project/30$Build-2</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2026-08-13T18:35:49Z</dcterms:created>
  <dc:creator>PptxGenJS</dc:creator>
  <dc:description/>
  <dc:language>en-US</dc:language>
  <cp:lastModifiedBy/>
  <dcterms:modified xsi:type="dcterms:W3CDTF">2026-08-13T15:34:45Z</dcterms:modified>
  <cp:revision>2</cp:revision>
  <dc:subject>PptxGenJS Presentation</dc:subject>
  <dc:title>PptxGenJS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10</vt:i4>
  </property>
  <property fmtid="{D5CDD505-2E9C-101B-9397-08002B2CF9AE}" pid="3" name="PresentationFormat">
    <vt:lpwstr>On-screen Show (16:9)</vt:lpwstr>
  </property>
  <property fmtid="{D5CDD505-2E9C-101B-9397-08002B2CF9AE}" pid="4" name="Slides">
    <vt:i4>10</vt:i4>
  </property>
</Properties>
</file>