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i4FZUcHUeUz7jp5CcRjguGcfp2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6C407B5-E466-4C62-889B-272378CAD485}">
  <a:tblStyle styleId="{F6C407B5-E466-4C62-889B-272378CAD48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 name="Google Shape;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3.png"/><Relationship Id="rId6" Type="http://schemas.openxmlformats.org/officeDocument/2006/relationships/image" Target="../media/image1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28.png"/><Relationship Id="rId6"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4.png"/><Relationship Id="rId6"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1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5.png"/><Relationship Id="rId5" Type="http://schemas.openxmlformats.org/officeDocument/2006/relationships/image" Target="../media/image29.png"/><Relationship Id="rId6" Type="http://schemas.openxmlformats.org/officeDocument/2006/relationships/image" Target="../media/image3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3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sp>
        <p:nvSpPr>
          <p:cNvPr id="16" name="Google Shape;16;p1"/>
          <p:cNvSpPr/>
          <p:nvPr/>
        </p:nvSpPr>
        <p:spPr>
          <a:xfrm>
            <a:off x="0" y="2377440"/>
            <a:ext cx="1216152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Tri-Cities Innovation Lab</a:t>
            </a:r>
            <a:endParaRPr b="0" i="0" sz="4000" u="none" cap="none" strike="noStrike">
              <a:solidFill>
                <a:schemeClr val="dk1"/>
              </a:solidFill>
              <a:latin typeface="Calibri"/>
              <a:ea typeface="Calibri"/>
              <a:cs typeface="Calibri"/>
              <a:sym typeface="Calibri"/>
            </a:endParaRPr>
          </a:p>
        </p:txBody>
      </p:sp>
      <p:sp>
        <p:nvSpPr>
          <p:cNvPr id="17" name="Google Shape;17;p1"/>
          <p:cNvSpPr/>
          <p:nvPr/>
        </p:nvSpPr>
        <p:spPr>
          <a:xfrm>
            <a:off x="0" y="3200400"/>
            <a:ext cx="1216152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98A3D"/>
              </a:buClr>
              <a:buSzPts val="1800"/>
              <a:buFont typeface="Arial"/>
              <a:buNone/>
            </a:pPr>
            <a:r>
              <a:rPr b="0" i="0" lang="en-US" sz="1800" u="none" cap="none" strike="noStrike">
                <a:solidFill>
                  <a:srgbClr val="D98A3D"/>
                </a:solidFill>
                <a:latin typeface="Arial"/>
                <a:ea typeface="Arial"/>
                <a:cs typeface="Arial"/>
                <a:sym typeface="Arial"/>
              </a:rPr>
              <a:t>Stakeholder Briefing</a:t>
            </a:r>
            <a:endParaRPr b="0" i="0" sz="1800" u="none" cap="none" strike="noStrike">
              <a:solidFill>
                <a:schemeClr val="dk1"/>
              </a:solidFill>
              <a:latin typeface="Calibri"/>
              <a:ea typeface="Calibri"/>
              <a:cs typeface="Calibri"/>
              <a:sym typeface="Calibri"/>
            </a:endParaRPr>
          </a:p>
        </p:txBody>
      </p:sp>
      <p:sp>
        <p:nvSpPr>
          <p:cNvPr id="18" name="Google Shape;18;p1"/>
          <p:cNvSpPr/>
          <p:nvPr/>
        </p:nvSpPr>
        <p:spPr>
          <a:xfrm>
            <a:off x="0" y="3657600"/>
            <a:ext cx="121615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EB0B5"/>
              </a:buClr>
              <a:buSzPts val="1400"/>
              <a:buFont typeface="Arial"/>
              <a:buNone/>
            </a:pPr>
            <a:r>
              <a:rPr b="0" i="0" lang="en-US" sz="1400" u="none" cap="none" strike="noStrike">
                <a:solidFill>
                  <a:srgbClr val="AEB0B5"/>
                </a:solidFill>
                <a:latin typeface="Arial"/>
                <a:ea typeface="Arial"/>
                <a:cs typeface="Arial"/>
                <a:sym typeface="Arial"/>
              </a:rPr>
              <a:t>August 14, 2026</a:t>
            </a:r>
            <a:endParaRPr b="0" i="0" sz="1400" u="none" cap="none" strike="noStrike">
              <a:solidFill>
                <a:schemeClr val="dk1"/>
              </a:solidFill>
              <a:latin typeface="Calibri"/>
              <a:ea typeface="Calibri"/>
              <a:cs typeface="Calibri"/>
              <a:sym typeface="Calibri"/>
            </a:endParaRPr>
          </a:p>
        </p:txBody>
      </p:sp>
      <p:sp>
        <p:nvSpPr>
          <p:cNvPr id="19" name="Google Shape;19;p1"/>
          <p:cNvSpPr/>
          <p:nvPr/>
        </p:nvSpPr>
        <p:spPr>
          <a:xfrm>
            <a:off x="1371600" y="6035040"/>
            <a:ext cx="2011680" cy="457200"/>
          </a:xfrm>
          <a:prstGeom prst="rect">
            <a:avLst/>
          </a:prstGeom>
          <a:solidFill>
            <a:srgbClr val="34363C"/>
          </a:solidFill>
          <a:ln cap="flat" cmpd="sng" w="9525">
            <a:solidFill>
              <a:srgbClr val="4547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1371600" y="6035040"/>
            <a:ext cx="20116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EB0B5"/>
              </a:buClr>
              <a:buSzPts val="1100"/>
              <a:buFont typeface="Arial"/>
              <a:buNone/>
            </a:pPr>
            <a:r>
              <a:rPr b="0" i="0" lang="en-US" sz="1100" u="none" cap="none" strike="noStrike">
                <a:solidFill>
                  <a:srgbClr val="AEB0B5"/>
                </a:solidFill>
                <a:latin typeface="Arial"/>
                <a:ea typeface="Arial"/>
                <a:cs typeface="Arial"/>
                <a:sym typeface="Arial"/>
              </a:rPr>
              <a:t>[Nicholson logo]</a:t>
            </a:r>
            <a:endParaRPr b="0" i="0" sz="1100" u="none" cap="none" strike="noStrike">
              <a:solidFill>
                <a:schemeClr val="dk1"/>
              </a:solidFill>
              <a:latin typeface="Calibri"/>
              <a:ea typeface="Calibri"/>
              <a:cs typeface="Calibri"/>
              <a:sym typeface="Calibri"/>
            </a:endParaRPr>
          </a:p>
        </p:txBody>
      </p:sp>
      <p:sp>
        <p:nvSpPr>
          <p:cNvPr id="21" name="Google Shape;21;p1"/>
          <p:cNvSpPr/>
          <p:nvPr/>
        </p:nvSpPr>
        <p:spPr>
          <a:xfrm>
            <a:off x="3840480" y="6035040"/>
            <a:ext cx="2011680" cy="457200"/>
          </a:xfrm>
          <a:prstGeom prst="rect">
            <a:avLst/>
          </a:prstGeom>
          <a:solidFill>
            <a:srgbClr val="34363C"/>
          </a:solidFill>
          <a:ln cap="flat" cmpd="sng" w="9525">
            <a:solidFill>
              <a:srgbClr val="4547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3840480" y="6035040"/>
            <a:ext cx="20116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EB0B5"/>
              </a:buClr>
              <a:buSzPts val="1100"/>
              <a:buFont typeface="Arial"/>
              <a:buNone/>
            </a:pPr>
            <a:r>
              <a:rPr b="0" i="0" lang="en-US" sz="1100" u="none" cap="none" strike="noStrike">
                <a:solidFill>
                  <a:srgbClr val="AEB0B5"/>
                </a:solidFill>
                <a:latin typeface="Arial"/>
                <a:ea typeface="Arial"/>
                <a:cs typeface="Arial"/>
                <a:sym typeface="Arial"/>
              </a:rPr>
              <a:t>[Builder Tech logo]</a:t>
            </a:r>
            <a:endParaRPr b="0" i="0" sz="1100" u="none" cap="none" strike="noStrike">
              <a:solidFill>
                <a:schemeClr val="dk1"/>
              </a:solidFill>
              <a:latin typeface="Calibri"/>
              <a:ea typeface="Calibri"/>
              <a:cs typeface="Calibri"/>
              <a:sym typeface="Calibri"/>
            </a:endParaRPr>
          </a:p>
        </p:txBody>
      </p:sp>
      <p:sp>
        <p:nvSpPr>
          <p:cNvPr id="23" name="Google Shape;23;p1"/>
          <p:cNvSpPr/>
          <p:nvPr/>
        </p:nvSpPr>
        <p:spPr>
          <a:xfrm>
            <a:off x="6309360" y="6035040"/>
            <a:ext cx="2011680" cy="457200"/>
          </a:xfrm>
          <a:prstGeom prst="rect">
            <a:avLst/>
          </a:prstGeom>
          <a:solidFill>
            <a:srgbClr val="34363C"/>
          </a:solidFill>
          <a:ln cap="flat" cmpd="sng" w="9525">
            <a:solidFill>
              <a:srgbClr val="4547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6309360" y="6035040"/>
            <a:ext cx="20116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EB0B5"/>
              </a:buClr>
              <a:buSzPts val="1100"/>
              <a:buFont typeface="Arial"/>
              <a:buNone/>
            </a:pPr>
            <a:r>
              <a:rPr b="0" i="0" lang="en-US" sz="1100" u="none" cap="none" strike="noStrike">
                <a:solidFill>
                  <a:srgbClr val="AEB0B5"/>
                </a:solidFill>
                <a:latin typeface="Arial"/>
                <a:ea typeface="Arial"/>
                <a:cs typeface="Arial"/>
                <a:sym typeface="Arial"/>
              </a:rPr>
              <a:t>[Voltpop logo]</a:t>
            </a:r>
            <a:endParaRPr b="0" i="0" sz="1100" u="none" cap="none" strike="noStrike">
              <a:solidFill>
                <a:schemeClr val="dk1"/>
              </a:solidFill>
              <a:latin typeface="Calibri"/>
              <a:ea typeface="Calibri"/>
              <a:cs typeface="Calibri"/>
              <a:sym typeface="Calibri"/>
            </a:endParaRPr>
          </a:p>
        </p:txBody>
      </p:sp>
      <p:sp>
        <p:nvSpPr>
          <p:cNvPr id="25" name="Google Shape;25;p1"/>
          <p:cNvSpPr/>
          <p:nvPr/>
        </p:nvSpPr>
        <p:spPr>
          <a:xfrm>
            <a:off x="8778240" y="6035040"/>
            <a:ext cx="2011680" cy="457200"/>
          </a:xfrm>
          <a:prstGeom prst="rect">
            <a:avLst/>
          </a:prstGeom>
          <a:solidFill>
            <a:srgbClr val="34363C"/>
          </a:solidFill>
          <a:ln cap="flat" cmpd="sng" w="9525">
            <a:solidFill>
              <a:srgbClr val="4547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8778240" y="6035040"/>
            <a:ext cx="20116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EB0B5"/>
              </a:buClr>
              <a:buSzPts val="1100"/>
              <a:buFont typeface="Arial"/>
              <a:buNone/>
            </a:pPr>
            <a:r>
              <a:rPr b="0" i="0" lang="en-US" sz="1100" u="none" cap="none" strike="noStrike">
                <a:solidFill>
                  <a:srgbClr val="AEB0B5"/>
                </a:solidFill>
                <a:latin typeface="Arial"/>
                <a:ea typeface="Arial"/>
                <a:cs typeface="Arial"/>
                <a:sym typeface="Arial"/>
              </a:rPr>
              <a:t>[Explay logo]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 name="Shape 31"/>
        <p:cNvGrpSpPr/>
        <p:nvPr/>
      </p:nvGrpSpPr>
      <p:grpSpPr>
        <a:xfrm>
          <a:off x="0" y="0"/>
          <a:ext cx="0" cy="0"/>
          <a:chOff x="0" y="0"/>
          <a:chExt cx="0" cy="0"/>
        </a:xfrm>
      </p:grpSpPr>
      <p:sp>
        <p:nvSpPr>
          <p:cNvPr id="32" name="Google Shape;32;p2"/>
          <p:cNvSpPr/>
          <p:nvPr/>
        </p:nvSpPr>
        <p:spPr>
          <a:xfrm>
            <a:off x="548640" y="54864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3000"/>
              <a:buFont typeface="Arial"/>
              <a:buNone/>
            </a:pPr>
            <a:r>
              <a:rPr b="1" i="0" lang="en-US" sz="3000" u="none" cap="none" strike="noStrike">
                <a:solidFill>
                  <a:srgbClr val="24262B"/>
                </a:solidFill>
                <a:latin typeface="Arial"/>
                <a:ea typeface="Arial"/>
                <a:cs typeface="Arial"/>
                <a:sym typeface="Arial"/>
              </a:rPr>
              <a:t>Overview</a:t>
            </a:r>
            <a:endParaRPr b="0" i="0" sz="3000" u="none" cap="none" strike="noStrike">
              <a:solidFill>
                <a:schemeClr val="dk1"/>
              </a:solidFill>
              <a:latin typeface="Calibri"/>
              <a:ea typeface="Calibri"/>
              <a:cs typeface="Calibri"/>
              <a:sym typeface="Calibri"/>
            </a:endParaRPr>
          </a:p>
        </p:txBody>
      </p:sp>
      <p:sp>
        <p:nvSpPr>
          <p:cNvPr id="33" name="Google Shape;33;p2"/>
          <p:cNvSpPr/>
          <p:nvPr/>
        </p:nvSpPr>
        <p:spPr>
          <a:xfrm>
            <a:off x="548640" y="1828800"/>
            <a:ext cx="3657600" cy="457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8A3D"/>
              </a:buClr>
              <a:buSzPts val="1800"/>
              <a:buFont typeface="Arial"/>
              <a:buNone/>
            </a:pPr>
            <a:r>
              <a:rPr b="1" i="0" lang="en-US" sz="1800" u="none" cap="none" strike="noStrike">
                <a:solidFill>
                  <a:srgbClr val="D98A3D"/>
                </a:solidFill>
                <a:latin typeface="Arial"/>
                <a:ea typeface="Arial"/>
                <a:cs typeface="Arial"/>
                <a:sym typeface="Arial"/>
              </a:rPr>
              <a:t>1.  </a:t>
            </a:r>
            <a:r>
              <a:rPr b="0" i="0" lang="en-US" sz="1600" u="none" cap="none" strike="noStrike">
                <a:solidFill>
                  <a:srgbClr val="24262B"/>
                </a:solidFill>
                <a:latin typeface="Arial"/>
                <a:ea typeface="Arial"/>
                <a:cs typeface="Arial"/>
                <a:sym typeface="Arial"/>
              </a:rPr>
              <a:t>Who We Are</a:t>
            </a:r>
            <a:endParaRPr b="0" i="0" sz="16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D98A3D"/>
              </a:buClr>
              <a:buSzPts val="1600"/>
              <a:buFont typeface="Arial"/>
              <a:buNone/>
            </a:pPr>
            <a:r>
              <a:rPr b="1" i="0" lang="en-US" sz="1600" u="none" cap="none" strike="noStrike">
                <a:solidFill>
                  <a:srgbClr val="D98A3D"/>
                </a:solidFill>
                <a:latin typeface="Arial"/>
                <a:ea typeface="Arial"/>
                <a:cs typeface="Arial"/>
                <a:sym typeface="Arial"/>
              </a:rPr>
              <a:t>2.  </a:t>
            </a:r>
            <a:r>
              <a:rPr b="0" i="0" lang="en-US" sz="1600" u="none" cap="none" strike="noStrike">
                <a:solidFill>
                  <a:srgbClr val="24262B"/>
                </a:solidFill>
                <a:latin typeface="Arial"/>
                <a:ea typeface="Arial"/>
                <a:cs typeface="Arial"/>
                <a:sym typeface="Arial"/>
              </a:rPr>
              <a:t>Purpose</a:t>
            </a:r>
            <a:endParaRPr b="0" i="0" sz="16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D98A3D"/>
              </a:buClr>
              <a:buSzPts val="1600"/>
              <a:buFont typeface="Arial"/>
              <a:buNone/>
            </a:pPr>
            <a:r>
              <a:rPr b="1" i="0" lang="en-US" sz="1600" u="none" cap="none" strike="noStrike">
                <a:solidFill>
                  <a:srgbClr val="D98A3D"/>
                </a:solidFill>
                <a:latin typeface="Arial"/>
                <a:ea typeface="Arial"/>
                <a:cs typeface="Arial"/>
                <a:sym typeface="Arial"/>
              </a:rPr>
              <a:t>3.  </a:t>
            </a:r>
            <a:r>
              <a:rPr b="0" i="0" lang="en-US" sz="1600" u="none" cap="none" strike="noStrike">
                <a:solidFill>
                  <a:srgbClr val="24262B"/>
                </a:solidFill>
                <a:latin typeface="Arial"/>
                <a:ea typeface="Arial"/>
                <a:cs typeface="Arial"/>
                <a:sym typeface="Arial"/>
              </a:rPr>
              <a:t>What Is the Program</a:t>
            </a:r>
            <a:endParaRPr b="0" i="0" sz="16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D98A3D"/>
              </a:buClr>
              <a:buSzPts val="1600"/>
              <a:buFont typeface="Arial"/>
              <a:buNone/>
            </a:pPr>
            <a:r>
              <a:rPr b="1" i="0" lang="en-US" sz="1600" u="none" cap="none" strike="noStrike">
                <a:solidFill>
                  <a:srgbClr val="D98A3D"/>
                </a:solidFill>
                <a:latin typeface="Arial"/>
                <a:ea typeface="Arial"/>
                <a:cs typeface="Arial"/>
                <a:sym typeface="Arial"/>
              </a:rPr>
              <a:t>4.  </a:t>
            </a:r>
            <a:r>
              <a:rPr b="0" i="0" lang="en-US" sz="1600" u="none" cap="none" strike="noStrike">
                <a:solidFill>
                  <a:srgbClr val="24262B"/>
                </a:solidFill>
                <a:latin typeface="Arial"/>
                <a:ea typeface="Arial"/>
                <a:cs typeface="Arial"/>
                <a:sym typeface="Arial"/>
              </a:rPr>
              <a:t>Inside the Program</a:t>
            </a:r>
            <a:endParaRPr b="0" i="0" sz="16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D98A3D"/>
              </a:buClr>
              <a:buSzPts val="1600"/>
              <a:buFont typeface="Arial"/>
              <a:buNone/>
            </a:pPr>
            <a:r>
              <a:rPr b="1" i="0" lang="en-US" sz="1600" u="none" cap="none" strike="noStrike">
                <a:solidFill>
                  <a:srgbClr val="D98A3D"/>
                </a:solidFill>
                <a:latin typeface="Arial"/>
                <a:ea typeface="Arial"/>
                <a:cs typeface="Arial"/>
                <a:sym typeface="Arial"/>
              </a:rPr>
              <a:t>5.  </a:t>
            </a:r>
            <a:r>
              <a:rPr b="0" i="0" lang="en-US" sz="1600" u="none" cap="none" strike="noStrike">
                <a:solidFill>
                  <a:srgbClr val="24262B"/>
                </a:solidFill>
                <a:latin typeface="Arial"/>
                <a:ea typeface="Arial"/>
                <a:cs typeface="Arial"/>
                <a:sym typeface="Arial"/>
              </a:rPr>
              <a:t>The Tri-Cities Career Showcase</a:t>
            </a:r>
            <a:endParaRPr b="0" i="0" sz="16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D98A3D"/>
              </a:buClr>
              <a:buSzPts val="1600"/>
              <a:buFont typeface="Arial"/>
              <a:buNone/>
            </a:pPr>
            <a:r>
              <a:rPr b="1" i="0" lang="en-US" sz="1600" u="none" cap="none" strike="noStrike">
                <a:solidFill>
                  <a:srgbClr val="D98A3D"/>
                </a:solidFill>
                <a:latin typeface="Arial"/>
                <a:ea typeface="Arial"/>
                <a:cs typeface="Arial"/>
                <a:sym typeface="Arial"/>
              </a:rPr>
              <a:t>6.  </a:t>
            </a:r>
            <a:r>
              <a:rPr b="0" i="0" lang="en-US" sz="1600" u="none" cap="none" strike="noStrike">
                <a:solidFill>
                  <a:srgbClr val="24262B"/>
                </a:solidFill>
                <a:latin typeface="Arial"/>
                <a:ea typeface="Arial"/>
                <a:cs typeface="Arial"/>
                <a:sym typeface="Arial"/>
              </a:rPr>
              <a:t>Proposed Timeline</a:t>
            </a:r>
            <a:endParaRPr b="0" i="0" sz="16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D98A3D"/>
              </a:buClr>
              <a:buSzPts val="1600"/>
              <a:buFont typeface="Arial"/>
              <a:buNone/>
            </a:pPr>
            <a:r>
              <a:rPr b="1" i="0" lang="en-US" sz="1600" u="none" cap="none" strike="noStrike">
                <a:solidFill>
                  <a:srgbClr val="D98A3D"/>
                </a:solidFill>
                <a:latin typeface="Arial"/>
                <a:ea typeface="Arial"/>
                <a:cs typeface="Arial"/>
                <a:sym typeface="Arial"/>
              </a:rPr>
              <a:t>7.  </a:t>
            </a:r>
            <a:r>
              <a:rPr b="0" i="0" lang="en-US" sz="1600" u="none" cap="none" strike="noStrike">
                <a:solidFill>
                  <a:srgbClr val="24262B"/>
                </a:solidFill>
                <a:latin typeface="Arial"/>
                <a:ea typeface="Arial"/>
                <a:cs typeface="Arial"/>
                <a:sym typeface="Arial"/>
              </a:rPr>
              <a:t>The Ask</a:t>
            </a:r>
            <a:endParaRPr b="0" i="0" sz="16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D98A3D"/>
              </a:buClr>
              <a:buSzPts val="1600"/>
              <a:buFont typeface="Arial"/>
              <a:buNone/>
            </a:pPr>
            <a:r>
              <a:rPr b="1" i="0" lang="en-US" sz="1600" u="none" cap="none" strike="noStrike">
                <a:solidFill>
                  <a:srgbClr val="D98A3D"/>
                </a:solidFill>
                <a:latin typeface="Arial"/>
                <a:ea typeface="Arial"/>
                <a:cs typeface="Arial"/>
                <a:sym typeface="Arial"/>
              </a:rPr>
              <a:t>8.  </a:t>
            </a:r>
            <a:r>
              <a:rPr b="0" i="0" lang="en-US" sz="1600" u="none" cap="none" strike="noStrike">
                <a:solidFill>
                  <a:srgbClr val="24262B"/>
                </a:solidFill>
                <a:latin typeface="Arial"/>
                <a:ea typeface="Arial"/>
                <a:cs typeface="Arial"/>
                <a:sym typeface="Arial"/>
              </a:rPr>
              <a:t>Contact and Next Steps</a:t>
            </a:r>
            <a:endParaRPr b="0" i="0" sz="1600" u="none" cap="none" strike="noStrike">
              <a:solidFill>
                <a:schemeClr val="dk1"/>
              </a:solidFill>
              <a:latin typeface="Calibri"/>
              <a:ea typeface="Calibri"/>
              <a:cs typeface="Calibri"/>
              <a:sym typeface="Calibri"/>
            </a:endParaRPr>
          </a:p>
        </p:txBody>
      </p:sp>
      <p:pic>
        <p:nvPicPr>
          <p:cNvPr descr="/home/claude/vsu-deck/photos/overview.jpg" id="34" name="Google Shape;34;p2"/>
          <p:cNvPicPr preferRelativeResize="0"/>
          <p:nvPr/>
        </p:nvPicPr>
        <p:blipFill rotWithShape="1">
          <a:blip r:embed="rId4">
            <a:alphaModFix/>
          </a:blip>
          <a:srcRect b="0" l="0" r="0" t="0"/>
          <a:stretch/>
        </p:blipFill>
        <p:spPr>
          <a:xfrm>
            <a:off x="4480560" y="1600200"/>
            <a:ext cx="7132320" cy="48463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 name="Shape 39"/>
        <p:cNvGrpSpPr/>
        <p:nvPr/>
      </p:nvGrpSpPr>
      <p:grpSpPr>
        <a:xfrm>
          <a:off x="0" y="0"/>
          <a:ext cx="0" cy="0"/>
          <a:chOff x="0" y="0"/>
          <a:chExt cx="0" cy="0"/>
        </a:xfrm>
      </p:grpSpPr>
      <p:sp>
        <p:nvSpPr>
          <p:cNvPr id="40" name="Google Shape;40;p3"/>
          <p:cNvSpPr/>
          <p:nvPr/>
        </p:nvSpPr>
        <p:spPr>
          <a:xfrm>
            <a:off x="548640" y="54864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3000"/>
              <a:buFont typeface="Arial"/>
              <a:buNone/>
            </a:pPr>
            <a:r>
              <a:rPr b="1" i="0" lang="en-US" sz="3000" u="none" cap="none" strike="noStrike">
                <a:solidFill>
                  <a:srgbClr val="24262B"/>
                </a:solidFill>
                <a:latin typeface="Arial"/>
                <a:ea typeface="Arial"/>
                <a:cs typeface="Arial"/>
                <a:sym typeface="Arial"/>
              </a:rPr>
              <a:t>Who We Are</a:t>
            </a:r>
            <a:endParaRPr b="0" i="0" sz="3000" u="none" cap="none" strike="noStrike">
              <a:solidFill>
                <a:schemeClr val="dk1"/>
              </a:solidFill>
              <a:latin typeface="Calibri"/>
              <a:ea typeface="Calibri"/>
              <a:cs typeface="Calibri"/>
              <a:sym typeface="Calibri"/>
            </a:endParaRPr>
          </a:p>
        </p:txBody>
      </p:sp>
      <p:sp>
        <p:nvSpPr>
          <p:cNvPr id="41" name="Google Shape;41;p3"/>
          <p:cNvSpPr/>
          <p:nvPr/>
        </p:nvSpPr>
        <p:spPr>
          <a:xfrm>
            <a:off x="548640" y="1691640"/>
            <a:ext cx="2560320" cy="73152"/>
          </a:xfrm>
          <a:prstGeom prst="rect">
            <a:avLst/>
          </a:prstGeom>
          <a:solidFill>
            <a:srgbClr val="18A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548640" y="1764792"/>
            <a:ext cx="2560320" cy="1572768"/>
          </a:xfrm>
          <a:prstGeom prst="rect">
            <a:avLst/>
          </a:prstGeom>
          <a:solidFill>
            <a:srgbClr val="F2F2F2"/>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548640" y="1764792"/>
            <a:ext cx="2560320" cy="15727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464B"/>
              </a:buClr>
              <a:buSzPts val="1100"/>
              <a:buFont typeface="Arial"/>
              <a:buNone/>
            </a:pPr>
            <a:r>
              <a:rPr b="0" i="0" lang="en-US" sz="1100" u="none" cap="none" strike="noStrike">
                <a:solidFill>
                  <a:srgbClr val="43464B"/>
                </a:solidFill>
                <a:latin typeface="Arial"/>
                <a:ea typeface="Arial"/>
                <a:cs typeface="Arial"/>
                <a:sym typeface="Arial"/>
              </a:rPr>
              <a:t>[Photo]</a:t>
            </a:r>
            <a:endParaRPr b="0" i="0" sz="1100" u="none" cap="none" strike="noStrike">
              <a:solidFill>
                <a:schemeClr val="dk1"/>
              </a:solidFill>
              <a:latin typeface="Calibri"/>
              <a:ea typeface="Calibri"/>
              <a:cs typeface="Calibri"/>
              <a:sym typeface="Calibri"/>
            </a:endParaRPr>
          </a:p>
        </p:txBody>
      </p:sp>
      <p:sp>
        <p:nvSpPr>
          <p:cNvPr id="44" name="Google Shape;44;p3"/>
          <p:cNvSpPr/>
          <p:nvPr/>
        </p:nvSpPr>
        <p:spPr>
          <a:xfrm>
            <a:off x="548640" y="3474720"/>
            <a:ext cx="256032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4262B"/>
              </a:buClr>
              <a:buSzPts val="1300"/>
              <a:buFont typeface="Arial"/>
              <a:buNone/>
            </a:pPr>
            <a:r>
              <a:rPr b="1" i="0" lang="en-US" sz="1300" u="none" cap="none" strike="noStrike">
                <a:solidFill>
                  <a:srgbClr val="24262B"/>
                </a:solidFill>
                <a:latin typeface="Arial"/>
                <a:ea typeface="Arial"/>
                <a:cs typeface="Arial"/>
                <a:sym typeface="Arial"/>
              </a:rPr>
              <a:t>Dr. Shawn M. Nicholson</a:t>
            </a:r>
            <a:endParaRPr b="0" i="0" sz="1300" u="none" cap="none" strike="noStrike">
              <a:solidFill>
                <a:schemeClr val="dk1"/>
              </a:solidFill>
              <a:latin typeface="Calibri"/>
              <a:ea typeface="Calibri"/>
              <a:cs typeface="Calibri"/>
              <a:sym typeface="Calibri"/>
            </a:endParaRPr>
          </a:p>
        </p:txBody>
      </p:sp>
      <p:sp>
        <p:nvSpPr>
          <p:cNvPr id="45" name="Google Shape;45;p3"/>
          <p:cNvSpPr/>
          <p:nvPr/>
        </p:nvSpPr>
        <p:spPr>
          <a:xfrm>
            <a:off x="548640" y="3959352"/>
            <a:ext cx="82296" cy="82296"/>
          </a:xfrm>
          <a:prstGeom prst="rect">
            <a:avLst/>
          </a:prstGeom>
          <a:solidFill>
            <a:srgbClr val="18A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704088" y="3886200"/>
            <a:ext cx="2404872"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Chief Executive Officer</a:t>
            </a:r>
            <a:endParaRPr b="0" i="0" sz="1100" u="none" cap="none" strike="noStrike">
              <a:solidFill>
                <a:schemeClr val="dk1"/>
              </a:solidFill>
              <a:latin typeface="Calibri"/>
              <a:ea typeface="Calibri"/>
              <a:cs typeface="Calibri"/>
              <a:sym typeface="Calibri"/>
            </a:endParaRPr>
          </a:p>
        </p:txBody>
      </p:sp>
      <p:sp>
        <p:nvSpPr>
          <p:cNvPr id="47" name="Google Shape;47;p3"/>
          <p:cNvSpPr/>
          <p:nvPr/>
        </p:nvSpPr>
        <p:spPr>
          <a:xfrm>
            <a:off x="548640" y="4251960"/>
            <a:ext cx="25603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3A3D42"/>
              </a:buClr>
              <a:buSzPts val="1100"/>
              <a:buFont typeface="Arial"/>
              <a:buNone/>
            </a:pPr>
            <a:r>
              <a:rPr b="0" i="0" lang="en-US" sz="1100" u="none" cap="none" strike="noStrike">
                <a:solidFill>
                  <a:srgbClr val="3A3D42"/>
                </a:solidFill>
                <a:latin typeface="Arial"/>
                <a:ea typeface="Arial"/>
                <a:cs typeface="Arial"/>
                <a:sym typeface="Arial"/>
              </a:rPr>
              <a:t>Background running workforce development programs. [Track record figures to be confirmed]</a:t>
            </a:r>
            <a:endParaRPr b="0" i="0" sz="1100" u="none" cap="none" strike="noStrike">
              <a:solidFill>
                <a:schemeClr val="dk1"/>
              </a:solidFill>
              <a:latin typeface="Calibri"/>
              <a:ea typeface="Calibri"/>
              <a:cs typeface="Calibri"/>
              <a:sym typeface="Calibri"/>
            </a:endParaRPr>
          </a:p>
        </p:txBody>
      </p:sp>
      <p:sp>
        <p:nvSpPr>
          <p:cNvPr id="48" name="Google Shape;48;p3"/>
          <p:cNvSpPr/>
          <p:nvPr/>
        </p:nvSpPr>
        <p:spPr>
          <a:xfrm>
            <a:off x="3383280" y="1691640"/>
            <a:ext cx="2560320" cy="73152"/>
          </a:xfrm>
          <a:prstGeom prst="rect">
            <a:avLst/>
          </a:prstGeom>
          <a:solidFill>
            <a:srgbClr val="D98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3383280" y="1764792"/>
            <a:ext cx="2560320" cy="1572768"/>
          </a:xfrm>
          <a:prstGeom prst="rect">
            <a:avLst/>
          </a:prstGeom>
          <a:solidFill>
            <a:srgbClr val="F2F2F2"/>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3383280" y="1764792"/>
            <a:ext cx="2560320" cy="15727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464B"/>
              </a:buClr>
              <a:buSzPts val="1100"/>
              <a:buFont typeface="Arial"/>
              <a:buNone/>
            </a:pPr>
            <a:r>
              <a:rPr b="0" i="0" lang="en-US" sz="1100" u="none" cap="none" strike="noStrike">
                <a:solidFill>
                  <a:srgbClr val="43464B"/>
                </a:solidFill>
                <a:latin typeface="Arial"/>
                <a:ea typeface="Arial"/>
                <a:cs typeface="Arial"/>
                <a:sym typeface="Arial"/>
              </a:rPr>
              <a:t>[Photo]</a:t>
            </a:r>
            <a:endParaRPr b="0" i="0" sz="1100" u="none" cap="none" strike="noStrike">
              <a:solidFill>
                <a:schemeClr val="dk1"/>
              </a:solidFill>
              <a:latin typeface="Calibri"/>
              <a:ea typeface="Calibri"/>
              <a:cs typeface="Calibri"/>
              <a:sym typeface="Calibri"/>
            </a:endParaRPr>
          </a:p>
        </p:txBody>
      </p:sp>
      <p:sp>
        <p:nvSpPr>
          <p:cNvPr id="51" name="Google Shape;51;p3"/>
          <p:cNvSpPr/>
          <p:nvPr/>
        </p:nvSpPr>
        <p:spPr>
          <a:xfrm>
            <a:off x="3383280" y="3474720"/>
            <a:ext cx="256032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4262B"/>
              </a:buClr>
              <a:buSzPts val="1300"/>
              <a:buFont typeface="Arial"/>
              <a:buNone/>
            </a:pPr>
            <a:r>
              <a:rPr b="1" i="0" lang="en-US" sz="1300" u="none" cap="none" strike="noStrike">
                <a:solidFill>
                  <a:srgbClr val="24262B"/>
                </a:solidFill>
                <a:latin typeface="Arial"/>
                <a:ea typeface="Arial"/>
                <a:cs typeface="Arial"/>
                <a:sym typeface="Arial"/>
              </a:rPr>
              <a:t>Javon Guerrier</a:t>
            </a:r>
            <a:endParaRPr b="0" i="0" sz="1300" u="none" cap="none" strike="noStrike">
              <a:solidFill>
                <a:schemeClr val="dk1"/>
              </a:solidFill>
              <a:latin typeface="Calibri"/>
              <a:ea typeface="Calibri"/>
              <a:cs typeface="Calibri"/>
              <a:sym typeface="Calibri"/>
            </a:endParaRPr>
          </a:p>
        </p:txBody>
      </p:sp>
      <p:sp>
        <p:nvSpPr>
          <p:cNvPr id="52" name="Google Shape;52;p3"/>
          <p:cNvSpPr/>
          <p:nvPr/>
        </p:nvSpPr>
        <p:spPr>
          <a:xfrm>
            <a:off x="3383280" y="3959352"/>
            <a:ext cx="82296" cy="82296"/>
          </a:xfrm>
          <a:prstGeom prst="rect">
            <a:avLst/>
          </a:prstGeom>
          <a:solidFill>
            <a:srgbClr val="D98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3538728" y="3886200"/>
            <a:ext cx="2404872"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Program Director</a:t>
            </a:r>
            <a:endParaRPr b="0" i="0" sz="1100" u="none" cap="none" strike="noStrike">
              <a:solidFill>
                <a:schemeClr val="dk1"/>
              </a:solidFill>
              <a:latin typeface="Calibri"/>
              <a:ea typeface="Calibri"/>
              <a:cs typeface="Calibri"/>
              <a:sym typeface="Calibri"/>
            </a:endParaRPr>
          </a:p>
        </p:txBody>
      </p:sp>
      <p:sp>
        <p:nvSpPr>
          <p:cNvPr id="54" name="Google Shape;54;p3"/>
          <p:cNvSpPr/>
          <p:nvPr/>
        </p:nvSpPr>
        <p:spPr>
          <a:xfrm>
            <a:off x="3383280" y="4251960"/>
            <a:ext cx="25603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3A3D42"/>
              </a:buClr>
              <a:buSzPts val="1100"/>
              <a:buFont typeface="Arial"/>
              <a:buNone/>
            </a:pPr>
            <a:r>
              <a:rPr b="0" i="0" lang="en-US" sz="1100" u="none" cap="none" strike="noStrike">
                <a:solidFill>
                  <a:srgbClr val="3A3D42"/>
                </a:solidFill>
                <a:latin typeface="Arial"/>
                <a:ea typeface="Arial"/>
                <a:cs typeface="Arial"/>
                <a:sym typeface="Arial"/>
              </a:rPr>
              <a:t>Business and technical education specialist. Former Business Technology Solutions Analyst and UX Designer in an AI / Data Engineering practice. Educator, [Richmond / Petersburg — confirm] City Public Schools.</a:t>
            </a:r>
            <a:endParaRPr b="0" i="0" sz="1100" u="none" cap="none" strike="noStrike">
              <a:solidFill>
                <a:schemeClr val="dk1"/>
              </a:solidFill>
              <a:latin typeface="Calibri"/>
              <a:ea typeface="Calibri"/>
              <a:cs typeface="Calibri"/>
              <a:sym typeface="Calibri"/>
            </a:endParaRPr>
          </a:p>
        </p:txBody>
      </p:sp>
      <p:sp>
        <p:nvSpPr>
          <p:cNvPr id="55" name="Google Shape;55;p3"/>
          <p:cNvSpPr/>
          <p:nvPr/>
        </p:nvSpPr>
        <p:spPr>
          <a:xfrm>
            <a:off x="6217920" y="1691640"/>
            <a:ext cx="2560320" cy="73152"/>
          </a:xfrm>
          <a:prstGeom prst="rect">
            <a:avLst/>
          </a:prstGeom>
          <a:solidFill>
            <a:srgbClr val="4C6F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6217920" y="1764792"/>
            <a:ext cx="2560320" cy="1572768"/>
          </a:xfrm>
          <a:prstGeom prst="rect">
            <a:avLst/>
          </a:prstGeom>
          <a:solidFill>
            <a:srgbClr val="F2F2F2"/>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6217920" y="1764792"/>
            <a:ext cx="2560320" cy="15727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464B"/>
              </a:buClr>
              <a:buSzPts val="1100"/>
              <a:buFont typeface="Arial"/>
              <a:buNone/>
            </a:pPr>
            <a:r>
              <a:rPr b="0" i="0" lang="en-US" sz="1100" u="none" cap="none" strike="noStrike">
                <a:solidFill>
                  <a:srgbClr val="43464B"/>
                </a:solidFill>
                <a:latin typeface="Arial"/>
                <a:ea typeface="Arial"/>
                <a:cs typeface="Arial"/>
                <a:sym typeface="Arial"/>
              </a:rPr>
              <a:t>[Photo]</a:t>
            </a:r>
            <a:endParaRPr b="0" i="0" sz="1100" u="none" cap="none" strike="noStrike">
              <a:solidFill>
                <a:schemeClr val="dk1"/>
              </a:solidFill>
              <a:latin typeface="Calibri"/>
              <a:ea typeface="Calibri"/>
              <a:cs typeface="Calibri"/>
              <a:sym typeface="Calibri"/>
            </a:endParaRPr>
          </a:p>
        </p:txBody>
      </p:sp>
      <p:sp>
        <p:nvSpPr>
          <p:cNvPr id="58" name="Google Shape;58;p3"/>
          <p:cNvSpPr/>
          <p:nvPr/>
        </p:nvSpPr>
        <p:spPr>
          <a:xfrm>
            <a:off x="6217920" y="3474720"/>
            <a:ext cx="256032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4262B"/>
              </a:buClr>
              <a:buSzPts val="1300"/>
              <a:buFont typeface="Arial"/>
              <a:buNone/>
            </a:pPr>
            <a:r>
              <a:rPr b="1" i="0" lang="en-US" sz="1300" u="none" cap="none" strike="noStrike">
                <a:solidFill>
                  <a:srgbClr val="24262B"/>
                </a:solidFill>
                <a:latin typeface="Arial"/>
                <a:ea typeface="Arial"/>
                <a:cs typeface="Arial"/>
                <a:sym typeface="Arial"/>
              </a:rPr>
              <a:t>Andrew Foulks</a:t>
            </a:r>
            <a:endParaRPr b="0" i="0" sz="1300" u="none" cap="none" strike="noStrike">
              <a:solidFill>
                <a:schemeClr val="dk1"/>
              </a:solidFill>
              <a:latin typeface="Calibri"/>
              <a:ea typeface="Calibri"/>
              <a:cs typeface="Calibri"/>
              <a:sym typeface="Calibri"/>
            </a:endParaRPr>
          </a:p>
        </p:txBody>
      </p:sp>
      <p:sp>
        <p:nvSpPr>
          <p:cNvPr id="59" name="Google Shape;59;p3"/>
          <p:cNvSpPr/>
          <p:nvPr/>
        </p:nvSpPr>
        <p:spPr>
          <a:xfrm>
            <a:off x="6217920" y="3959352"/>
            <a:ext cx="82296" cy="82296"/>
          </a:xfrm>
          <a:prstGeom prst="rect">
            <a:avLst/>
          </a:prstGeom>
          <a:solidFill>
            <a:srgbClr val="4C6F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6373368" y="3886200"/>
            <a:ext cx="2404872"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Curriculum Developer</a:t>
            </a:r>
            <a:endParaRPr b="0" i="0" sz="1100" u="none" cap="none" strike="noStrike">
              <a:solidFill>
                <a:schemeClr val="dk1"/>
              </a:solidFill>
              <a:latin typeface="Calibri"/>
              <a:ea typeface="Calibri"/>
              <a:cs typeface="Calibri"/>
              <a:sym typeface="Calibri"/>
            </a:endParaRPr>
          </a:p>
        </p:txBody>
      </p:sp>
      <p:sp>
        <p:nvSpPr>
          <p:cNvPr id="61" name="Google Shape;61;p3"/>
          <p:cNvSpPr/>
          <p:nvPr/>
        </p:nvSpPr>
        <p:spPr>
          <a:xfrm>
            <a:off x="6217920" y="4251960"/>
            <a:ext cx="25603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3A3D42"/>
              </a:buClr>
              <a:buSzPts val="1100"/>
              <a:buFont typeface="Arial"/>
              <a:buNone/>
            </a:pPr>
            <a:r>
              <a:rPr b="0" i="0" lang="en-US" sz="1100" u="none" cap="none" strike="noStrike">
                <a:solidFill>
                  <a:srgbClr val="3A3D42"/>
                </a:solidFill>
                <a:latin typeface="Arial"/>
                <a:ea typeface="Arial"/>
                <a:cs typeface="Arial"/>
                <a:sym typeface="Arial"/>
              </a:rPr>
              <a:t>Hardware and software integration. Agentic AI Council member. Prior experience at NASA.</a:t>
            </a:r>
            <a:endParaRPr b="0" i="0" sz="1100" u="none" cap="none" strike="noStrike">
              <a:solidFill>
                <a:schemeClr val="dk1"/>
              </a:solidFill>
              <a:latin typeface="Calibri"/>
              <a:ea typeface="Calibri"/>
              <a:cs typeface="Calibri"/>
              <a:sym typeface="Calibri"/>
            </a:endParaRPr>
          </a:p>
        </p:txBody>
      </p:sp>
      <p:sp>
        <p:nvSpPr>
          <p:cNvPr id="62" name="Google Shape;62;p3"/>
          <p:cNvSpPr/>
          <p:nvPr/>
        </p:nvSpPr>
        <p:spPr>
          <a:xfrm>
            <a:off x="9052560" y="1691640"/>
            <a:ext cx="2560320" cy="73152"/>
          </a:xfrm>
          <a:prstGeom prst="rect">
            <a:avLst/>
          </a:prstGeom>
          <a:solidFill>
            <a:srgbClr val="18A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9052560" y="1764792"/>
            <a:ext cx="2560320" cy="1572768"/>
          </a:xfrm>
          <a:prstGeom prst="rect">
            <a:avLst/>
          </a:prstGeom>
          <a:solidFill>
            <a:srgbClr val="F2F2F2"/>
          </a:solidFill>
          <a:ln cap="flat" cmpd="sng" w="9525">
            <a:solidFill>
              <a:srgbClr val="DDDD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9052560" y="1764792"/>
            <a:ext cx="2560320" cy="15727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3464B"/>
              </a:buClr>
              <a:buSzPts val="1100"/>
              <a:buFont typeface="Arial"/>
              <a:buNone/>
            </a:pPr>
            <a:r>
              <a:rPr b="0" i="0" lang="en-US" sz="1100" u="none" cap="none" strike="noStrike">
                <a:solidFill>
                  <a:srgbClr val="43464B"/>
                </a:solidFill>
                <a:latin typeface="Arial"/>
                <a:ea typeface="Arial"/>
                <a:cs typeface="Arial"/>
                <a:sym typeface="Arial"/>
              </a:rPr>
              <a:t>[Photo]</a:t>
            </a:r>
            <a:endParaRPr b="0" i="0" sz="1100" u="none" cap="none" strike="noStrike">
              <a:solidFill>
                <a:schemeClr val="dk1"/>
              </a:solidFill>
              <a:latin typeface="Calibri"/>
              <a:ea typeface="Calibri"/>
              <a:cs typeface="Calibri"/>
              <a:sym typeface="Calibri"/>
            </a:endParaRPr>
          </a:p>
        </p:txBody>
      </p:sp>
      <p:sp>
        <p:nvSpPr>
          <p:cNvPr id="65" name="Google Shape;65;p3"/>
          <p:cNvSpPr/>
          <p:nvPr/>
        </p:nvSpPr>
        <p:spPr>
          <a:xfrm>
            <a:off x="9052560" y="3474720"/>
            <a:ext cx="256032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4262B"/>
              </a:buClr>
              <a:buSzPts val="1300"/>
              <a:buFont typeface="Arial"/>
              <a:buNone/>
            </a:pPr>
            <a:r>
              <a:rPr b="1" i="0" lang="en-US" sz="1300" u="none" cap="none" strike="noStrike">
                <a:solidFill>
                  <a:srgbClr val="24262B"/>
                </a:solidFill>
                <a:latin typeface="Arial"/>
                <a:ea typeface="Arial"/>
                <a:cs typeface="Arial"/>
                <a:sym typeface="Arial"/>
              </a:rPr>
              <a:t>Emanuel Perez</a:t>
            </a:r>
            <a:endParaRPr b="0" i="0" sz="1300" u="none" cap="none" strike="noStrike">
              <a:solidFill>
                <a:schemeClr val="dk1"/>
              </a:solidFill>
              <a:latin typeface="Calibri"/>
              <a:ea typeface="Calibri"/>
              <a:cs typeface="Calibri"/>
              <a:sym typeface="Calibri"/>
            </a:endParaRPr>
          </a:p>
        </p:txBody>
      </p:sp>
      <p:sp>
        <p:nvSpPr>
          <p:cNvPr id="66" name="Google Shape;66;p3"/>
          <p:cNvSpPr/>
          <p:nvPr/>
        </p:nvSpPr>
        <p:spPr>
          <a:xfrm>
            <a:off x="9052560" y="3959352"/>
            <a:ext cx="82296" cy="82296"/>
          </a:xfrm>
          <a:prstGeom prst="rect">
            <a:avLst/>
          </a:prstGeom>
          <a:solidFill>
            <a:srgbClr val="18A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9207998" y="3886200"/>
            <a:ext cx="28842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Curriculum Developer &amp; Instructor</a:t>
            </a:r>
            <a:endParaRPr b="0" i="0" sz="1100" u="none" cap="none" strike="noStrike">
              <a:solidFill>
                <a:schemeClr val="dk1"/>
              </a:solidFill>
              <a:latin typeface="Calibri"/>
              <a:ea typeface="Calibri"/>
              <a:cs typeface="Calibri"/>
              <a:sym typeface="Calibri"/>
            </a:endParaRPr>
          </a:p>
        </p:txBody>
      </p:sp>
      <p:sp>
        <p:nvSpPr>
          <p:cNvPr id="68" name="Google Shape;68;p3"/>
          <p:cNvSpPr/>
          <p:nvPr/>
        </p:nvSpPr>
        <p:spPr>
          <a:xfrm>
            <a:off x="9052560" y="4251960"/>
            <a:ext cx="256032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3A3D42"/>
              </a:buClr>
              <a:buSzPts val="1100"/>
              <a:buFont typeface="Arial"/>
              <a:buNone/>
            </a:pPr>
            <a:r>
              <a:rPr b="0" i="0" lang="en-US" sz="1100" u="none" cap="none" strike="noStrike">
                <a:solidFill>
                  <a:srgbClr val="3A3D42"/>
                </a:solidFill>
                <a:latin typeface="Arial"/>
                <a:ea typeface="Arial"/>
                <a:cs typeface="Arial"/>
                <a:sym typeface="Arial"/>
              </a:rPr>
              <a:t>Entrepreneurial education programs, including work with Norfolk State and Unlock Alabama. Prior experience with BuildSpace.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sp>
        <p:nvSpPr>
          <p:cNvPr id="74" name="Google Shape;74;p4"/>
          <p:cNvSpPr/>
          <p:nvPr/>
        </p:nvSpPr>
        <p:spPr>
          <a:xfrm>
            <a:off x="548640" y="54864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3000"/>
              <a:buFont typeface="Arial"/>
              <a:buNone/>
            </a:pPr>
            <a:r>
              <a:rPr b="1" i="0" lang="en-US" sz="3000" u="none" cap="none" strike="noStrike">
                <a:solidFill>
                  <a:srgbClr val="24262B"/>
                </a:solidFill>
                <a:latin typeface="Arial"/>
                <a:ea typeface="Arial"/>
                <a:cs typeface="Arial"/>
                <a:sym typeface="Arial"/>
              </a:rPr>
              <a:t>Purpose</a:t>
            </a:r>
            <a:endParaRPr b="0" i="0" sz="3000" u="none" cap="none" strike="noStrike">
              <a:solidFill>
                <a:schemeClr val="dk1"/>
              </a:solidFill>
              <a:latin typeface="Calibri"/>
              <a:ea typeface="Calibri"/>
              <a:cs typeface="Calibri"/>
              <a:sym typeface="Calibri"/>
            </a:endParaRPr>
          </a:p>
        </p:txBody>
      </p:sp>
      <p:sp>
        <p:nvSpPr>
          <p:cNvPr id="75" name="Google Shape;75;p4"/>
          <p:cNvSpPr/>
          <p:nvPr/>
        </p:nvSpPr>
        <p:spPr>
          <a:xfrm>
            <a:off x="548640" y="1600200"/>
            <a:ext cx="6675120" cy="100584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3A3D42"/>
              </a:buClr>
              <a:buSzPts val="1500"/>
              <a:buFont typeface="Arial"/>
              <a:buNone/>
            </a:pPr>
            <a:r>
              <a:rPr b="0" i="0" lang="en-US" sz="1500" u="none" cap="none" strike="noStrike">
                <a:solidFill>
                  <a:srgbClr val="3A3D42"/>
                </a:solidFill>
                <a:latin typeface="Arial"/>
                <a:ea typeface="Arial"/>
                <a:cs typeface="Arial"/>
                <a:sym typeface="Arial"/>
              </a:rPr>
              <a:t>The Tri-Cities region is producing that human capital, but some of the most talented students leave the region that helped develop them. That exit weakens the region's own capacity for economic growth.</a:t>
            </a:r>
            <a:endParaRPr b="0" i="0" sz="1500" u="none" cap="none" strike="noStrike">
              <a:solidFill>
                <a:schemeClr val="dk1"/>
              </a:solidFill>
              <a:latin typeface="Calibri"/>
              <a:ea typeface="Calibri"/>
              <a:cs typeface="Calibri"/>
              <a:sym typeface="Calibri"/>
            </a:endParaRPr>
          </a:p>
        </p:txBody>
      </p:sp>
      <p:cxnSp>
        <p:nvCxnSpPr>
          <p:cNvPr id="76" name="Google Shape;76;p4"/>
          <p:cNvCxnSpPr/>
          <p:nvPr/>
        </p:nvCxnSpPr>
        <p:spPr>
          <a:xfrm>
            <a:off x="2171700" y="3172968"/>
            <a:ext cx="0" cy="73152"/>
          </a:xfrm>
          <a:prstGeom prst="straightConnector1">
            <a:avLst/>
          </a:prstGeom>
          <a:noFill/>
          <a:ln cap="flat" cmpd="sng" w="12700">
            <a:solidFill>
              <a:srgbClr val="18A999"/>
            </a:solidFill>
            <a:prstDash val="dash"/>
            <a:round/>
            <a:headEnd len="sm" w="sm" type="none"/>
            <a:tailEnd len="sm" w="sm" type="none"/>
          </a:ln>
        </p:spPr>
      </p:cxnSp>
      <p:sp>
        <p:nvSpPr>
          <p:cNvPr id="77" name="Google Shape;77;p4"/>
          <p:cNvSpPr/>
          <p:nvPr/>
        </p:nvSpPr>
        <p:spPr>
          <a:xfrm>
            <a:off x="1988820" y="2807208"/>
            <a:ext cx="365760" cy="365760"/>
          </a:xfrm>
          <a:prstGeom prst="ellipse">
            <a:avLst/>
          </a:prstGeom>
          <a:solidFill>
            <a:srgbClr val="18A999"/>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vsu-deck/icon_industry.png" id="78" name="Google Shape;78;p4"/>
          <p:cNvPicPr preferRelativeResize="0"/>
          <p:nvPr/>
        </p:nvPicPr>
        <p:blipFill rotWithShape="1">
          <a:blip r:embed="rId4">
            <a:alphaModFix/>
          </a:blip>
          <a:srcRect b="0" l="0" r="0" t="0"/>
          <a:stretch/>
        </p:blipFill>
        <p:spPr>
          <a:xfrm>
            <a:off x="2061972" y="2880360"/>
            <a:ext cx="219456" cy="219456"/>
          </a:xfrm>
          <a:prstGeom prst="rect">
            <a:avLst/>
          </a:prstGeom>
          <a:noFill/>
          <a:ln>
            <a:noFill/>
          </a:ln>
        </p:spPr>
      </p:pic>
      <p:sp>
        <p:nvSpPr>
          <p:cNvPr id="79" name="Google Shape;79;p4"/>
          <p:cNvSpPr/>
          <p:nvPr/>
        </p:nvSpPr>
        <p:spPr>
          <a:xfrm>
            <a:off x="548640" y="3246120"/>
            <a:ext cx="3246120" cy="3291840"/>
          </a:xfrm>
          <a:prstGeom prst="rect">
            <a:avLst/>
          </a:prstGeom>
          <a:solidFill>
            <a:srgbClr val="E3F5F2"/>
          </a:solidFill>
          <a:ln cap="flat" cmpd="sng" w="12700">
            <a:solidFill>
              <a:srgbClr val="18A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548640" y="3246120"/>
            <a:ext cx="3246120" cy="329184"/>
          </a:xfrm>
          <a:prstGeom prst="rect">
            <a:avLst/>
          </a:prstGeom>
          <a:solidFill>
            <a:srgbClr val="18A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548640" y="3246120"/>
            <a:ext cx="324612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INDUSTRIES</a:t>
            </a:r>
            <a:endParaRPr b="0" i="0" sz="1200" u="none" cap="none" strike="noStrike">
              <a:solidFill>
                <a:schemeClr val="dk1"/>
              </a:solidFill>
              <a:latin typeface="Calibri"/>
              <a:ea typeface="Calibri"/>
              <a:cs typeface="Calibri"/>
              <a:sym typeface="Calibri"/>
            </a:endParaRPr>
          </a:p>
        </p:txBody>
      </p:sp>
      <p:sp>
        <p:nvSpPr>
          <p:cNvPr id="82" name="Google Shape;82;p4"/>
          <p:cNvSpPr/>
          <p:nvPr/>
        </p:nvSpPr>
        <p:spPr>
          <a:xfrm>
            <a:off x="731520" y="3712464"/>
            <a:ext cx="2880360" cy="2560320"/>
          </a:xfrm>
          <a:prstGeom prst="rect">
            <a:avLst/>
          </a:prstGeom>
          <a:noFill/>
          <a:ln>
            <a:noFill/>
          </a:ln>
        </p:spPr>
        <p:txBody>
          <a:bodyPr anchorCtr="0" anchor="ctr" bIns="45700" lIns="91425" spcFirstLastPara="1" rIns="91425" wrap="square" tIns="45700">
            <a:noAutofit/>
          </a:bodyPr>
          <a:lstStyle/>
          <a:p>
            <a:pPr indent="-165100" lvl="0" marL="165100" marR="0" rtl="0" algn="l">
              <a:spcBef>
                <a:spcPts val="0"/>
              </a:spcBef>
              <a:spcAft>
                <a:spcPts val="0"/>
              </a:spcAft>
              <a:buClr>
                <a:srgbClr val="3A3D42"/>
              </a:buClr>
              <a:buSzPts val="1250"/>
              <a:buFont typeface="Arial"/>
              <a:buChar char="•"/>
            </a:pPr>
            <a:r>
              <a:rPr b="0" i="0" lang="en-US" sz="1250" u="none" cap="none" strike="noStrike">
                <a:solidFill>
                  <a:srgbClr val="3A3D42"/>
                </a:solidFill>
                <a:latin typeface="Arial"/>
                <a:ea typeface="Arial"/>
                <a:cs typeface="Arial"/>
                <a:sym typeface="Arial"/>
              </a:rPr>
              <a:t>Agriculture</a:t>
            </a:r>
            <a:endParaRPr b="0" i="0" sz="1250" u="none" cap="none" strike="noStrike">
              <a:solidFill>
                <a:schemeClr val="dk1"/>
              </a:solidFill>
              <a:latin typeface="Calibri"/>
              <a:ea typeface="Calibri"/>
              <a:cs typeface="Calibri"/>
              <a:sym typeface="Calibri"/>
            </a:endParaRPr>
          </a:p>
          <a:p>
            <a:pPr indent="-165100" lvl="0" marL="165100" marR="0" rtl="0" algn="l">
              <a:spcBef>
                <a:spcPts val="700"/>
              </a:spcBef>
              <a:spcAft>
                <a:spcPts val="0"/>
              </a:spcAft>
              <a:buClr>
                <a:srgbClr val="3A3D42"/>
              </a:buClr>
              <a:buSzPts val="1250"/>
              <a:buFont typeface="Arial"/>
              <a:buChar char="•"/>
            </a:pPr>
            <a:r>
              <a:rPr b="0" i="0" lang="en-US" sz="1250" u="none" cap="none" strike="noStrike">
                <a:solidFill>
                  <a:srgbClr val="3A3D42"/>
                </a:solidFill>
                <a:latin typeface="Arial"/>
                <a:ea typeface="Arial"/>
                <a:cs typeface="Arial"/>
                <a:sym typeface="Arial"/>
              </a:rPr>
              <a:t>Manufacturing</a:t>
            </a:r>
            <a:endParaRPr b="0" i="0" sz="1250" u="none" cap="none" strike="noStrike">
              <a:solidFill>
                <a:schemeClr val="dk1"/>
              </a:solidFill>
              <a:latin typeface="Calibri"/>
              <a:ea typeface="Calibri"/>
              <a:cs typeface="Calibri"/>
              <a:sym typeface="Calibri"/>
            </a:endParaRPr>
          </a:p>
          <a:p>
            <a:pPr indent="-165100" lvl="0" marL="165100" marR="0" rtl="0" algn="l">
              <a:spcBef>
                <a:spcPts val="700"/>
              </a:spcBef>
              <a:spcAft>
                <a:spcPts val="0"/>
              </a:spcAft>
              <a:buClr>
                <a:srgbClr val="3A3D42"/>
              </a:buClr>
              <a:buSzPts val="1250"/>
              <a:buFont typeface="Arial"/>
              <a:buChar char="•"/>
            </a:pPr>
            <a:r>
              <a:rPr b="0" i="0" lang="en-US" sz="1250" u="none" cap="none" strike="noStrike">
                <a:solidFill>
                  <a:srgbClr val="3A3D42"/>
                </a:solidFill>
                <a:latin typeface="Arial"/>
                <a:ea typeface="Arial"/>
                <a:cs typeface="Arial"/>
                <a:sym typeface="Arial"/>
              </a:rPr>
              <a:t>Logistics</a:t>
            </a:r>
            <a:endParaRPr b="0" i="0" sz="1250" u="none" cap="none" strike="noStrike">
              <a:solidFill>
                <a:schemeClr val="dk1"/>
              </a:solidFill>
              <a:latin typeface="Calibri"/>
              <a:ea typeface="Calibri"/>
              <a:cs typeface="Calibri"/>
              <a:sym typeface="Calibri"/>
            </a:endParaRPr>
          </a:p>
          <a:p>
            <a:pPr indent="-165100" lvl="0" marL="165100" marR="0" rtl="0" algn="l">
              <a:spcBef>
                <a:spcPts val="700"/>
              </a:spcBef>
              <a:spcAft>
                <a:spcPts val="0"/>
              </a:spcAft>
              <a:buClr>
                <a:srgbClr val="3A3D42"/>
              </a:buClr>
              <a:buSzPts val="1250"/>
              <a:buFont typeface="Arial"/>
              <a:buChar char="•"/>
            </a:pPr>
            <a:r>
              <a:rPr b="0" i="0" lang="en-US" sz="1250" u="none" cap="none" strike="noStrike">
                <a:solidFill>
                  <a:srgbClr val="3A3D42"/>
                </a:solidFill>
                <a:latin typeface="Arial"/>
                <a:ea typeface="Arial"/>
                <a:cs typeface="Arial"/>
                <a:sym typeface="Arial"/>
              </a:rPr>
              <a:t>Energy and Utilities</a:t>
            </a:r>
            <a:endParaRPr b="0" i="0" sz="1250" u="none" cap="none" strike="noStrike">
              <a:solidFill>
                <a:schemeClr val="dk1"/>
              </a:solidFill>
              <a:latin typeface="Calibri"/>
              <a:ea typeface="Calibri"/>
              <a:cs typeface="Calibri"/>
              <a:sym typeface="Calibri"/>
            </a:endParaRPr>
          </a:p>
          <a:p>
            <a:pPr indent="-165100" lvl="0" marL="165100" marR="0" rtl="0" algn="l">
              <a:spcBef>
                <a:spcPts val="700"/>
              </a:spcBef>
              <a:spcAft>
                <a:spcPts val="0"/>
              </a:spcAft>
              <a:buClr>
                <a:srgbClr val="3A3D42"/>
              </a:buClr>
              <a:buSzPts val="1250"/>
              <a:buFont typeface="Arial"/>
              <a:buChar char="•"/>
            </a:pPr>
            <a:r>
              <a:rPr b="0" i="0" lang="en-US" sz="1250" u="none" cap="none" strike="noStrike">
                <a:solidFill>
                  <a:srgbClr val="3A3D42"/>
                </a:solidFill>
                <a:latin typeface="Arial"/>
                <a:ea typeface="Arial"/>
                <a:cs typeface="Arial"/>
                <a:sym typeface="Arial"/>
              </a:rPr>
              <a:t>Healthcare Technology</a:t>
            </a:r>
            <a:endParaRPr b="0" i="0" sz="1250" u="none" cap="none" strike="noStrike">
              <a:solidFill>
                <a:schemeClr val="dk1"/>
              </a:solidFill>
              <a:latin typeface="Calibri"/>
              <a:ea typeface="Calibri"/>
              <a:cs typeface="Calibri"/>
              <a:sym typeface="Calibri"/>
            </a:endParaRPr>
          </a:p>
        </p:txBody>
      </p:sp>
      <p:cxnSp>
        <p:nvCxnSpPr>
          <p:cNvPr id="83" name="Google Shape;83;p4"/>
          <p:cNvCxnSpPr/>
          <p:nvPr/>
        </p:nvCxnSpPr>
        <p:spPr>
          <a:xfrm>
            <a:off x="5600700" y="3172968"/>
            <a:ext cx="0" cy="73152"/>
          </a:xfrm>
          <a:prstGeom prst="straightConnector1">
            <a:avLst/>
          </a:prstGeom>
          <a:noFill/>
          <a:ln cap="flat" cmpd="sng" w="12700">
            <a:solidFill>
              <a:srgbClr val="D98A3D"/>
            </a:solidFill>
            <a:prstDash val="dash"/>
            <a:round/>
            <a:headEnd len="sm" w="sm" type="none"/>
            <a:tailEnd len="sm" w="sm" type="none"/>
          </a:ln>
        </p:spPr>
      </p:cxnSp>
      <p:sp>
        <p:nvSpPr>
          <p:cNvPr id="84" name="Google Shape;84;p4"/>
          <p:cNvSpPr/>
          <p:nvPr/>
        </p:nvSpPr>
        <p:spPr>
          <a:xfrm>
            <a:off x="5417820" y="2807208"/>
            <a:ext cx="365760" cy="365760"/>
          </a:xfrm>
          <a:prstGeom prst="ellipse">
            <a:avLst/>
          </a:prstGeom>
          <a:solidFill>
            <a:srgbClr val="D98A3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vsu-deck/icon_process.png" id="85" name="Google Shape;85;p4"/>
          <p:cNvPicPr preferRelativeResize="0"/>
          <p:nvPr/>
        </p:nvPicPr>
        <p:blipFill rotWithShape="1">
          <a:blip r:embed="rId5">
            <a:alphaModFix/>
          </a:blip>
          <a:srcRect b="0" l="0" r="0" t="0"/>
          <a:stretch/>
        </p:blipFill>
        <p:spPr>
          <a:xfrm>
            <a:off x="5490972" y="2880360"/>
            <a:ext cx="219456" cy="219456"/>
          </a:xfrm>
          <a:prstGeom prst="rect">
            <a:avLst/>
          </a:prstGeom>
          <a:noFill/>
          <a:ln>
            <a:noFill/>
          </a:ln>
        </p:spPr>
      </p:pic>
      <p:sp>
        <p:nvSpPr>
          <p:cNvPr id="86" name="Google Shape;86;p4"/>
          <p:cNvSpPr/>
          <p:nvPr/>
        </p:nvSpPr>
        <p:spPr>
          <a:xfrm>
            <a:off x="3977640" y="3246120"/>
            <a:ext cx="3246120" cy="3291840"/>
          </a:xfrm>
          <a:prstGeom prst="rect">
            <a:avLst/>
          </a:prstGeom>
          <a:solidFill>
            <a:srgbClr val="FBEEDD"/>
          </a:solidFill>
          <a:ln cap="flat" cmpd="sng" w="12700">
            <a:solidFill>
              <a:srgbClr val="D98A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3977640" y="3246120"/>
            <a:ext cx="3246120" cy="329184"/>
          </a:xfrm>
          <a:prstGeom prst="rect">
            <a:avLst/>
          </a:prstGeom>
          <a:solidFill>
            <a:srgbClr val="D98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a:off x="3977640" y="3246120"/>
            <a:ext cx="324612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HOW IT WORKS</a:t>
            </a:r>
            <a:endParaRPr b="0" i="0" sz="1200" u="none" cap="none" strike="noStrike">
              <a:solidFill>
                <a:schemeClr val="dk1"/>
              </a:solidFill>
              <a:latin typeface="Calibri"/>
              <a:ea typeface="Calibri"/>
              <a:cs typeface="Calibri"/>
              <a:sym typeface="Calibri"/>
            </a:endParaRPr>
          </a:p>
        </p:txBody>
      </p:sp>
      <p:sp>
        <p:nvSpPr>
          <p:cNvPr id="89" name="Google Shape;89;p4"/>
          <p:cNvSpPr/>
          <p:nvPr/>
        </p:nvSpPr>
        <p:spPr>
          <a:xfrm>
            <a:off x="4160520" y="3712464"/>
            <a:ext cx="2880360" cy="2560320"/>
          </a:xfrm>
          <a:prstGeom prst="rect">
            <a:avLst/>
          </a:prstGeom>
          <a:noFill/>
          <a:ln>
            <a:noFill/>
          </a:ln>
        </p:spPr>
        <p:txBody>
          <a:bodyPr anchorCtr="0" anchor="ctr" bIns="45700" lIns="91425" spcFirstLastPara="1" rIns="91425" wrap="square" tIns="45700">
            <a:noAutofit/>
          </a:bodyPr>
          <a:lstStyle/>
          <a:p>
            <a:pPr indent="-165100" lvl="0" marL="165100" marR="0" rtl="0" algn="l">
              <a:spcBef>
                <a:spcPts val="0"/>
              </a:spcBef>
              <a:spcAft>
                <a:spcPts val="0"/>
              </a:spcAft>
              <a:buClr>
                <a:srgbClr val="3A3D42"/>
              </a:buClr>
              <a:buSzPts val="1250"/>
              <a:buFont typeface="Arial"/>
              <a:buChar char="•"/>
            </a:pPr>
            <a:r>
              <a:rPr b="0" i="0" lang="en-US" sz="1250" u="none" cap="none" strike="noStrike">
                <a:solidFill>
                  <a:srgbClr val="3A3D42"/>
                </a:solidFill>
                <a:latin typeface="Arial"/>
                <a:ea typeface="Arial"/>
                <a:cs typeface="Arial"/>
                <a:sym typeface="Arial"/>
              </a:rPr>
              <a:t>Transferable skills applied across industries</a:t>
            </a:r>
            <a:endParaRPr b="0" i="0" sz="1250" u="none" cap="none" strike="noStrike">
              <a:solidFill>
                <a:schemeClr val="dk1"/>
              </a:solidFill>
              <a:latin typeface="Calibri"/>
              <a:ea typeface="Calibri"/>
              <a:cs typeface="Calibri"/>
              <a:sym typeface="Calibri"/>
            </a:endParaRPr>
          </a:p>
          <a:p>
            <a:pPr indent="-165100" lvl="0" marL="165100" marR="0" rtl="0" algn="l">
              <a:spcBef>
                <a:spcPts val="700"/>
              </a:spcBef>
              <a:spcAft>
                <a:spcPts val="0"/>
              </a:spcAft>
              <a:buClr>
                <a:srgbClr val="3A3D42"/>
              </a:buClr>
              <a:buSzPts val="1250"/>
              <a:buFont typeface="Arial"/>
              <a:buChar char="•"/>
            </a:pPr>
            <a:r>
              <a:rPr b="0" i="0" lang="en-US" sz="1250" u="none" cap="none" strike="noStrike">
                <a:solidFill>
                  <a:srgbClr val="3A3D42"/>
                </a:solidFill>
                <a:latin typeface="Arial"/>
                <a:ea typeface="Arial"/>
                <a:cs typeface="Arial"/>
                <a:sym typeface="Arial"/>
              </a:rPr>
              <a:t>Project-based work tied directly to employers</a:t>
            </a:r>
            <a:endParaRPr b="0" i="0" sz="1250" u="none" cap="none" strike="noStrike">
              <a:solidFill>
                <a:schemeClr val="dk1"/>
              </a:solidFill>
              <a:latin typeface="Calibri"/>
              <a:ea typeface="Calibri"/>
              <a:cs typeface="Calibri"/>
              <a:sym typeface="Calibri"/>
            </a:endParaRPr>
          </a:p>
          <a:p>
            <a:pPr indent="-165100" lvl="0" marL="165100" marR="0" rtl="0" algn="l">
              <a:spcBef>
                <a:spcPts val="700"/>
              </a:spcBef>
              <a:spcAft>
                <a:spcPts val="0"/>
              </a:spcAft>
              <a:buClr>
                <a:srgbClr val="3A3D42"/>
              </a:buClr>
              <a:buSzPts val="1250"/>
              <a:buFont typeface="Arial"/>
              <a:buChar char="•"/>
            </a:pPr>
            <a:r>
              <a:rPr b="0" i="0" lang="en-US" sz="1250" u="none" cap="none" strike="noStrike">
                <a:solidFill>
                  <a:srgbClr val="3A3D42"/>
                </a:solidFill>
                <a:latin typeface="Arial"/>
                <a:ea typeface="Arial"/>
                <a:cs typeface="Arial"/>
                <a:sym typeface="Arial"/>
              </a:rPr>
              <a:t>Soft skills built alongside technical skills</a:t>
            </a:r>
            <a:endParaRPr b="0" i="0" sz="1250" u="none" cap="none" strike="noStrike">
              <a:solidFill>
                <a:schemeClr val="dk1"/>
              </a:solidFill>
              <a:latin typeface="Calibri"/>
              <a:ea typeface="Calibri"/>
              <a:cs typeface="Calibri"/>
              <a:sym typeface="Calibri"/>
            </a:endParaRPr>
          </a:p>
          <a:p>
            <a:pPr indent="-165100" lvl="0" marL="165100" marR="0" rtl="0" algn="l">
              <a:spcBef>
                <a:spcPts val="700"/>
              </a:spcBef>
              <a:spcAft>
                <a:spcPts val="0"/>
              </a:spcAft>
              <a:buClr>
                <a:srgbClr val="3A3D42"/>
              </a:buClr>
              <a:buSzPts val="1250"/>
              <a:buFont typeface="Arial"/>
              <a:buChar char="•"/>
            </a:pPr>
            <a:r>
              <a:rPr b="0" i="0" lang="en-US" sz="1250" u="none" cap="none" strike="noStrike">
                <a:solidFill>
                  <a:srgbClr val="3A3D42"/>
                </a:solidFill>
                <a:latin typeface="Arial"/>
                <a:ea typeface="Arial"/>
                <a:cs typeface="Arial"/>
                <a:sym typeface="Arial"/>
              </a:rPr>
              <a:t>Framed around Competency, Compatibility, and Commitment</a:t>
            </a:r>
            <a:endParaRPr b="0" i="0" sz="1250" u="none" cap="none" strike="noStrike">
              <a:solidFill>
                <a:schemeClr val="dk1"/>
              </a:solidFill>
              <a:latin typeface="Calibri"/>
              <a:ea typeface="Calibri"/>
              <a:cs typeface="Calibri"/>
              <a:sym typeface="Calibri"/>
            </a:endParaRPr>
          </a:p>
        </p:txBody>
      </p:sp>
      <p:pic>
        <p:nvPicPr>
          <p:cNvPr descr="/home/claude/vsu-deck/photos/purpose.jpg" id="90" name="Google Shape;90;p4"/>
          <p:cNvPicPr preferRelativeResize="0"/>
          <p:nvPr/>
        </p:nvPicPr>
        <p:blipFill rotWithShape="1">
          <a:blip r:embed="rId6">
            <a:alphaModFix/>
          </a:blip>
          <a:srcRect b="0" l="0" r="0" t="0"/>
          <a:stretch/>
        </p:blipFill>
        <p:spPr>
          <a:xfrm>
            <a:off x="7589520" y="1600200"/>
            <a:ext cx="4023360" cy="4572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5"/>
          <p:cNvSpPr/>
          <p:nvPr/>
        </p:nvSpPr>
        <p:spPr>
          <a:xfrm>
            <a:off x="548640" y="54864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3000"/>
              <a:buFont typeface="Arial"/>
              <a:buNone/>
            </a:pPr>
            <a:r>
              <a:rPr b="1" i="0" lang="en-US" sz="3000" u="none" cap="none" strike="noStrike">
                <a:solidFill>
                  <a:srgbClr val="24262B"/>
                </a:solidFill>
                <a:latin typeface="Arial"/>
                <a:ea typeface="Arial"/>
                <a:cs typeface="Arial"/>
                <a:sym typeface="Arial"/>
              </a:rPr>
              <a:t>What Is the Program</a:t>
            </a:r>
            <a:endParaRPr b="0" i="0" sz="3000" u="none" cap="none" strike="noStrike">
              <a:solidFill>
                <a:schemeClr val="dk1"/>
              </a:solidFill>
              <a:latin typeface="Calibri"/>
              <a:ea typeface="Calibri"/>
              <a:cs typeface="Calibri"/>
              <a:sym typeface="Calibri"/>
            </a:endParaRPr>
          </a:p>
        </p:txBody>
      </p:sp>
      <p:sp>
        <p:nvSpPr>
          <p:cNvPr id="97" name="Google Shape;97;p5"/>
          <p:cNvSpPr/>
          <p:nvPr/>
        </p:nvSpPr>
        <p:spPr>
          <a:xfrm>
            <a:off x="548640" y="1508760"/>
            <a:ext cx="6675120" cy="100584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3A3D42"/>
              </a:buClr>
              <a:buSzPts val="1400"/>
              <a:buFont typeface="Arial"/>
              <a:buNone/>
            </a:pPr>
            <a:r>
              <a:rPr b="0" i="0" lang="en-US" sz="1400" u="none" cap="none" strike="noStrike">
                <a:solidFill>
                  <a:srgbClr val="3A3D42"/>
                </a:solidFill>
                <a:latin typeface="Arial"/>
                <a:ea typeface="Arial"/>
                <a:cs typeface="Arial"/>
                <a:sym typeface="Arial"/>
              </a:rPr>
              <a:t>A 15-week program where undergraduate teams turn a real idea into a working product. Grounded in project-based, experiential learning, students pair IoT and AI technologies with the business skills needed to bring that product to market.</a:t>
            </a:r>
            <a:endParaRPr b="0" i="0" sz="1400" u="none" cap="none" strike="noStrike">
              <a:solidFill>
                <a:schemeClr val="dk1"/>
              </a:solidFill>
              <a:latin typeface="Calibri"/>
              <a:ea typeface="Calibri"/>
              <a:cs typeface="Calibri"/>
              <a:sym typeface="Calibri"/>
            </a:endParaRPr>
          </a:p>
        </p:txBody>
      </p:sp>
      <p:cxnSp>
        <p:nvCxnSpPr>
          <p:cNvPr id="98" name="Google Shape;98;p5"/>
          <p:cNvCxnSpPr/>
          <p:nvPr/>
        </p:nvCxnSpPr>
        <p:spPr>
          <a:xfrm>
            <a:off x="2171700" y="2898648"/>
            <a:ext cx="0" cy="73152"/>
          </a:xfrm>
          <a:prstGeom prst="straightConnector1">
            <a:avLst/>
          </a:prstGeom>
          <a:noFill/>
          <a:ln cap="flat" cmpd="sng" w="12700">
            <a:solidFill>
              <a:srgbClr val="18A999"/>
            </a:solidFill>
            <a:prstDash val="dash"/>
            <a:round/>
            <a:headEnd len="sm" w="sm" type="none"/>
            <a:tailEnd len="sm" w="sm" type="none"/>
          </a:ln>
        </p:spPr>
      </p:cxnSp>
      <p:sp>
        <p:nvSpPr>
          <p:cNvPr id="99" name="Google Shape;99;p5"/>
          <p:cNvSpPr/>
          <p:nvPr/>
        </p:nvSpPr>
        <p:spPr>
          <a:xfrm>
            <a:off x="1988820" y="2532888"/>
            <a:ext cx="365760" cy="365760"/>
          </a:xfrm>
          <a:prstGeom prst="ellipse">
            <a:avLst/>
          </a:prstGeom>
          <a:solidFill>
            <a:srgbClr val="18A999"/>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vsu-deck/icon_calendar.png" id="100" name="Google Shape;100;p5"/>
          <p:cNvPicPr preferRelativeResize="0"/>
          <p:nvPr/>
        </p:nvPicPr>
        <p:blipFill rotWithShape="1">
          <a:blip r:embed="rId4">
            <a:alphaModFix/>
          </a:blip>
          <a:srcRect b="0" l="0" r="0" t="0"/>
          <a:stretch/>
        </p:blipFill>
        <p:spPr>
          <a:xfrm>
            <a:off x="2061972" y="2606040"/>
            <a:ext cx="219456" cy="219456"/>
          </a:xfrm>
          <a:prstGeom prst="rect">
            <a:avLst/>
          </a:prstGeom>
          <a:noFill/>
          <a:ln>
            <a:noFill/>
          </a:ln>
        </p:spPr>
      </p:pic>
      <p:sp>
        <p:nvSpPr>
          <p:cNvPr id="101" name="Google Shape;101;p5"/>
          <p:cNvSpPr/>
          <p:nvPr/>
        </p:nvSpPr>
        <p:spPr>
          <a:xfrm>
            <a:off x="548640" y="2971800"/>
            <a:ext cx="3246120" cy="1645920"/>
          </a:xfrm>
          <a:prstGeom prst="rect">
            <a:avLst/>
          </a:prstGeom>
          <a:solidFill>
            <a:srgbClr val="E3F5F2"/>
          </a:solidFill>
          <a:ln cap="flat" cmpd="sng" w="12700">
            <a:solidFill>
              <a:srgbClr val="18A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548640" y="2971800"/>
            <a:ext cx="3246120" cy="329184"/>
          </a:xfrm>
          <a:prstGeom prst="rect">
            <a:avLst/>
          </a:prstGeom>
          <a:solidFill>
            <a:srgbClr val="18A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548640" y="2971800"/>
            <a:ext cx="324612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DATES AND TIMES</a:t>
            </a:r>
            <a:endParaRPr b="0" i="0" sz="1200" u="none" cap="none" strike="noStrike">
              <a:solidFill>
                <a:schemeClr val="dk1"/>
              </a:solidFill>
              <a:latin typeface="Calibri"/>
              <a:ea typeface="Calibri"/>
              <a:cs typeface="Calibri"/>
              <a:sym typeface="Calibri"/>
            </a:endParaRPr>
          </a:p>
        </p:txBody>
      </p:sp>
      <p:sp>
        <p:nvSpPr>
          <p:cNvPr id="104" name="Google Shape;104;p5"/>
          <p:cNvSpPr/>
          <p:nvPr/>
        </p:nvSpPr>
        <p:spPr>
          <a:xfrm>
            <a:off x="713225" y="3438149"/>
            <a:ext cx="2916900" cy="1005900"/>
          </a:xfrm>
          <a:prstGeom prst="rect">
            <a:avLst/>
          </a:prstGeom>
          <a:noFill/>
          <a:ln>
            <a:noFill/>
          </a:ln>
        </p:spPr>
        <p:txBody>
          <a:bodyPr anchorCtr="0" anchor="ctr" bIns="45700" lIns="91425" spcFirstLastPara="1" rIns="91425" wrap="square" tIns="45700">
            <a:noAutofit/>
          </a:bodyPr>
          <a:lstStyle/>
          <a:p>
            <a:pPr indent="-152400" lvl="0" marL="152400" marR="0" rtl="0" algn="l">
              <a:spcBef>
                <a:spcPts val="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Program Date: January 2027 - April 2027</a:t>
            </a:r>
            <a:endParaRPr b="0" i="0" sz="1100" u="none" cap="none" strike="noStrike">
              <a:solidFill>
                <a:schemeClr val="dk1"/>
              </a:solidFill>
              <a:latin typeface="Calibri"/>
              <a:ea typeface="Calibri"/>
              <a:cs typeface="Calibri"/>
              <a:sym typeface="Calibri"/>
            </a:endParaRPr>
          </a:p>
          <a:p>
            <a:pPr indent="-152400" lvl="0" marL="152400" marR="0" rtl="0" algn="l">
              <a:spcBef>
                <a:spcPts val="6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Schedule: Tuesday and Thursday, 5:00 - 8:00 PM</a:t>
            </a:r>
            <a:endParaRPr b="0" i="0" sz="1100" u="none" cap="none" strike="noStrike">
              <a:solidFill>
                <a:schemeClr val="dk1"/>
              </a:solidFill>
              <a:latin typeface="Calibri"/>
              <a:ea typeface="Calibri"/>
              <a:cs typeface="Calibri"/>
              <a:sym typeface="Calibri"/>
            </a:endParaRPr>
          </a:p>
        </p:txBody>
      </p:sp>
      <p:cxnSp>
        <p:nvCxnSpPr>
          <p:cNvPr id="105" name="Google Shape;105;p5"/>
          <p:cNvCxnSpPr/>
          <p:nvPr/>
        </p:nvCxnSpPr>
        <p:spPr>
          <a:xfrm>
            <a:off x="5600700" y="2898648"/>
            <a:ext cx="0" cy="73152"/>
          </a:xfrm>
          <a:prstGeom prst="straightConnector1">
            <a:avLst/>
          </a:prstGeom>
          <a:noFill/>
          <a:ln cap="flat" cmpd="sng" w="12700">
            <a:solidFill>
              <a:srgbClr val="D98A3D"/>
            </a:solidFill>
            <a:prstDash val="dash"/>
            <a:round/>
            <a:headEnd len="sm" w="sm" type="none"/>
            <a:tailEnd len="sm" w="sm" type="none"/>
          </a:ln>
        </p:spPr>
      </p:cxnSp>
      <p:sp>
        <p:nvSpPr>
          <p:cNvPr id="106" name="Google Shape;106;p5"/>
          <p:cNvSpPr/>
          <p:nvPr/>
        </p:nvSpPr>
        <p:spPr>
          <a:xfrm>
            <a:off x="5417820" y="2532888"/>
            <a:ext cx="365760" cy="365760"/>
          </a:xfrm>
          <a:prstGeom prst="ellipse">
            <a:avLst/>
          </a:prstGeom>
          <a:solidFill>
            <a:srgbClr val="D98A3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vsu-deck/icon_users.png" id="107" name="Google Shape;107;p5"/>
          <p:cNvPicPr preferRelativeResize="0"/>
          <p:nvPr/>
        </p:nvPicPr>
        <p:blipFill rotWithShape="1">
          <a:blip r:embed="rId5">
            <a:alphaModFix/>
          </a:blip>
          <a:srcRect b="0" l="0" r="0" t="0"/>
          <a:stretch/>
        </p:blipFill>
        <p:spPr>
          <a:xfrm>
            <a:off x="5490972" y="2606040"/>
            <a:ext cx="219456" cy="219456"/>
          </a:xfrm>
          <a:prstGeom prst="rect">
            <a:avLst/>
          </a:prstGeom>
          <a:noFill/>
          <a:ln>
            <a:noFill/>
          </a:ln>
        </p:spPr>
      </p:pic>
      <p:sp>
        <p:nvSpPr>
          <p:cNvPr id="108" name="Google Shape;108;p5"/>
          <p:cNvSpPr/>
          <p:nvPr/>
        </p:nvSpPr>
        <p:spPr>
          <a:xfrm>
            <a:off x="3977640" y="2971800"/>
            <a:ext cx="3246120" cy="1645920"/>
          </a:xfrm>
          <a:prstGeom prst="rect">
            <a:avLst/>
          </a:prstGeom>
          <a:solidFill>
            <a:srgbClr val="FBEEDD"/>
          </a:solidFill>
          <a:ln cap="flat" cmpd="sng" w="12700">
            <a:solidFill>
              <a:srgbClr val="D98A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3977640" y="2971800"/>
            <a:ext cx="3246120" cy="329184"/>
          </a:xfrm>
          <a:prstGeom prst="rect">
            <a:avLst/>
          </a:prstGeom>
          <a:solidFill>
            <a:srgbClr val="D98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3977640" y="2971800"/>
            <a:ext cx="324612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COHORT PROFILE</a:t>
            </a:r>
            <a:endParaRPr b="0" i="0" sz="1200" u="none" cap="none" strike="noStrike">
              <a:solidFill>
                <a:schemeClr val="dk1"/>
              </a:solidFill>
              <a:latin typeface="Calibri"/>
              <a:ea typeface="Calibri"/>
              <a:cs typeface="Calibri"/>
              <a:sym typeface="Calibri"/>
            </a:endParaRPr>
          </a:p>
        </p:txBody>
      </p:sp>
      <p:sp>
        <p:nvSpPr>
          <p:cNvPr id="111" name="Google Shape;111;p5"/>
          <p:cNvSpPr/>
          <p:nvPr/>
        </p:nvSpPr>
        <p:spPr>
          <a:xfrm>
            <a:off x="4142225" y="3438149"/>
            <a:ext cx="2916900" cy="1005900"/>
          </a:xfrm>
          <a:prstGeom prst="rect">
            <a:avLst/>
          </a:prstGeom>
          <a:noFill/>
          <a:ln>
            <a:noFill/>
          </a:ln>
        </p:spPr>
        <p:txBody>
          <a:bodyPr anchorCtr="0" anchor="ctr" bIns="45700" lIns="91425" spcFirstLastPara="1" rIns="91425" wrap="square" tIns="45700">
            <a:noAutofit/>
          </a:bodyPr>
          <a:lstStyle/>
          <a:p>
            <a:pPr indent="-152400" lvl="0" marL="152400" marR="0" rtl="0" algn="l">
              <a:spcBef>
                <a:spcPts val="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Total Students: 60</a:t>
            </a:r>
            <a:endParaRPr b="0" i="0" sz="1100" u="none" cap="none" strike="noStrike">
              <a:solidFill>
                <a:schemeClr val="dk1"/>
              </a:solidFill>
              <a:latin typeface="Calibri"/>
              <a:ea typeface="Calibri"/>
              <a:cs typeface="Calibri"/>
              <a:sym typeface="Calibri"/>
            </a:endParaRPr>
          </a:p>
          <a:p>
            <a:pPr indent="-152400" lvl="0" marL="152400" marR="0" rtl="0" algn="l">
              <a:spcBef>
                <a:spcPts val="6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Schools: Engineering &amp; Technology, Business, and Agriculture</a:t>
            </a:r>
            <a:endParaRPr b="0" i="0" sz="1100" u="none" cap="none" strike="noStrike">
              <a:solidFill>
                <a:schemeClr val="dk1"/>
              </a:solidFill>
              <a:latin typeface="Calibri"/>
              <a:ea typeface="Calibri"/>
              <a:cs typeface="Calibri"/>
              <a:sym typeface="Calibri"/>
            </a:endParaRPr>
          </a:p>
          <a:p>
            <a:pPr indent="-152400" lvl="0" marL="152400" marR="0" rtl="0" algn="l">
              <a:spcBef>
                <a:spcPts val="6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Class: Open to all (prioritize freshman and sophomore)</a:t>
            </a:r>
            <a:endParaRPr b="0" i="0" sz="1100" u="none" cap="none" strike="noStrike">
              <a:solidFill>
                <a:schemeClr val="dk1"/>
              </a:solidFill>
              <a:latin typeface="Calibri"/>
              <a:ea typeface="Calibri"/>
              <a:cs typeface="Calibri"/>
              <a:sym typeface="Calibri"/>
            </a:endParaRPr>
          </a:p>
        </p:txBody>
      </p:sp>
      <p:pic>
        <p:nvPicPr>
          <p:cNvPr descr="/home/claude/vsu-deck/photos/whatistheprogram.jpg" id="112" name="Google Shape;112;p5"/>
          <p:cNvPicPr preferRelativeResize="0"/>
          <p:nvPr/>
        </p:nvPicPr>
        <p:blipFill rotWithShape="1">
          <a:blip r:embed="rId6">
            <a:alphaModFix/>
          </a:blip>
          <a:srcRect b="0" l="0" r="0" t="0"/>
          <a:stretch/>
        </p:blipFill>
        <p:spPr>
          <a:xfrm>
            <a:off x="7589520" y="1600200"/>
            <a:ext cx="4023360" cy="4572000"/>
          </a:xfrm>
          <a:prstGeom prst="rect">
            <a:avLst/>
          </a:prstGeom>
          <a:noFill/>
          <a:ln>
            <a:noFill/>
          </a:ln>
        </p:spPr>
      </p:pic>
      <p:sp>
        <p:nvSpPr>
          <p:cNvPr id="113" name="Google Shape;113;p5"/>
          <p:cNvSpPr/>
          <p:nvPr/>
        </p:nvSpPr>
        <p:spPr>
          <a:xfrm>
            <a:off x="548640" y="4800600"/>
            <a:ext cx="667512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43464B"/>
              </a:buClr>
              <a:buSzPts val="1000"/>
              <a:buFont typeface="Arial"/>
              <a:buNone/>
            </a:pPr>
            <a:r>
              <a:rPr b="0" i="1" lang="en-US" sz="1000" u="none" cap="none" strike="noStrike">
                <a:solidFill>
                  <a:srgbClr val="43464B"/>
                </a:solidFill>
                <a:latin typeface="Arial"/>
                <a:ea typeface="Arial"/>
                <a:cs typeface="Arial"/>
                <a:sym typeface="Arial"/>
              </a:rPr>
              <a:t>Dates, times, and cohort profile are tentative, pending alignment with Virginia State University.</a:t>
            </a:r>
            <a:endParaRPr b="0" i="0" sz="1000" u="none" cap="none" strike="noStrike">
              <a:solidFill>
                <a:schemeClr val="dk1"/>
              </a:solidFill>
              <a:latin typeface="Calibri"/>
              <a:ea typeface="Calibri"/>
              <a:cs typeface="Calibri"/>
              <a:sym typeface="Calibri"/>
            </a:endParaRPr>
          </a:p>
        </p:txBody>
      </p:sp>
      <p:sp>
        <p:nvSpPr>
          <p:cNvPr id="114" name="Google Shape;114;p5"/>
          <p:cNvSpPr/>
          <p:nvPr/>
        </p:nvSpPr>
        <p:spPr>
          <a:xfrm>
            <a:off x="548640" y="6263640"/>
            <a:ext cx="110642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43464B"/>
              </a:buClr>
              <a:buSzPts val="1000"/>
              <a:buFont typeface="Arial"/>
              <a:buNone/>
            </a:pPr>
            <a:r>
              <a:rPr b="0" i="1" lang="en-US" sz="1000" u="none" cap="none" strike="noStrike">
                <a:solidFill>
                  <a:srgbClr val="43464B"/>
                </a:solidFill>
                <a:latin typeface="Arial"/>
                <a:ea typeface="Arial"/>
                <a:cs typeface="Arial"/>
                <a:sym typeface="Arial"/>
              </a:rPr>
              <a:t>Based at Virginia State University in Ettrick, where the Richmond metro area meets the Tri-Cities at the I-95 / I-85 junction, anchoring a footprint across Central and Southside Virginia.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 name="Shape 119"/>
        <p:cNvGrpSpPr/>
        <p:nvPr/>
      </p:nvGrpSpPr>
      <p:grpSpPr>
        <a:xfrm>
          <a:off x="0" y="0"/>
          <a:ext cx="0" cy="0"/>
          <a:chOff x="0" y="0"/>
          <a:chExt cx="0" cy="0"/>
        </a:xfrm>
      </p:grpSpPr>
      <p:sp>
        <p:nvSpPr>
          <p:cNvPr id="120" name="Google Shape;120;p6"/>
          <p:cNvSpPr/>
          <p:nvPr/>
        </p:nvSpPr>
        <p:spPr>
          <a:xfrm>
            <a:off x="548640" y="54864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3000"/>
              <a:buFont typeface="Arial"/>
              <a:buNone/>
            </a:pPr>
            <a:r>
              <a:rPr b="1" i="0" lang="en-US" sz="3000" u="none" cap="none" strike="noStrike">
                <a:solidFill>
                  <a:srgbClr val="24262B"/>
                </a:solidFill>
                <a:latin typeface="Arial"/>
                <a:ea typeface="Arial"/>
                <a:cs typeface="Arial"/>
                <a:sym typeface="Arial"/>
              </a:rPr>
              <a:t>Inside the Program</a:t>
            </a:r>
            <a:endParaRPr b="0" i="0" sz="3000" u="none" cap="none" strike="noStrike">
              <a:solidFill>
                <a:schemeClr val="dk1"/>
              </a:solidFill>
              <a:latin typeface="Calibri"/>
              <a:ea typeface="Calibri"/>
              <a:cs typeface="Calibri"/>
              <a:sym typeface="Calibri"/>
            </a:endParaRPr>
          </a:p>
        </p:txBody>
      </p:sp>
      <p:sp>
        <p:nvSpPr>
          <p:cNvPr id="121" name="Google Shape;121;p6"/>
          <p:cNvSpPr/>
          <p:nvPr/>
        </p:nvSpPr>
        <p:spPr>
          <a:xfrm>
            <a:off x="548640" y="1417320"/>
            <a:ext cx="1106424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3A3D42"/>
              </a:buClr>
              <a:buSzPts val="1400"/>
              <a:buFont typeface="Arial"/>
              <a:buNone/>
            </a:pPr>
            <a:r>
              <a:rPr b="0" i="0" lang="en-US" sz="1400" u="none" cap="none" strike="noStrike">
                <a:solidFill>
                  <a:srgbClr val="3A3D42"/>
                </a:solidFill>
                <a:latin typeface="Arial"/>
                <a:ea typeface="Arial"/>
                <a:cs typeface="Arial"/>
                <a:sym typeface="Arial"/>
              </a:rPr>
              <a:t>Students move through a full build cycle, from finding a real problem to launching a working product and presenting it.</a:t>
            </a:r>
            <a:endParaRPr b="0" i="0" sz="1400" u="none" cap="none" strike="noStrike">
              <a:solidFill>
                <a:schemeClr val="dk1"/>
              </a:solidFill>
              <a:latin typeface="Calibri"/>
              <a:ea typeface="Calibri"/>
              <a:cs typeface="Calibri"/>
              <a:sym typeface="Calibri"/>
            </a:endParaRPr>
          </a:p>
        </p:txBody>
      </p:sp>
      <p:cxnSp>
        <p:nvCxnSpPr>
          <p:cNvPr id="122" name="Google Shape;122;p6"/>
          <p:cNvCxnSpPr/>
          <p:nvPr/>
        </p:nvCxnSpPr>
        <p:spPr>
          <a:xfrm>
            <a:off x="2345436" y="2221992"/>
            <a:ext cx="0" cy="91440"/>
          </a:xfrm>
          <a:prstGeom prst="straightConnector1">
            <a:avLst/>
          </a:prstGeom>
          <a:noFill/>
          <a:ln cap="flat" cmpd="sng" w="12700">
            <a:solidFill>
              <a:srgbClr val="18A999"/>
            </a:solidFill>
            <a:prstDash val="dash"/>
            <a:round/>
            <a:headEnd len="sm" w="sm" type="none"/>
            <a:tailEnd len="sm" w="sm" type="none"/>
          </a:ln>
        </p:spPr>
      </p:cxnSp>
      <p:sp>
        <p:nvSpPr>
          <p:cNvPr id="123" name="Google Shape;123;p6"/>
          <p:cNvSpPr/>
          <p:nvPr/>
        </p:nvSpPr>
        <p:spPr>
          <a:xfrm>
            <a:off x="2171700" y="1874520"/>
            <a:ext cx="347472" cy="347472"/>
          </a:xfrm>
          <a:prstGeom prst="ellipse">
            <a:avLst/>
          </a:prstGeom>
          <a:solidFill>
            <a:srgbClr val="18A999"/>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vsu-deck/icon_activities.png" id="124" name="Google Shape;124;p6"/>
          <p:cNvPicPr preferRelativeResize="0"/>
          <p:nvPr/>
        </p:nvPicPr>
        <p:blipFill rotWithShape="1">
          <a:blip r:embed="rId4">
            <a:alphaModFix/>
          </a:blip>
          <a:srcRect b="0" l="0" r="0" t="0"/>
          <a:stretch/>
        </p:blipFill>
        <p:spPr>
          <a:xfrm>
            <a:off x="2263140" y="1965960"/>
            <a:ext cx="164592" cy="164592"/>
          </a:xfrm>
          <a:prstGeom prst="rect">
            <a:avLst/>
          </a:prstGeom>
          <a:noFill/>
          <a:ln>
            <a:noFill/>
          </a:ln>
        </p:spPr>
      </p:pic>
      <p:sp>
        <p:nvSpPr>
          <p:cNvPr id="125" name="Google Shape;125;p6"/>
          <p:cNvSpPr/>
          <p:nvPr/>
        </p:nvSpPr>
        <p:spPr>
          <a:xfrm>
            <a:off x="548640" y="2313432"/>
            <a:ext cx="3593592" cy="4361688"/>
          </a:xfrm>
          <a:prstGeom prst="rect">
            <a:avLst/>
          </a:prstGeom>
          <a:solidFill>
            <a:srgbClr val="E3F5F2"/>
          </a:solidFill>
          <a:ln cap="flat" cmpd="sng" w="12700">
            <a:solidFill>
              <a:srgbClr val="18A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548640" y="2313432"/>
            <a:ext cx="3593592" cy="310896"/>
          </a:xfrm>
          <a:prstGeom prst="rect">
            <a:avLst/>
          </a:prstGeom>
          <a:solidFill>
            <a:srgbClr val="18A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548640" y="2313432"/>
            <a:ext cx="3593592"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ACTIVITIES</a:t>
            </a:r>
            <a:endParaRPr b="0" i="0" sz="1300" u="none" cap="none" strike="noStrike">
              <a:solidFill>
                <a:schemeClr val="dk1"/>
              </a:solidFill>
              <a:latin typeface="Calibri"/>
              <a:ea typeface="Calibri"/>
              <a:cs typeface="Calibri"/>
              <a:sym typeface="Calibri"/>
            </a:endParaRPr>
          </a:p>
        </p:txBody>
      </p:sp>
      <p:sp>
        <p:nvSpPr>
          <p:cNvPr id="128" name="Google Shape;128;p6"/>
          <p:cNvSpPr/>
          <p:nvPr/>
        </p:nvSpPr>
        <p:spPr>
          <a:xfrm>
            <a:off x="713232" y="2706624"/>
            <a:ext cx="3264408"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WHAT STUDENTS DO</a:t>
            </a:r>
            <a:endParaRPr b="0" i="0" sz="1100" u="none" cap="none" strike="noStrike">
              <a:solidFill>
                <a:schemeClr val="dk1"/>
              </a:solidFill>
              <a:latin typeface="Calibri"/>
              <a:ea typeface="Calibri"/>
              <a:cs typeface="Calibri"/>
              <a:sym typeface="Calibri"/>
            </a:endParaRPr>
          </a:p>
        </p:txBody>
      </p:sp>
      <p:sp>
        <p:nvSpPr>
          <p:cNvPr id="129" name="Google Shape;129;p6"/>
          <p:cNvSpPr/>
          <p:nvPr/>
        </p:nvSpPr>
        <p:spPr>
          <a:xfrm>
            <a:off x="713232" y="2971800"/>
            <a:ext cx="3282696"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Technical</a:t>
            </a:r>
            <a:endParaRPr b="0" i="0" sz="1100" u="none" cap="none" strike="noStrike">
              <a:solidFill>
                <a:schemeClr val="dk1"/>
              </a:solidFill>
              <a:latin typeface="Calibri"/>
              <a:ea typeface="Calibri"/>
              <a:cs typeface="Calibri"/>
              <a:sym typeface="Calibri"/>
            </a:endParaRPr>
          </a:p>
        </p:txBody>
      </p:sp>
      <p:sp>
        <p:nvSpPr>
          <p:cNvPr id="130" name="Google Shape;130;p6"/>
          <p:cNvSpPr/>
          <p:nvPr/>
        </p:nvSpPr>
        <p:spPr>
          <a:xfrm>
            <a:off x="713232" y="3154680"/>
            <a:ext cx="3282696" cy="365760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Breadboard a microcontroller and wire sensors</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Prompt AI tools to generate firmware and software</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Build and deploy a web app with MCP servers and APIs</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Run live user tests and a public launch</a:t>
            </a:r>
            <a:endParaRPr b="0" i="0" sz="1100" u="none" cap="none" strike="noStrike">
              <a:solidFill>
                <a:schemeClr val="dk1"/>
              </a:solidFill>
              <a:latin typeface="Calibri"/>
              <a:ea typeface="Calibri"/>
              <a:cs typeface="Calibri"/>
              <a:sym typeface="Calibri"/>
            </a:endParaRPr>
          </a:p>
        </p:txBody>
      </p:sp>
      <p:sp>
        <p:nvSpPr>
          <p:cNvPr id="131" name="Google Shape;131;p6"/>
          <p:cNvSpPr/>
          <p:nvPr/>
        </p:nvSpPr>
        <p:spPr>
          <a:xfrm>
            <a:off x="713232" y="4526280"/>
            <a:ext cx="3282696"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Business</a:t>
            </a:r>
            <a:endParaRPr b="0" i="0" sz="1100" u="none" cap="none" strike="noStrike">
              <a:solidFill>
                <a:schemeClr val="dk1"/>
              </a:solidFill>
              <a:latin typeface="Calibri"/>
              <a:ea typeface="Calibri"/>
              <a:cs typeface="Calibri"/>
              <a:sym typeface="Calibri"/>
            </a:endParaRPr>
          </a:p>
        </p:txBody>
      </p:sp>
      <p:sp>
        <p:nvSpPr>
          <p:cNvPr id="132" name="Google Shape;132;p6"/>
          <p:cNvSpPr/>
          <p:nvPr/>
        </p:nvSpPr>
        <p:spPr>
          <a:xfrm>
            <a:off x="713232" y="4709160"/>
            <a:ext cx="3282696" cy="365760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Interview users and define a real regional problem</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Pitch and present to a live audience</a:t>
            </a:r>
            <a:endParaRPr b="0" i="0" sz="1100" u="none" cap="none" strike="noStrike">
              <a:solidFill>
                <a:schemeClr val="dk1"/>
              </a:solidFill>
              <a:latin typeface="Calibri"/>
              <a:ea typeface="Calibri"/>
              <a:cs typeface="Calibri"/>
              <a:sym typeface="Calibri"/>
            </a:endParaRPr>
          </a:p>
        </p:txBody>
      </p:sp>
      <p:sp>
        <p:nvSpPr>
          <p:cNvPr id="133" name="Google Shape;133;p6"/>
          <p:cNvSpPr/>
          <p:nvPr/>
        </p:nvSpPr>
        <p:spPr>
          <a:xfrm>
            <a:off x="713232" y="5303520"/>
            <a:ext cx="3282696"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Professional</a:t>
            </a:r>
            <a:endParaRPr b="0" i="0" sz="1100" u="none" cap="none" strike="noStrike">
              <a:solidFill>
                <a:schemeClr val="dk1"/>
              </a:solidFill>
              <a:latin typeface="Calibri"/>
              <a:ea typeface="Calibri"/>
              <a:cs typeface="Calibri"/>
              <a:sym typeface="Calibri"/>
            </a:endParaRPr>
          </a:p>
        </p:txBody>
      </p:sp>
      <p:sp>
        <p:nvSpPr>
          <p:cNvPr id="134" name="Google Shape;134;p6"/>
          <p:cNvSpPr/>
          <p:nvPr/>
        </p:nvSpPr>
        <p:spPr>
          <a:xfrm>
            <a:off x="713232" y="5486400"/>
            <a:ext cx="3282696" cy="365760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Collaborate on a team through the full build cycle</a:t>
            </a:r>
            <a:endParaRPr b="0" i="0" sz="1100" u="none" cap="none" strike="noStrike">
              <a:solidFill>
                <a:schemeClr val="dk1"/>
              </a:solidFill>
              <a:latin typeface="Calibri"/>
              <a:ea typeface="Calibri"/>
              <a:cs typeface="Calibri"/>
              <a:sym typeface="Calibri"/>
            </a:endParaRPr>
          </a:p>
        </p:txBody>
      </p:sp>
      <p:cxnSp>
        <p:nvCxnSpPr>
          <p:cNvPr id="135" name="Google Shape;135;p6"/>
          <p:cNvCxnSpPr/>
          <p:nvPr/>
        </p:nvCxnSpPr>
        <p:spPr>
          <a:xfrm>
            <a:off x="6085332" y="2221992"/>
            <a:ext cx="0" cy="91440"/>
          </a:xfrm>
          <a:prstGeom prst="straightConnector1">
            <a:avLst/>
          </a:prstGeom>
          <a:noFill/>
          <a:ln cap="flat" cmpd="sng" w="12700">
            <a:solidFill>
              <a:srgbClr val="D98A3D"/>
            </a:solidFill>
            <a:prstDash val="dash"/>
            <a:round/>
            <a:headEnd len="sm" w="sm" type="none"/>
            <a:tailEnd len="sm" w="sm" type="none"/>
          </a:ln>
        </p:spPr>
      </p:cxnSp>
      <p:sp>
        <p:nvSpPr>
          <p:cNvPr id="136" name="Google Shape;136;p6"/>
          <p:cNvSpPr/>
          <p:nvPr/>
        </p:nvSpPr>
        <p:spPr>
          <a:xfrm>
            <a:off x="5911596" y="1874520"/>
            <a:ext cx="347472" cy="347472"/>
          </a:xfrm>
          <a:prstGeom prst="ellipse">
            <a:avLst/>
          </a:prstGeom>
          <a:solidFill>
            <a:srgbClr val="D98A3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vsu-deck/icon_skills.png" id="137" name="Google Shape;137;p6"/>
          <p:cNvPicPr preferRelativeResize="0"/>
          <p:nvPr/>
        </p:nvPicPr>
        <p:blipFill rotWithShape="1">
          <a:blip r:embed="rId5">
            <a:alphaModFix/>
          </a:blip>
          <a:srcRect b="0" l="0" r="0" t="0"/>
          <a:stretch/>
        </p:blipFill>
        <p:spPr>
          <a:xfrm>
            <a:off x="6003036" y="1965960"/>
            <a:ext cx="164592" cy="164592"/>
          </a:xfrm>
          <a:prstGeom prst="rect">
            <a:avLst/>
          </a:prstGeom>
          <a:noFill/>
          <a:ln>
            <a:noFill/>
          </a:ln>
        </p:spPr>
      </p:pic>
      <p:sp>
        <p:nvSpPr>
          <p:cNvPr id="138" name="Google Shape;138;p6"/>
          <p:cNvSpPr/>
          <p:nvPr/>
        </p:nvSpPr>
        <p:spPr>
          <a:xfrm>
            <a:off x="4288536" y="2313432"/>
            <a:ext cx="3593592" cy="4361688"/>
          </a:xfrm>
          <a:prstGeom prst="rect">
            <a:avLst/>
          </a:prstGeom>
          <a:solidFill>
            <a:srgbClr val="FBEEDD"/>
          </a:solidFill>
          <a:ln cap="flat" cmpd="sng" w="12700">
            <a:solidFill>
              <a:srgbClr val="D98A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p:nvPr/>
        </p:nvSpPr>
        <p:spPr>
          <a:xfrm>
            <a:off x="4288536" y="2313432"/>
            <a:ext cx="3593592" cy="310896"/>
          </a:xfrm>
          <a:prstGeom prst="rect">
            <a:avLst/>
          </a:prstGeom>
          <a:solidFill>
            <a:srgbClr val="D98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4288536" y="2313432"/>
            <a:ext cx="3593592"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SKILLS</a:t>
            </a:r>
            <a:endParaRPr b="0" i="0" sz="1300" u="none" cap="none" strike="noStrike">
              <a:solidFill>
                <a:schemeClr val="dk1"/>
              </a:solidFill>
              <a:latin typeface="Calibri"/>
              <a:ea typeface="Calibri"/>
              <a:cs typeface="Calibri"/>
              <a:sym typeface="Calibri"/>
            </a:endParaRPr>
          </a:p>
        </p:txBody>
      </p:sp>
      <p:sp>
        <p:nvSpPr>
          <p:cNvPr id="141" name="Google Shape;141;p6"/>
          <p:cNvSpPr/>
          <p:nvPr/>
        </p:nvSpPr>
        <p:spPr>
          <a:xfrm>
            <a:off x="4453128" y="2706624"/>
            <a:ext cx="3264408"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WHAT STUDENTS LEARN</a:t>
            </a:r>
            <a:endParaRPr b="0" i="0" sz="1100" u="none" cap="none" strike="noStrike">
              <a:solidFill>
                <a:schemeClr val="dk1"/>
              </a:solidFill>
              <a:latin typeface="Calibri"/>
              <a:ea typeface="Calibri"/>
              <a:cs typeface="Calibri"/>
              <a:sym typeface="Calibri"/>
            </a:endParaRPr>
          </a:p>
        </p:txBody>
      </p:sp>
      <p:sp>
        <p:nvSpPr>
          <p:cNvPr id="142" name="Google Shape;142;p6"/>
          <p:cNvSpPr/>
          <p:nvPr/>
        </p:nvSpPr>
        <p:spPr>
          <a:xfrm>
            <a:off x="4453128" y="2971800"/>
            <a:ext cx="3282696"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Technical</a:t>
            </a:r>
            <a:endParaRPr b="0" i="0" sz="1100" u="none" cap="none" strike="noStrike">
              <a:solidFill>
                <a:schemeClr val="dk1"/>
              </a:solidFill>
              <a:latin typeface="Calibri"/>
              <a:ea typeface="Calibri"/>
              <a:cs typeface="Calibri"/>
              <a:sym typeface="Calibri"/>
            </a:endParaRPr>
          </a:p>
        </p:txBody>
      </p:sp>
      <p:sp>
        <p:nvSpPr>
          <p:cNvPr id="143" name="Google Shape;143;p6"/>
          <p:cNvSpPr/>
          <p:nvPr/>
        </p:nvSpPr>
        <p:spPr>
          <a:xfrm>
            <a:off x="4453128" y="3154680"/>
            <a:ext cx="3282696" cy="365760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Prompt and context engineering</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Systems thinking</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Hardware, firmware, and software fundamentals</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AI-assisted software development</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System integration with MCP servers and APIs</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Data analysis and data storytelling</a:t>
            </a:r>
            <a:endParaRPr b="0" i="0" sz="1100" u="none" cap="none" strike="noStrike">
              <a:solidFill>
                <a:schemeClr val="dk1"/>
              </a:solidFill>
              <a:latin typeface="Calibri"/>
              <a:ea typeface="Calibri"/>
              <a:cs typeface="Calibri"/>
              <a:sym typeface="Calibri"/>
            </a:endParaRPr>
          </a:p>
        </p:txBody>
      </p:sp>
      <p:sp>
        <p:nvSpPr>
          <p:cNvPr id="144" name="Google Shape;144;p6"/>
          <p:cNvSpPr/>
          <p:nvPr/>
        </p:nvSpPr>
        <p:spPr>
          <a:xfrm>
            <a:off x="4453128" y="4572000"/>
            <a:ext cx="3282696"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Business</a:t>
            </a:r>
            <a:endParaRPr b="0" i="0" sz="1100" u="none" cap="none" strike="noStrike">
              <a:solidFill>
                <a:schemeClr val="dk1"/>
              </a:solidFill>
              <a:latin typeface="Calibri"/>
              <a:ea typeface="Calibri"/>
              <a:cs typeface="Calibri"/>
              <a:sym typeface="Calibri"/>
            </a:endParaRPr>
          </a:p>
        </p:txBody>
      </p:sp>
      <p:sp>
        <p:nvSpPr>
          <p:cNvPr id="145" name="Google Shape;145;p6"/>
          <p:cNvSpPr/>
          <p:nvPr/>
        </p:nvSpPr>
        <p:spPr>
          <a:xfrm>
            <a:off x="4453128" y="4754880"/>
            <a:ext cx="3282696" cy="365760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Design thinking and problem definition</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Business development and pitching</a:t>
            </a:r>
            <a:endParaRPr b="0" i="0" sz="1100" u="none" cap="none" strike="noStrike">
              <a:solidFill>
                <a:schemeClr val="dk1"/>
              </a:solidFill>
              <a:latin typeface="Calibri"/>
              <a:ea typeface="Calibri"/>
              <a:cs typeface="Calibri"/>
              <a:sym typeface="Calibri"/>
            </a:endParaRPr>
          </a:p>
        </p:txBody>
      </p:sp>
      <p:sp>
        <p:nvSpPr>
          <p:cNvPr id="146" name="Google Shape;146;p6"/>
          <p:cNvSpPr/>
          <p:nvPr/>
        </p:nvSpPr>
        <p:spPr>
          <a:xfrm>
            <a:off x="4453128" y="5349240"/>
            <a:ext cx="3282696"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Professional</a:t>
            </a:r>
            <a:endParaRPr b="0" i="0" sz="1100" u="none" cap="none" strike="noStrike">
              <a:solidFill>
                <a:schemeClr val="dk1"/>
              </a:solidFill>
              <a:latin typeface="Calibri"/>
              <a:ea typeface="Calibri"/>
              <a:cs typeface="Calibri"/>
              <a:sym typeface="Calibri"/>
            </a:endParaRPr>
          </a:p>
        </p:txBody>
      </p:sp>
      <p:sp>
        <p:nvSpPr>
          <p:cNvPr id="147" name="Google Shape;147;p6"/>
          <p:cNvSpPr/>
          <p:nvPr/>
        </p:nvSpPr>
        <p:spPr>
          <a:xfrm>
            <a:off x="4453128" y="5532120"/>
            <a:ext cx="3282696" cy="365760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Project management and delivery</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Cross-functional collaboration across engineering and business</a:t>
            </a:r>
            <a:endParaRPr b="0" i="0" sz="1100" u="none" cap="none" strike="noStrike">
              <a:solidFill>
                <a:schemeClr val="dk1"/>
              </a:solidFill>
              <a:latin typeface="Calibri"/>
              <a:ea typeface="Calibri"/>
              <a:cs typeface="Calibri"/>
              <a:sym typeface="Calibri"/>
            </a:endParaRPr>
          </a:p>
        </p:txBody>
      </p:sp>
      <p:cxnSp>
        <p:nvCxnSpPr>
          <p:cNvPr id="148" name="Google Shape;148;p6"/>
          <p:cNvCxnSpPr/>
          <p:nvPr/>
        </p:nvCxnSpPr>
        <p:spPr>
          <a:xfrm>
            <a:off x="9825228" y="2221992"/>
            <a:ext cx="0" cy="91440"/>
          </a:xfrm>
          <a:prstGeom prst="straightConnector1">
            <a:avLst/>
          </a:prstGeom>
          <a:noFill/>
          <a:ln cap="flat" cmpd="sng" w="12700">
            <a:solidFill>
              <a:srgbClr val="4C6FA5"/>
            </a:solidFill>
            <a:prstDash val="dash"/>
            <a:round/>
            <a:headEnd len="sm" w="sm" type="none"/>
            <a:tailEnd len="sm" w="sm" type="none"/>
          </a:ln>
        </p:spPr>
      </p:cxnSp>
      <p:sp>
        <p:nvSpPr>
          <p:cNvPr id="149" name="Google Shape;149;p6"/>
          <p:cNvSpPr/>
          <p:nvPr/>
        </p:nvSpPr>
        <p:spPr>
          <a:xfrm>
            <a:off x="9651492" y="1874520"/>
            <a:ext cx="347472" cy="347472"/>
          </a:xfrm>
          <a:prstGeom prst="ellipse">
            <a:avLst/>
          </a:prstGeom>
          <a:solidFill>
            <a:srgbClr val="4C6FA5"/>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vsu-deck/icon_outcomes.png" id="150" name="Google Shape;150;p6"/>
          <p:cNvPicPr preferRelativeResize="0"/>
          <p:nvPr/>
        </p:nvPicPr>
        <p:blipFill rotWithShape="1">
          <a:blip r:embed="rId6">
            <a:alphaModFix/>
          </a:blip>
          <a:srcRect b="0" l="0" r="0" t="0"/>
          <a:stretch/>
        </p:blipFill>
        <p:spPr>
          <a:xfrm>
            <a:off x="9742932" y="1965960"/>
            <a:ext cx="164592" cy="164592"/>
          </a:xfrm>
          <a:prstGeom prst="rect">
            <a:avLst/>
          </a:prstGeom>
          <a:noFill/>
          <a:ln>
            <a:noFill/>
          </a:ln>
        </p:spPr>
      </p:pic>
      <p:sp>
        <p:nvSpPr>
          <p:cNvPr id="151" name="Google Shape;151;p6"/>
          <p:cNvSpPr/>
          <p:nvPr/>
        </p:nvSpPr>
        <p:spPr>
          <a:xfrm>
            <a:off x="8028432" y="2313432"/>
            <a:ext cx="3593592" cy="4361688"/>
          </a:xfrm>
          <a:prstGeom prst="rect">
            <a:avLst/>
          </a:prstGeom>
          <a:solidFill>
            <a:srgbClr val="E7EDF5"/>
          </a:solidFill>
          <a:ln cap="flat" cmpd="sng" w="12700">
            <a:solidFill>
              <a:srgbClr val="4C6F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8028432" y="2313432"/>
            <a:ext cx="3593592" cy="310896"/>
          </a:xfrm>
          <a:prstGeom prst="rect">
            <a:avLst/>
          </a:prstGeom>
          <a:solidFill>
            <a:srgbClr val="4C6F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8028432" y="2313432"/>
            <a:ext cx="3593592"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OUTCOMES</a:t>
            </a:r>
            <a:endParaRPr b="0" i="0" sz="1300" u="none" cap="none" strike="noStrike">
              <a:solidFill>
                <a:schemeClr val="dk1"/>
              </a:solidFill>
              <a:latin typeface="Calibri"/>
              <a:ea typeface="Calibri"/>
              <a:cs typeface="Calibri"/>
              <a:sym typeface="Calibri"/>
            </a:endParaRPr>
          </a:p>
        </p:txBody>
      </p:sp>
      <p:sp>
        <p:nvSpPr>
          <p:cNvPr id="154" name="Google Shape;154;p6"/>
          <p:cNvSpPr/>
          <p:nvPr/>
        </p:nvSpPr>
        <p:spPr>
          <a:xfrm>
            <a:off x="8193024" y="2706624"/>
            <a:ext cx="3264408" cy="23774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WHAT STUDENTS WALK AWAY WITH</a:t>
            </a:r>
            <a:endParaRPr b="0" i="0" sz="1100" u="none" cap="none" strike="noStrike">
              <a:solidFill>
                <a:schemeClr val="dk1"/>
              </a:solidFill>
              <a:latin typeface="Calibri"/>
              <a:ea typeface="Calibri"/>
              <a:cs typeface="Calibri"/>
              <a:sym typeface="Calibri"/>
            </a:endParaRPr>
          </a:p>
        </p:txBody>
      </p:sp>
      <p:sp>
        <p:nvSpPr>
          <p:cNvPr id="155" name="Google Shape;155;p6"/>
          <p:cNvSpPr/>
          <p:nvPr/>
        </p:nvSpPr>
        <p:spPr>
          <a:xfrm>
            <a:off x="8193024" y="2971800"/>
            <a:ext cx="3282696"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Tangible Assets</a:t>
            </a:r>
            <a:endParaRPr b="0" i="0" sz="1100" u="none" cap="none" strike="noStrike">
              <a:solidFill>
                <a:schemeClr val="dk1"/>
              </a:solidFill>
              <a:latin typeface="Calibri"/>
              <a:ea typeface="Calibri"/>
              <a:cs typeface="Calibri"/>
              <a:sym typeface="Calibri"/>
            </a:endParaRPr>
          </a:p>
        </p:txBody>
      </p:sp>
      <p:sp>
        <p:nvSpPr>
          <p:cNvPr id="156" name="Google Shape;156;p6"/>
          <p:cNvSpPr/>
          <p:nvPr/>
        </p:nvSpPr>
        <p:spPr>
          <a:xfrm>
            <a:off x="8193024" y="3154680"/>
            <a:ext cx="3282696" cy="365760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A working IoT prototype (hardware)</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A working software application (digital)</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A business case</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A resume and portfolio</a:t>
            </a:r>
            <a:endParaRPr b="0" i="0" sz="1100" u="none" cap="none" strike="noStrike">
              <a:solidFill>
                <a:schemeClr val="dk1"/>
              </a:solidFill>
              <a:latin typeface="Calibri"/>
              <a:ea typeface="Calibri"/>
              <a:cs typeface="Calibri"/>
              <a:sym typeface="Calibri"/>
            </a:endParaRPr>
          </a:p>
        </p:txBody>
      </p:sp>
      <p:sp>
        <p:nvSpPr>
          <p:cNvPr id="157" name="Google Shape;157;p6"/>
          <p:cNvSpPr/>
          <p:nvPr/>
        </p:nvSpPr>
        <p:spPr>
          <a:xfrm>
            <a:off x="8193024" y="4069080"/>
            <a:ext cx="3282696"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Literacies</a:t>
            </a:r>
            <a:endParaRPr b="0" i="0" sz="1100" u="none" cap="none" strike="noStrike">
              <a:solidFill>
                <a:schemeClr val="dk1"/>
              </a:solidFill>
              <a:latin typeface="Calibri"/>
              <a:ea typeface="Calibri"/>
              <a:cs typeface="Calibri"/>
              <a:sym typeface="Calibri"/>
            </a:endParaRPr>
          </a:p>
        </p:txBody>
      </p:sp>
      <p:sp>
        <p:nvSpPr>
          <p:cNvPr id="158" name="Google Shape;158;p6"/>
          <p:cNvSpPr/>
          <p:nvPr/>
        </p:nvSpPr>
        <p:spPr>
          <a:xfrm>
            <a:off x="8193024" y="4251960"/>
            <a:ext cx="3282696" cy="365760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AI literacy</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Data literacy</a:t>
            </a:r>
            <a:endParaRPr b="0" i="0" sz="1100" u="none" cap="none" strike="noStrike">
              <a:solidFill>
                <a:schemeClr val="dk1"/>
              </a:solidFill>
              <a:latin typeface="Calibri"/>
              <a:ea typeface="Calibri"/>
              <a:cs typeface="Calibri"/>
              <a:sym typeface="Calibri"/>
            </a:endParaRPr>
          </a:p>
        </p:txBody>
      </p:sp>
      <p:sp>
        <p:nvSpPr>
          <p:cNvPr id="159" name="Google Shape;159;p6"/>
          <p:cNvSpPr/>
          <p:nvPr/>
        </p:nvSpPr>
        <p:spPr>
          <a:xfrm>
            <a:off x="8193024" y="4709160"/>
            <a:ext cx="3282696"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100"/>
              <a:buFont typeface="Arial"/>
              <a:buNone/>
            </a:pPr>
            <a:r>
              <a:rPr b="1" i="0" lang="en-US" sz="1100" u="none" cap="none" strike="noStrike">
                <a:solidFill>
                  <a:srgbClr val="24262B"/>
                </a:solidFill>
                <a:latin typeface="Arial"/>
                <a:ea typeface="Arial"/>
                <a:cs typeface="Arial"/>
                <a:sym typeface="Arial"/>
              </a:rPr>
              <a:t>Experience</a:t>
            </a:r>
            <a:endParaRPr b="0" i="0" sz="1100" u="none" cap="none" strike="noStrike">
              <a:solidFill>
                <a:schemeClr val="dk1"/>
              </a:solidFill>
              <a:latin typeface="Calibri"/>
              <a:ea typeface="Calibri"/>
              <a:cs typeface="Calibri"/>
              <a:sym typeface="Calibri"/>
            </a:endParaRPr>
          </a:p>
        </p:txBody>
      </p:sp>
      <p:sp>
        <p:nvSpPr>
          <p:cNvPr id="160" name="Google Shape;160;p6"/>
          <p:cNvSpPr/>
          <p:nvPr/>
        </p:nvSpPr>
        <p:spPr>
          <a:xfrm>
            <a:off x="8193024" y="4892040"/>
            <a:ext cx="3282696" cy="365760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End-to-end product development</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Cross-functional team collaboration</a:t>
            </a:r>
            <a:endParaRPr b="0" i="0" sz="1100" u="none" cap="none" strike="noStrike">
              <a:solidFill>
                <a:schemeClr val="dk1"/>
              </a:solidFill>
              <a:latin typeface="Calibri"/>
              <a:ea typeface="Calibri"/>
              <a:cs typeface="Calibri"/>
              <a:sym typeface="Calibri"/>
            </a:endParaRPr>
          </a:p>
          <a:p>
            <a:pPr indent="-139700" lvl="0" marL="139700" marR="0" rtl="0" algn="l">
              <a:lnSpc>
                <a:spcPct val="100000"/>
              </a:lnSpc>
              <a:spcBef>
                <a:spcPts val="1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Stakeholder presentation and pitching</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5" name="Shape 165"/>
        <p:cNvGrpSpPr/>
        <p:nvPr/>
      </p:nvGrpSpPr>
      <p:grpSpPr>
        <a:xfrm>
          <a:off x="0" y="0"/>
          <a:ext cx="0" cy="0"/>
          <a:chOff x="0" y="0"/>
          <a:chExt cx="0" cy="0"/>
        </a:xfrm>
      </p:grpSpPr>
      <p:sp>
        <p:nvSpPr>
          <p:cNvPr id="166" name="Google Shape;166;p7"/>
          <p:cNvSpPr/>
          <p:nvPr/>
        </p:nvSpPr>
        <p:spPr>
          <a:xfrm>
            <a:off x="548640" y="54864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3000"/>
              <a:buFont typeface="Arial"/>
              <a:buNone/>
            </a:pPr>
            <a:r>
              <a:rPr b="1" i="0" lang="en-US" sz="3000" u="none" cap="none" strike="noStrike">
                <a:solidFill>
                  <a:srgbClr val="24262B"/>
                </a:solidFill>
                <a:latin typeface="Arial"/>
                <a:ea typeface="Arial"/>
                <a:cs typeface="Arial"/>
                <a:sym typeface="Arial"/>
              </a:rPr>
              <a:t>The Tri-Cities Career Showcase</a:t>
            </a:r>
            <a:endParaRPr b="0" i="0" sz="3000" u="none" cap="none" strike="noStrike">
              <a:solidFill>
                <a:schemeClr val="dk1"/>
              </a:solidFill>
              <a:latin typeface="Calibri"/>
              <a:ea typeface="Calibri"/>
              <a:cs typeface="Calibri"/>
              <a:sym typeface="Calibri"/>
            </a:endParaRPr>
          </a:p>
        </p:txBody>
      </p:sp>
      <p:sp>
        <p:nvSpPr>
          <p:cNvPr id="167" name="Google Shape;167;p7"/>
          <p:cNvSpPr/>
          <p:nvPr/>
        </p:nvSpPr>
        <p:spPr>
          <a:xfrm>
            <a:off x="548640" y="1554480"/>
            <a:ext cx="667512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3A3D42"/>
              </a:buClr>
              <a:buSzPts val="1350"/>
              <a:buFont typeface="Arial"/>
              <a:buNone/>
            </a:pPr>
            <a:r>
              <a:rPr b="0" i="0" lang="en-US" sz="1350" u="none" cap="none" strike="noStrike">
                <a:solidFill>
                  <a:srgbClr val="3A3D42"/>
                </a:solidFill>
                <a:latin typeface="Arial"/>
                <a:ea typeface="Arial"/>
                <a:cs typeface="Arial"/>
                <a:sym typeface="Arial"/>
              </a:rPr>
              <a:t>The program's culminating event. Student teams present finished IoT and AI prototypes and business cases live, in front of employers, stakeholders, and the region. Held at the close of the program, April 2027.</a:t>
            </a:r>
            <a:endParaRPr b="0" i="0" sz="1350" u="none" cap="none" strike="noStrike">
              <a:solidFill>
                <a:schemeClr val="dk1"/>
              </a:solidFill>
              <a:latin typeface="Calibri"/>
              <a:ea typeface="Calibri"/>
              <a:cs typeface="Calibri"/>
              <a:sym typeface="Calibri"/>
            </a:endParaRPr>
          </a:p>
        </p:txBody>
      </p:sp>
      <p:cxnSp>
        <p:nvCxnSpPr>
          <p:cNvPr id="168" name="Google Shape;168;p7"/>
          <p:cNvCxnSpPr/>
          <p:nvPr/>
        </p:nvCxnSpPr>
        <p:spPr>
          <a:xfrm>
            <a:off x="3886200" y="2852928"/>
            <a:ext cx="0" cy="73152"/>
          </a:xfrm>
          <a:prstGeom prst="straightConnector1">
            <a:avLst/>
          </a:prstGeom>
          <a:noFill/>
          <a:ln cap="flat" cmpd="sng" w="12700">
            <a:solidFill>
              <a:srgbClr val="18A999"/>
            </a:solidFill>
            <a:prstDash val="dash"/>
            <a:round/>
            <a:headEnd len="sm" w="sm" type="none"/>
            <a:tailEnd len="sm" w="sm" type="none"/>
          </a:ln>
        </p:spPr>
      </p:cxnSp>
      <p:sp>
        <p:nvSpPr>
          <p:cNvPr id="169" name="Google Shape;169;p7"/>
          <p:cNvSpPr/>
          <p:nvPr/>
        </p:nvSpPr>
        <p:spPr>
          <a:xfrm>
            <a:off x="3721608" y="2523744"/>
            <a:ext cx="329184" cy="329184"/>
          </a:xfrm>
          <a:prstGeom prst="ellipse">
            <a:avLst/>
          </a:prstGeom>
          <a:solidFill>
            <a:srgbClr val="18A999"/>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vsu-deck/icon_announce.png" id="170" name="Google Shape;170;p7"/>
          <p:cNvPicPr preferRelativeResize="0"/>
          <p:nvPr/>
        </p:nvPicPr>
        <p:blipFill rotWithShape="1">
          <a:blip r:embed="rId4">
            <a:alphaModFix/>
          </a:blip>
          <a:srcRect b="0" l="0" r="0" t="0"/>
          <a:stretch/>
        </p:blipFill>
        <p:spPr>
          <a:xfrm>
            <a:off x="3794760" y="2596896"/>
            <a:ext cx="182880" cy="182880"/>
          </a:xfrm>
          <a:prstGeom prst="rect">
            <a:avLst/>
          </a:prstGeom>
          <a:noFill/>
          <a:ln>
            <a:noFill/>
          </a:ln>
        </p:spPr>
      </p:pic>
      <p:sp>
        <p:nvSpPr>
          <p:cNvPr id="171" name="Google Shape;171;p7"/>
          <p:cNvSpPr/>
          <p:nvPr/>
        </p:nvSpPr>
        <p:spPr>
          <a:xfrm>
            <a:off x="548640" y="2926080"/>
            <a:ext cx="6675120" cy="1417320"/>
          </a:xfrm>
          <a:prstGeom prst="rect">
            <a:avLst/>
          </a:prstGeom>
          <a:solidFill>
            <a:srgbClr val="E3F5F2"/>
          </a:solidFill>
          <a:ln cap="flat" cmpd="sng" w="12700">
            <a:solidFill>
              <a:srgbClr val="18A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548640" y="2926080"/>
            <a:ext cx="6675120" cy="292608"/>
          </a:xfrm>
          <a:prstGeom prst="rect">
            <a:avLst/>
          </a:prstGeom>
          <a:solidFill>
            <a:srgbClr val="18A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548640" y="2926080"/>
            <a:ext cx="667512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WHAT HAPPENS</a:t>
            </a:r>
            <a:endParaRPr b="0" i="0" sz="1150" u="none" cap="none" strike="noStrike">
              <a:solidFill>
                <a:schemeClr val="dk1"/>
              </a:solidFill>
              <a:latin typeface="Calibri"/>
              <a:ea typeface="Calibri"/>
              <a:cs typeface="Calibri"/>
              <a:sym typeface="Calibri"/>
            </a:endParaRPr>
          </a:p>
        </p:txBody>
      </p:sp>
      <p:sp>
        <p:nvSpPr>
          <p:cNvPr id="174" name="Google Shape;174;p7"/>
          <p:cNvSpPr/>
          <p:nvPr/>
        </p:nvSpPr>
        <p:spPr>
          <a:xfrm>
            <a:off x="731520" y="3355848"/>
            <a:ext cx="6309360" cy="1280160"/>
          </a:xfrm>
          <a:prstGeom prst="rect">
            <a:avLst/>
          </a:prstGeom>
          <a:noFill/>
          <a:ln>
            <a:noFill/>
          </a:ln>
        </p:spPr>
        <p:txBody>
          <a:bodyPr anchorCtr="0" anchor="t" bIns="45700" lIns="91425" spcFirstLastPara="1" rIns="91425" wrap="square" tIns="45700">
            <a:noAutofit/>
          </a:bodyPr>
          <a:lstStyle/>
          <a:p>
            <a:pPr indent="-165100" lvl="0" marL="165100" marR="0" rtl="0" algn="l">
              <a:spcBef>
                <a:spcPts val="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60 students across 15 teams pitch and demo working prototypes</a:t>
            </a:r>
            <a:endParaRPr b="0" i="0" sz="1100" u="none" cap="none" strike="noStrike">
              <a:solidFill>
                <a:schemeClr val="dk1"/>
              </a:solidFill>
              <a:latin typeface="Calibri"/>
              <a:ea typeface="Calibri"/>
              <a:cs typeface="Calibri"/>
              <a:sym typeface="Calibri"/>
            </a:endParaRPr>
          </a:p>
          <a:p>
            <a:pPr indent="-165100" lvl="0" marL="165100" marR="0" rtl="0" algn="l">
              <a:spcBef>
                <a:spcPts val="4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Teams present the business case behind each product</a:t>
            </a:r>
            <a:endParaRPr b="0" i="0" sz="1100" u="none" cap="none" strike="noStrike">
              <a:solidFill>
                <a:schemeClr val="dk1"/>
              </a:solidFill>
              <a:latin typeface="Calibri"/>
              <a:ea typeface="Calibri"/>
              <a:cs typeface="Calibri"/>
              <a:sym typeface="Calibri"/>
            </a:endParaRPr>
          </a:p>
          <a:p>
            <a:pPr indent="-165100" lvl="0" marL="165100" marR="0" rtl="0" algn="l">
              <a:spcBef>
                <a:spcPts val="4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Judges score presentations; recruiters meet students directly</a:t>
            </a:r>
            <a:endParaRPr b="0" i="0" sz="1100" u="none" cap="none" strike="noStrike">
              <a:solidFill>
                <a:schemeClr val="dk1"/>
              </a:solidFill>
              <a:latin typeface="Calibri"/>
              <a:ea typeface="Calibri"/>
              <a:cs typeface="Calibri"/>
              <a:sym typeface="Calibri"/>
            </a:endParaRPr>
          </a:p>
          <a:p>
            <a:pPr indent="-165100" lvl="0" marL="165100" marR="0" rtl="0" algn="l">
              <a:spcBef>
                <a:spcPts val="4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Students bring resumes and portfolios for direct conversations with recruiters</a:t>
            </a:r>
            <a:endParaRPr b="0" i="0" sz="1100" u="none" cap="none" strike="noStrike">
              <a:solidFill>
                <a:schemeClr val="dk1"/>
              </a:solidFill>
              <a:latin typeface="Calibri"/>
              <a:ea typeface="Calibri"/>
              <a:cs typeface="Calibri"/>
              <a:sym typeface="Calibri"/>
            </a:endParaRPr>
          </a:p>
        </p:txBody>
      </p:sp>
      <p:cxnSp>
        <p:nvCxnSpPr>
          <p:cNvPr id="175" name="Google Shape;175;p7"/>
          <p:cNvCxnSpPr/>
          <p:nvPr/>
        </p:nvCxnSpPr>
        <p:spPr>
          <a:xfrm>
            <a:off x="3886200" y="4727448"/>
            <a:ext cx="0" cy="73152"/>
          </a:xfrm>
          <a:prstGeom prst="straightConnector1">
            <a:avLst/>
          </a:prstGeom>
          <a:noFill/>
          <a:ln cap="flat" cmpd="sng" w="12700">
            <a:solidFill>
              <a:srgbClr val="D98A3D"/>
            </a:solidFill>
            <a:prstDash val="dash"/>
            <a:round/>
            <a:headEnd len="sm" w="sm" type="none"/>
            <a:tailEnd len="sm" w="sm" type="none"/>
          </a:ln>
        </p:spPr>
      </p:cxnSp>
      <p:sp>
        <p:nvSpPr>
          <p:cNvPr id="176" name="Google Shape;176;p7"/>
          <p:cNvSpPr/>
          <p:nvPr/>
        </p:nvSpPr>
        <p:spPr>
          <a:xfrm>
            <a:off x="3721608" y="4398264"/>
            <a:ext cx="329184" cy="329184"/>
          </a:xfrm>
          <a:prstGeom prst="ellipse">
            <a:avLst/>
          </a:prstGeom>
          <a:solidFill>
            <a:srgbClr val="D98A3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vsu-deck/icon_briefcase.png" id="177" name="Google Shape;177;p7"/>
          <p:cNvPicPr preferRelativeResize="0"/>
          <p:nvPr/>
        </p:nvPicPr>
        <p:blipFill rotWithShape="1">
          <a:blip r:embed="rId5">
            <a:alphaModFix/>
          </a:blip>
          <a:srcRect b="0" l="0" r="0" t="0"/>
          <a:stretch/>
        </p:blipFill>
        <p:spPr>
          <a:xfrm>
            <a:off x="3794760" y="4471416"/>
            <a:ext cx="182880" cy="182880"/>
          </a:xfrm>
          <a:prstGeom prst="rect">
            <a:avLst/>
          </a:prstGeom>
          <a:noFill/>
          <a:ln>
            <a:noFill/>
          </a:ln>
        </p:spPr>
      </p:pic>
      <p:sp>
        <p:nvSpPr>
          <p:cNvPr id="178" name="Google Shape;178;p7"/>
          <p:cNvSpPr/>
          <p:nvPr/>
        </p:nvSpPr>
        <p:spPr>
          <a:xfrm>
            <a:off x="548640" y="4800600"/>
            <a:ext cx="6675120" cy="1737360"/>
          </a:xfrm>
          <a:prstGeom prst="rect">
            <a:avLst/>
          </a:prstGeom>
          <a:solidFill>
            <a:srgbClr val="FBEEDD"/>
          </a:solidFill>
          <a:ln cap="flat" cmpd="sng" w="12700">
            <a:solidFill>
              <a:srgbClr val="D98A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
          <p:cNvSpPr/>
          <p:nvPr/>
        </p:nvSpPr>
        <p:spPr>
          <a:xfrm>
            <a:off x="548640" y="4800600"/>
            <a:ext cx="6675120" cy="292608"/>
          </a:xfrm>
          <a:prstGeom prst="rect">
            <a:avLst/>
          </a:prstGeom>
          <a:solidFill>
            <a:srgbClr val="D98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
          <p:cNvSpPr/>
          <p:nvPr/>
        </p:nvSpPr>
        <p:spPr>
          <a:xfrm>
            <a:off x="548640" y="4800600"/>
            <a:ext cx="667512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WHY IT MATTERS TO EMPLOYERS</a:t>
            </a:r>
            <a:endParaRPr b="0" i="0" sz="1150" u="none" cap="none" strike="noStrike">
              <a:solidFill>
                <a:schemeClr val="dk1"/>
              </a:solidFill>
              <a:latin typeface="Calibri"/>
              <a:ea typeface="Calibri"/>
              <a:cs typeface="Calibri"/>
              <a:sym typeface="Calibri"/>
            </a:endParaRPr>
          </a:p>
        </p:txBody>
      </p:sp>
      <p:sp>
        <p:nvSpPr>
          <p:cNvPr id="181" name="Google Shape;181;p7"/>
          <p:cNvSpPr/>
          <p:nvPr/>
        </p:nvSpPr>
        <p:spPr>
          <a:xfrm>
            <a:off x="731520" y="5230368"/>
            <a:ext cx="6309360" cy="1371600"/>
          </a:xfrm>
          <a:prstGeom prst="rect">
            <a:avLst/>
          </a:prstGeom>
          <a:noFill/>
          <a:ln>
            <a:noFill/>
          </a:ln>
        </p:spPr>
        <p:txBody>
          <a:bodyPr anchorCtr="0" anchor="t" bIns="45700" lIns="91425" spcFirstLastPara="1" rIns="91425" wrap="square" tIns="45700">
            <a:noAutofit/>
          </a:bodyPr>
          <a:lstStyle/>
          <a:p>
            <a:pPr indent="-165100" lvl="0" marL="165100" marR="0" rtl="0" algn="l">
              <a:spcBef>
                <a:spcPts val="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Early, direct access to a talent pipeline before hiring season starts</a:t>
            </a:r>
            <a:endParaRPr b="0" i="0" sz="1100" u="none" cap="none" strike="noStrike">
              <a:solidFill>
                <a:schemeClr val="dk1"/>
              </a:solidFill>
              <a:latin typeface="Calibri"/>
              <a:ea typeface="Calibri"/>
              <a:cs typeface="Calibri"/>
              <a:sym typeface="Calibri"/>
            </a:endParaRPr>
          </a:p>
          <a:p>
            <a:pPr indent="-165100" lvl="0" marL="165100" marR="0" rtl="0" algn="l">
              <a:spcBef>
                <a:spcPts val="4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See how students think and solve, the same way you would in an interview</a:t>
            </a:r>
            <a:endParaRPr b="0" i="0" sz="1100" u="none" cap="none" strike="noStrike">
              <a:solidFill>
                <a:schemeClr val="dk1"/>
              </a:solidFill>
              <a:latin typeface="Calibri"/>
              <a:ea typeface="Calibri"/>
              <a:cs typeface="Calibri"/>
              <a:sym typeface="Calibri"/>
            </a:endParaRPr>
          </a:p>
          <a:p>
            <a:pPr indent="-165100" lvl="0" marL="165100" marR="0" rtl="0" algn="l">
              <a:spcBef>
                <a:spcPts val="4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Low commitment: no internship program required to get this visibility</a:t>
            </a:r>
            <a:endParaRPr b="0" i="0" sz="1100" u="none" cap="none" strike="noStrike">
              <a:solidFill>
                <a:schemeClr val="dk1"/>
              </a:solidFill>
              <a:latin typeface="Calibri"/>
              <a:ea typeface="Calibri"/>
              <a:cs typeface="Calibri"/>
              <a:sym typeface="Calibri"/>
            </a:endParaRPr>
          </a:p>
          <a:p>
            <a:pPr indent="-165100" lvl="0" marL="165100" marR="0" rtl="0" algn="l">
              <a:spcBef>
                <a:spcPts val="400"/>
              </a:spcBef>
              <a:spcAft>
                <a:spcPts val="0"/>
              </a:spcAft>
              <a:buClr>
                <a:srgbClr val="3A3D42"/>
              </a:buClr>
              <a:buSzPts val="1100"/>
              <a:buFont typeface="Arial"/>
              <a:buChar char="•"/>
            </a:pPr>
            <a:r>
              <a:rPr b="0" i="0" lang="en-US" sz="1100" u="none" cap="none" strike="noStrike">
                <a:solidFill>
                  <a:srgbClr val="3A3D42"/>
                </a:solidFill>
                <a:latin typeface="Arial"/>
                <a:ea typeface="Arial"/>
                <a:cs typeface="Arial"/>
                <a:sym typeface="Arial"/>
              </a:rPr>
              <a:t>Most students are freshmen and sophomores, so early exposure builds a multi-year relationship before other employers start recruiting them</a:t>
            </a:r>
            <a:endParaRPr b="0" i="0" sz="1100" u="none" cap="none" strike="noStrike">
              <a:solidFill>
                <a:schemeClr val="dk1"/>
              </a:solidFill>
              <a:latin typeface="Calibri"/>
              <a:ea typeface="Calibri"/>
              <a:cs typeface="Calibri"/>
              <a:sym typeface="Calibri"/>
            </a:endParaRPr>
          </a:p>
        </p:txBody>
      </p:sp>
      <p:pic>
        <p:nvPicPr>
          <p:cNvPr descr="/home/claude/vsu-deck/photos/showcase.jpg" id="182" name="Google Shape;182;p7"/>
          <p:cNvPicPr preferRelativeResize="0"/>
          <p:nvPr/>
        </p:nvPicPr>
        <p:blipFill rotWithShape="1">
          <a:blip r:embed="rId6">
            <a:alphaModFix/>
          </a:blip>
          <a:srcRect b="0" l="0" r="0" t="0"/>
          <a:stretch/>
        </p:blipFill>
        <p:spPr>
          <a:xfrm>
            <a:off x="7589520" y="1600200"/>
            <a:ext cx="4023360" cy="4572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7" name="Shape 187"/>
        <p:cNvGrpSpPr/>
        <p:nvPr/>
      </p:nvGrpSpPr>
      <p:grpSpPr>
        <a:xfrm>
          <a:off x="0" y="0"/>
          <a:ext cx="0" cy="0"/>
          <a:chOff x="0" y="0"/>
          <a:chExt cx="0" cy="0"/>
        </a:xfrm>
      </p:grpSpPr>
      <p:sp>
        <p:nvSpPr>
          <p:cNvPr id="188" name="Google Shape;188;p8"/>
          <p:cNvSpPr/>
          <p:nvPr/>
        </p:nvSpPr>
        <p:spPr>
          <a:xfrm>
            <a:off x="548640" y="54864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3000"/>
              <a:buFont typeface="Arial"/>
              <a:buNone/>
            </a:pPr>
            <a:r>
              <a:rPr b="1" i="0" lang="en-US" sz="3000" u="none" cap="none" strike="noStrike">
                <a:solidFill>
                  <a:srgbClr val="24262B"/>
                </a:solidFill>
                <a:latin typeface="Arial"/>
                <a:ea typeface="Arial"/>
                <a:cs typeface="Arial"/>
                <a:sym typeface="Arial"/>
              </a:rPr>
              <a:t>Proposed Timeline</a:t>
            </a:r>
            <a:endParaRPr b="0" i="0" sz="3000" u="none" cap="none" strike="noStrike">
              <a:solidFill>
                <a:schemeClr val="dk1"/>
              </a:solidFill>
              <a:latin typeface="Calibri"/>
              <a:ea typeface="Calibri"/>
              <a:cs typeface="Calibri"/>
              <a:sym typeface="Calibri"/>
            </a:endParaRPr>
          </a:p>
        </p:txBody>
      </p:sp>
      <p:graphicFrame>
        <p:nvGraphicFramePr>
          <p:cNvPr id="189" name="Google Shape;189;p8"/>
          <p:cNvGraphicFramePr/>
          <p:nvPr/>
        </p:nvGraphicFramePr>
        <p:xfrm>
          <a:off x="548640" y="1828800"/>
          <a:ext cx="3000000" cy="3000000"/>
        </p:xfrm>
        <a:graphic>
          <a:graphicData uri="http://schemas.openxmlformats.org/drawingml/2006/table">
            <a:tbl>
              <a:tblPr>
                <a:noFill/>
                <a:tableStyleId>{F6C407B5-E466-4C62-889B-272378CAD485}</a:tableStyleId>
              </a:tblPr>
              <a:tblGrid>
                <a:gridCol w="2468875"/>
                <a:gridCol w="2377450"/>
                <a:gridCol w="6217925"/>
              </a:tblGrid>
              <a:tr h="411475">
                <a:tc>
                  <a:txBody>
                    <a:bodyPr/>
                    <a:lstStyle/>
                    <a:p>
                      <a:pPr indent="0" lvl="0" marL="0" marR="0" rtl="0" algn="l">
                        <a:spcBef>
                          <a:spcPts val="0"/>
                        </a:spcBef>
                        <a:spcAft>
                          <a:spcPts val="0"/>
                        </a:spcAft>
                        <a:buClr>
                          <a:srgbClr val="FFFFFF"/>
                        </a:buClr>
                        <a:buSzPts val="1300"/>
                        <a:buFont typeface="Arial"/>
                        <a:buNone/>
                      </a:pPr>
                      <a:r>
                        <a:rPr b="1" lang="en-US" sz="1300" u="none" cap="none" strike="noStrike">
                          <a:solidFill>
                            <a:srgbClr val="FFFFFF"/>
                          </a:solidFill>
                          <a:latin typeface="Arial"/>
                          <a:ea typeface="Arial"/>
                          <a:cs typeface="Arial"/>
                          <a:sym typeface="Arial"/>
                        </a:rPr>
                        <a:t>Phase</a:t>
                      </a:r>
                      <a:endParaRPr sz="1300" u="none" cap="none" strike="noStrike">
                        <a:latin typeface="Arial"/>
                        <a:ea typeface="Arial"/>
                        <a:cs typeface="Arial"/>
                        <a:sym typeface="Arial"/>
                      </a:endParaRPr>
                    </a:p>
                  </a:txBody>
                  <a:tcPr marT="45725" marB="45725" marR="91450" marL="91450" anchor="ctr">
                    <a:lnL cap="flat" cmpd="sng" w="9525">
                      <a:solidFill>
                        <a:srgbClr val="E2E1DC"/>
                      </a:solidFill>
                      <a:prstDash val="solid"/>
                      <a:round/>
                      <a:headEnd len="sm" w="sm" type="none"/>
                      <a:tailEnd len="sm" w="sm" type="none"/>
                    </a:lnL>
                    <a:lnR cap="flat" cmpd="sng" w="9525">
                      <a:solidFill>
                        <a:srgbClr val="E2E1DC"/>
                      </a:solidFill>
                      <a:prstDash val="solid"/>
                      <a:round/>
                      <a:headEnd len="sm" w="sm" type="none"/>
                      <a:tailEnd len="sm" w="sm" type="none"/>
                    </a:lnR>
                    <a:lnT cap="flat" cmpd="sng" w="9525">
                      <a:solidFill>
                        <a:srgbClr val="E2E1DC"/>
                      </a:solidFill>
                      <a:prstDash val="solid"/>
                      <a:round/>
                      <a:headEnd len="sm" w="sm" type="none"/>
                      <a:tailEnd len="sm" w="sm" type="none"/>
                    </a:lnT>
                    <a:lnB cap="flat" cmpd="sng" w="9525">
                      <a:solidFill>
                        <a:srgbClr val="E2E1DC"/>
                      </a:solidFill>
                      <a:prstDash val="solid"/>
                      <a:round/>
                      <a:headEnd len="sm" w="sm" type="none"/>
                      <a:tailEnd len="sm" w="sm" type="none"/>
                    </a:lnB>
                    <a:solidFill>
                      <a:srgbClr val="24262B"/>
                    </a:solidFill>
                  </a:tcPr>
                </a:tc>
                <a:tc>
                  <a:txBody>
                    <a:bodyPr/>
                    <a:lstStyle/>
                    <a:p>
                      <a:pPr indent="0" lvl="0" marL="0" marR="0" rtl="0" algn="l">
                        <a:spcBef>
                          <a:spcPts val="0"/>
                        </a:spcBef>
                        <a:spcAft>
                          <a:spcPts val="0"/>
                        </a:spcAft>
                        <a:buClr>
                          <a:srgbClr val="FFFFFF"/>
                        </a:buClr>
                        <a:buSzPts val="1300"/>
                        <a:buFont typeface="Arial"/>
                        <a:buNone/>
                      </a:pPr>
                      <a:r>
                        <a:rPr b="1" lang="en-US" sz="1300" u="none" cap="none" strike="noStrike">
                          <a:solidFill>
                            <a:srgbClr val="FFFFFF"/>
                          </a:solidFill>
                          <a:latin typeface="Arial"/>
                          <a:ea typeface="Arial"/>
                          <a:cs typeface="Arial"/>
                          <a:sym typeface="Arial"/>
                        </a:rPr>
                        <a:t>Timing</a:t>
                      </a:r>
                      <a:endParaRPr sz="1300" u="none" cap="none" strike="noStrike">
                        <a:latin typeface="Arial"/>
                        <a:ea typeface="Arial"/>
                        <a:cs typeface="Arial"/>
                        <a:sym typeface="Arial"/>
                      </a:endParaRPr>
                    </a:p>
                  </a:txBody>
                  <a:tcPr marT="45725" marB="45725" marR="91450" marL="91450" anchor="ctr">
                    <a:lnL cap="flat" cmpd="sng" w="9525">
                      <a:solidFill>
                        <a:srgbClr val="E2E1DC"/>
                      </a:solidFill>
                      <a:prstDash val="solid"/>
                      <a:round/>
                      <a:headEnd len="sm" w="sm" type="none"/>
                      <a:tailEnd len="sm" w="sm" type="none"/>
                    </a:lnL>
                    <a:lnR cap="flat" cmpd="sng" w="9525">
                      <a:solidFill>
                        <a:srgbClr val="E2E1DC"/>
                      </a:solidFill>
                      <a:prstDash val="solid"/>
                      <a:round/>
                      <a:headEnd len="sm" w="sm" type="none"/>
                      <a:tailEnd len="sm" w="sm" type="none"/>
                    </a:lnR>
                    <a:lnT cap="flat" cmpd="sng" w="9525">
                      <a:solidFill>
                        <a:srgbClr val="E2E1DC"/>
                      </a:solidFill>
                      <a:prstDash val="solid"/>
                      <a:round/>
                      <a:headEnd len="sm" w="sm" type="none"/>
                      <a:tailEnd len="sm" w="sm" type="none"/>
                    </a:lnT>
                    <a:lnB cap="flat" cmpd="sng" w="9525">
                      <a:solidFill>
                        <a:srgbClr val="E2E1DC"/>
                      </a:solidFill>
                      <a:prstDash val="solid"/>
                      <a:round/>
                      <a:headEnd len="sm" w="sm" type="none"/>
                      <a:tailEnd len="sm" w="sm" type="none"/>
                    </a:lnB>
                    <a:solidFill>
                      <a:srgbClr val="24262B"/>
                    </a:solidFill>
                  </a:tcPr>
                </a:tc>
                <a:tc>
                  <a:txBody>
                    <a:bodyPr/>
                    <a:lstStyle/>
                    <a:p>
                      <a:pPr indent="0" lvl="0" marL="0" marR="0" rtl="0" algn="l">
                        <a:spcBef>
                          <a:spcPts val="0"/>
                        </a:spcBef>
                        <a:spcAft>
                          <a:spcPts val="0"/>
                        </a:spcAft>
                        <a:buClr>
                          <a:srgbClr val="FFFFFF"/>
                        </a:buClr>
                        <a:buSzPts val="1300"/>
                        <a:buFont typeface="Arial"/>
                        <a:buNone/>
                      </a:pPr>
                      <a:r>
                        <a:rPr b="1" lang="en-US" sz="1300" u="none" cap="none" strike="noStrike">
                          <a:solidFill>
                            <a:srgbClr val="FFFFFF"/>
                          </a:solidFill>
                          <a:latin typeface="Arial"/>
                          <a:ea typeface="Arial"/>
                          <a:cs typeface="Arial"/>
                          <a:sym typeface="Arial"/>
                        </a:rPr>
                        <a:t>What Happens</a:t>
                      </a:r>
                      <a:endParaRPr sz="1300" u="none" cap="none" strike="noStrike">
                        <a:latin typeface="Arial"/>
                        <a:ea typeface="Arial"/>
                        <a:cs typeface="Arial"/>
                        <a:sym typeface="Arial"/>
                      </a:endParaRPr>
                    </a:p>
                  </a:txBody>
                  <a:tcPr marT="45725" marB="45725" marR="91450" marL="91450" anchor="ctr">
                    <a:lnL cap="flat" cmpd="sng" w="9525">
                      <a:solidFill>
                        <a:srgbClr val="E2E1DC"/>
                      </a:solidFill>
                      <a:prstDash val="solid"/>
                      <a:round/>
                      <a:headEnd len="sm" w="sm" type="none"/>
                      <a:tailEnd len="sm" w="sm" type="none"/>
                    </a:lnL>
                    <a:lnR cap="flat" cmpd="sng" w="9525">
                      <a:solidFill>
                        <a:srgbClr val="E2E1DC"/>
                      </a:solidFill>
                      <a:prstDash val="solid"/>
                      <a:round/>
                      <a:headEnd len="sm" w="sm" type="none"/>
                      <a:tailEnd len="sm" w="sm" type="none"/>
                    </a:lnR>
                    <a:lnT cap="flat" cmpd="sng" w="9525">
                      <a:solidFill>
                        <a:srgbClr val="E2E1DC"/>
                      </a:solidFill>
                      <a:prstDash val="solid"/>
                      <a:round/>
                      <a:headEnd len="sm" w="sm" type="none"/>
                      <a:tailEnd len="sm" w="sm" type="none"/>
                    </a:lnT>
                    <a:lnB cap="flat" cmpd="sng" w="9525">
                      <a:solidFill>
                        <a:srgbClr val="E2E1DC"/>
                      </a:solidFill>
                      <a:prstDash val="solid"/>
                      <a:round/>
                      <a:headEnd len="sm" w="sm" type="none"/>
                      <a:tailEnd len="sm" w="sm" type="none"/>
                    </a:lnB>
                    <a:solidFill>
                      <a:srgbClr val="24262B"/>
                    </a:solidFill>
                  </a:tcPr>
                </a:tc>
              </a:tr>
              <a:tr h="777250">
                <a:tc>
                  <a:txBody>
                    <a:bodyPr/>
                    <a:lstStyle/>
                    <a:p>
                      <a:pPr indent="0" lvl="0" marL="0" marR="0" rtl="0" algn="l">
                        <a:spcBef>
                          <a:spcPts val="0"/>
                        </a:spcBef>
                        <a:spcAft>
                          <a:spcPts val="0"/>
                        </a:spcAft>
                        <a:buClr>
                          <a:srgbClr val="24262B"/>
                        </a:buClr>
                        <a:buSzPts val="1250"/>
                        <a:buFont typeface="Arial"/>
                        <a:buNone/>
                      </a:pPr>
                      <a:r>
                        <a:rPr b="1" lang="en-US" sz="1250" u="none" cap="none" strike="noStrike">
                          <a:solidFill>
                            <a:srgbClr val="24262B"/>
                          </a:solidFill>
                          <a:latin typeface="Arial"/>
                          <a:ea typeface="Arial"/>
                          <a:cs typeface="Arial"/>
                          <a:sym typeface="Arial"/>
                        </a:rPr>
                        <a:t>Proposal</a:t>
                      </a:r>
                      <a:endParaRPr sz="1250" u="none" cap="none" strike="noStrike">
                        <a:latin typeface="Arial"/>
                        <a:ea typeface="Arial"/>
                        <a:cs typeface="Arial"/>
                        <a:sym typeface="Arial"/>
                      </a:endParaRPr>
                    </a:p>
                  </a:txBody>
                  <a:tcPr marT="25400" marB="25400" marR="25400" marL="406400" anchor="ctr">
                    <a:lnL cap="flat" cmpd="sng" w="9525">
                      <a:solidFill>
                        <a:srgbClr val="E2E1DC"/>
                      </a:solidFill>
                      <a:prstDash val="solid"/>
                      <a:round/>
                      <a:headEnd len="sm" w="sm" type="none"/>
                      <a:tailEnd len="sm" w="sm" type="none"/>
                    </a:lnL>
                    <a:lnR cap="flat" cmpd="sng" w="9525">
                      <a:solidFill>
                        <a:srgbClr val="E2E1DC"/>
                      </a:solidFill>
                      <a:prstDash val="solid"/>
                      <a:round/>
                      <a:headEnd len="sm" w="sm" type="none"/>
                      <a:tailEnd len="sm" w="sm" type="none"/>
                    </a:lnR>
                    <a:lnT cap="flat" cmpd="sng" w="9525">
                      <a:solidFill>
                        <a:srgbClr val="E2E1DC"/>
                      </a:solidFill>
                      <a:prstDash val="solid"/>
                      <a:round/>
                      <a:headEnd len="sm" w="sm" type="none"/>
                      <a:tailEnd len="sm" w="sm" type="none"/>
                    </a:lnT>
                    <a:lnB cap="flat" cmpd="sng" w="9525">
                      <a:solidFill>
                        <a:srgbClr val="E2E1D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A3D42"/>
                        </a:buClr>
                        <a:buSzPts val="1250"/>
                        <a:buFont typeface="Arial"/>
                        <a:buNone/>
                      </a:pPr>
                      <a:r>
                        <a:rPr lang="en-US" sz="1250" u="none" cap="none" strike="noStrike">
                          <a:solidFill>
                            <a:srgbClr val="3A3D42"/>
                          </a:solidFill>
                          <a:latin typeface="Arial"/>
                          <a:ea typeface="Arial"/>
                          <a:cs typeface="Arial"/>
                          <a:sym typeface="Arial"/>
                        </a:rPr>
                        <a:t>August – September 2026</a:t>
                      </a:r>
                      <a:endParaRPr sz="1250" u="none" cap="none" strike="noStrike">
                        <a:latin typeface="Arial"/>
                        <a:ea typeface="Arial"/>
                        <a:cs typeface="Arial"/>
                        <a:sym typeface="Arial"/>
                      </a:endParaRPr>
                    </a:p>
                  </a:txBody>
                  <a:tcPr marT="45725" marB="45725" marR="91450" marL="91450" anchor="ctr">
                    <a:lnL cap="flat" cmpd="sng" w="9525">
                      <a:solidFill>
                        <a:srgbClr val="E2E1DC"/>
                      </a:solidFill>
                      <a:prstDash val="solid"/>
                      <a:round/>
                      <a:headEnd len="sm" w="sm" type="none"/>
                      <a:tailEnd len="sm" w="sm" type="none"/>
                    </a:lnL>
                    <a:lnR cap="flat" cmpd="sng" w="9525">
                      <a:solidFill>
                        <a:srgbClr val="E2E1DC"/>
                      </a:solidFill>
                      <a:prstDash val="solid"/>
                      <a:round/>
                      <a:headEnd len="sm" w="sm" type="none"/>
                      <a:tailEnd len="sm" w="sm" type="none"/>
                    </a:lnR>
                    <a:lnT cap="flat" cmpd="sng" w="9525">
                      <a:solidFill>
                        <a:srgbClr val="E2E1DC"/>
                      </a:solidFill>
                      <a:prstDash val="solid"/>
                      <a:round/>
                      <a:headEnd len="sm" w="sm" type="none"/>
                      <a:tailEnd len="sm" w="sm" type="none"/>
                    </a:lnT>
                    <a:lnB cap="flat" cmpd="sng" w="9525">
                      <a:solidFill>
                        <a:srgbClr val="E2E1D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A3D42"/>
                        </a:buClr>
                        <a:buSzPts val="1250"/>
                        <a:buFont typeface="Arial"/>
                        <a:buNone/>
                      </a:pPr>
                      <a:r>
                        <a:rPr lang="en-US" sz="1250" u="none" cap="none" strike="noStrike">
                          <a:solidFill>
                            <a:srgbClr val="3A3D42"/>
                          </a:solidFill>
                          <a:latin typeface="Arial"/>
                          <a:ea typeface="Arial"/>
                          <a:cs typeface="Arial"/>
                          <a:sym typeface="Arial"/>
                        </a:rPr>
                        <a:t>Finalize partners, secure commitments, and align on scope with VSU</a:t>
                      </a:r>
                      <a:endParaRPr sz="1250" u="none" cap="none" strike="noStrike">
                        <a:latin typeface="Arial"/>
                        <a:ea typeface="Arial"/>
                        <a:cs typeface="Arial"/>
                        <a:sym typeface="Arial"/>
                      </a:endParaRPr>
                    </a:p>
                  </a:txBody>
                  <a:tcPr marT="45725" marB="45725" marR="91450" marL="91450" anchor="ctr">
                    <a:lnL cap="flat" cmpd="sng" w="9525">
                      <a:solidFill>
                        <a:srgbClr val="E2E1DC"/>
                      </a:solidFill>
                      <a:prstDash val="solid"/>
                      <a:round/>
                      <a:headEnd len="sm" w="sm" type="none"/>
                      <a:tailEnd len="sm" w="sm" type="none"/>
                    </a:lnL>
                    <a:lnR cap="flat" cmpd="sng" w="9525">
                      <a:solidFill>
                        <a:srgbClr val="E2E1DC"/>
                      </a:solidFill>
                      <a:prstDash val="solid"/>
                      <a:round/>
                      <a:headEnd len="sm" w="sm" type="none"/>
                      <a:tailEnd len="sm" w="sm" type="none"/>
                    </a:lnR>
                    <a:lnT cap="flat" cmpd="sng" w="9525">
                      <a:solidFill>
                        <a:srgbClr val="E2E1DC"/>
                      </a:solidFill>
                      <a:prstDash val="solid"/>
                      <a:round/>
                      <a:headEnd len="sm" w="sm" type="none"/>
                      <a:tailEnd len="sm" w="sm" type="none"/>
                    </a:lnT>
                    <a:lnB cap="flat" cmpd="sng" w="9525">
                      <a:solidFill>
                        <a:srgbClr val="E2E1DC"/>
                      </a:solidFill>
                      <a:prstDash val="solid"/>
                      <a:round/>
                      <a:headEnd len="sm" w="sm" type="none"/>
                      <a:tailEnd len="sm" w="sm" type="none"/>
                    </a:lnB>
                    <a:solidFill>
                      <a:srgbClr val="FFFFFF"/>
                    </a:solidFill>
                  </a:tcPr>
                </a:tc>
              </a:tr>
              <a:tr h="777250">
                <a:tc>
                  <a:txBody>
                    <a:bodyPr/>
                    <a:lstStyle/>
                    <a:p>
                      <a:pPr indent="0" lvl="0" marL="0" marR="0" rtl="0" algn="l">
                        <a:spcBef>
                          <a:spcPts val="0"/>
                        </a:spcBef>
                        <a:spcAft>
                          <a:spcPts val="0"/>
                        </a:spcAft>
                        <a:buClr>
                          <a:srgbClr val="24262B"/>
                        </a:buClr>
                        <a:buSzPts val="1250"/>
                        <a:buFont typeface="Arial"/>
                        <a:buNone/>
                      </a:pPr>
                      <a:r>
                        <a:rPr b="1" lang="en-US" sz="1250" u="none" cap="none" strike="noStrike">
                          <a:solidFill>
                            <a:srgbClr val="24262B"/>
                          </a:solidFill>
                          <a:latin typeface="Arial"/>
                          <a:ea typeface="Arial"/>
                          <a:cs typeface="Arial"/>
                          <a:sym typeface="Arial"/>
                        </a:rPr>
                        <a:t>Setup</a:t>
                      </a:r>
                      <a:endParaRPr sz="1250" u="none" cap="none" strike="noStrike">
                        <a:latin typeface="Arial"/>
                        <a:ea typeface="Arial"/>
                        <a:cs typeface="Arial"/>
                        <a:sym typeface="Arial"/>
                      </a:endParaRPr>
                    </a:p>
                  </a:txBody>
                  <a:tcPr marT="25400" marB="25400" marR="25400" marL="406400" anchor="ctr">
                    <a:lnL cap="flat" cmpd="sng" w="9525">
                      <a:solidFill>
                        <a:srgbClr val="E2E1DC"/>
                      </a:solidFill>
                      <a:prstDash val="solid"/>
                      <a:round/>
                      <a:headEnd len="sm" w="sm" type="none"/>
                      <a:tailEnd len="sm" w="sm" type="none"/>
                    </a:lnL>
                    <a:lnR cap="flat" cmpd="sng" w="9525">
                      <a:solidFill>
                        <a:srgbClr val="E2E1DC"/>
                      </a:solidFill>
                      <a:prstDash val="solid"/>
                      <a:round/>
                      <a:headEnd len="sm" w="sm" type="none"/>
                      <a:tailEnd len="sm" w="sm" type="none"/>
                    </a:lnR>
                    <a:lnT cap="flat" cmpd="sng" w="9525">
                      <a:solidFill>
                        <a:srgbClr val="E2E1DC"/>
                      </a:solidFill>
                      <a:prstDash val="solid"/>
                      <a:round/>
                      <a:headEnd len="sm" w="sm" type="none"/>
                      <a:tailEnd len="sm" w="sm" type="none"/>
                    </a:lnT>
                    <a:lnB cap="flat" cmpd="sng" w="9525">
                      <a:solidFill>
                        <a:srgbClr val="E2E1DC"/>
                      </a:solidFill>
                      <a:prstDash val="solid"/>
                      <a:round/>
                      <a:headEnd len="sm" w="sm" type="none"/>
                      <a:tailEnd len="sm" w="sm" type="none"/>
                    </a:lnB>
                    <a:solidFill>
                      <a:srgbClr val="FBFAF8"/>
                    </a:solidFill>
                  </a:tcPr>
                </a:tc>
                <a:tc>
                  <a:txBody>
                    <a:bodyPr/>
                    <a:lstStyle/>
                    <a:p>
                      <a:pPr indent="0" lvl="0" marL="0" marR="0" rtl="0" algn="l">
                        <a:spcBef>
                          <a:spcPts val="0"/>
                        </a:spcBef>
                        <a:spcAft>
                          <a:spcPts val="0"/>
                        </a:spcAft>
                        <a:buClr>
                          <a:srgbClr val="3A3D42"/>
                        </a:buClr>
                        <a:buSzPts val="1250"/>
                        <a:buFont typeface="Arial"/>
                        <a:buNone/>
                      </a:pPr>
                      <a:r>
                        <a:rPr lang="en-US" sz="1250" u="none" cap="none" strike="noStrike">
                          <a:solidFill>
                            <a:srgbClr val="3A3D42"/>
                          </a:solidFill>
                          <a:latin typeface="Arial"/>
                          <a:ea typeface="Arial"/>
                          <a:cs typeface="Arial"/>
                          <a:sym typeface="Arial"/>
                        </a:rPr>
                        <a:t>October – December 2026</a:t>
                      </a:r>
                      <a:endParaRPr sz="1250" u="none" cap="none" strike="noStrike">
                        <a:latin typeface="Arial"/>
                        <a:ea typeface="Arial"/>
                        <a:cs typeface="Arial"/>
                        <a:sym typeface="Arial"/>
                      </a:endParaRPr>
                    </a:p>
                  </a:txBody>
                  <a:tcPr marT="45725" marB="45725" marR="91450" marL="91450" anchor="ctr">
                    <a:lnL cap="flat" cmpd="sng" w="9525">
                      <a:solidFill>
                        <a:srgbClr val="E2E1DC"/>
                      </a:solidFill>
                      <a:prstDash val="solid"/>
                      <a:round/>
                      <a:headEnd len="sm" w="sm" type="none"/>
                      <a:tailEnd len="sm" w="sm" type="none"/>
                    </a:lnL>
                    <a:lnR cap="flat" cmpd="sng" w="9525">
                      <a:solidFill>
                        <a:srgbClr val="E2E1DC"/>
                      </a:solidFill>
                      <a:prstDash val="solid"/>
                      <a:round/>
                      <a:headEnd len="sm" w="sm" type="none"/>
                      <a:tailEnd len="sm" w="sm" type="none"/>
                    </a:lnR>
                    <a:lnT cap="flat" cmpd="sng" w="9525">
                      <a:solidFill>
                        <a:srgbClr val="E2E1DC"/>
                      </a:solidFill>
                      <a:prstDash val="solid"/>
                      <a:round/>
                      <a:headEnd len="sm" w="sm" type="none"/>
                      <a:tailEnd len="sm" w="sm" type="none"/>
                    </a:lnT>
                    <a:lnB cap="flat" cmpd="sng" w="9525">
                      <a:solidFill>
                        <a:srgbClr val="E2E1DC"/>
                      </a:solidFill>
                      <a:prstDash val="solid"/>
                      <a:round/>
                      <a:headEnd len="sm" w="sm" type="none"/>
                      <a:tailEnd len="sm" w="sm" type="none"/>
                    </a:lnB>
                    <a:solidFill>
                      <a:srgbClr val="FBFAF8"/>
                    </a:solidFill>
                  </a:tcPr>
                </a:tc>
                <a:tc>
                  <a:txBody>
                    <a:bodyPr/>
                    <a:lstStyle/>
                    <a:p>
                      <a:pPr indent="0" lvl="0" marL="0" marR="0" rtl="0" algn="l">
                        <a:spcBef>
                          <a:spcPts val="0"/>
                        </a:spcBef>
                        <a:spcAft>
                          <a:spcPts val="0"/>
                        </a:spcAft>
                        <a:buClr>
                          <a:srgbClr val="3A3D42"/>
                        </a:buClr>
                        <a:buSzPts val="1250"/>
                        <a:buFont typeface="Arial"/>
                        <a:buNone/>
                      </a:pPr>
                      <a:r>
                        <a:rPr lang="en-US" sz="1250" u="none" cap="none" strike="noStrike">
                          <a:solidFill>
                            <a:srgbClr val="3A3D42"/>
                          </a:solidFill>
                          <a:latin typeface="Arial"/>
                          <a:ea typeface="Arial"/>
                          <a:cs typeface="Arial"/>
                          <a:sym typeface="Arial"/>
                        </a:rPr>
                        <a:t>Recruit the student cohort, prepare curriculum and equipment, and onboard instructors</a:t>
                      </a:r>
                      <a:endParaRPr sz="1250" u="none" cap="none" strike="noStrike">
                        <a:latin typeface="Arial"/>
                        <a:ea typeface="Arial"/>
                        <a:cs typeface="Arial"/>
                        <a:sym typeface="Arial"/>
                      </a:endParaRPr>
                    </a:p>
                  </a:txBody>
                  <a:tcPr marT="45725" marB="45725" marR="91450" marL="91450" anchor="ctr">
                    <a:lnL cap="flat" cmpd="sng" w="9525">
                      <a:solidFill>
                        <a:srgbClr val="E2E1DC"/>
                      </a:solidFill>
                      <a:prstDash val="solid"/>
                      <a:round/>
                      <a:headEnd len="sm" w="sm" type="none"/>
                      <a:tailEnd len="sm" w="sm" type="none"/>
                    </a:lnL>
                    <a:lnR cap="flat" cmpd="sng" w="9525">
                      <a:solidFill>
                        <a:srgbClr val="E2E1DC"/>
                      </a:solidFill>
                      <a:prstDash val="solid"/>
                      <a:round/>
                      <a:headEnd len="sm" w="sm" type="none"/>
                      <a:tailEnd len="sm" w="sm" type="none"/>
                    </a:lnR>
                    <a:lnT cap="flat" cmpd="sng" w="9525">
                      <a:solidFill>
                        <a:srgbClr val="E2E1DC"/>
                      </a:solidFill>
                      <a:prstDash val="solid"/>
                      <a:round/>
                      <a:headEnd len="sm" w="sm" type="none"/>
                      <a:tailEnd len="sm" w="sm" type="none"/>
                    </a:lnT>
                    <a:lnB cap="flat" cmpd="sng" w="9525">
                      <a:solidFill>
                        <a:srgbClr val="E2E1DC"/>
                      </a:solidFill>
                      <a:prstDash val="solid"/>
                      <a:round/>
                      <a:headEnd len="sm" w="sm" type="none"/>
                      <a:tailEnd len="sm" w="sm" type="none"/>
                    </a:lnB>
                    <a:solidFill>
                      <a:srgbClr val="FBFAF8"/>
                    </a:solidFill>
                  </a:tcPr>
                </a:tc>
              </a:tr>
              <a:tr h="868675">
                <a:tc>
                  <a:txBody>
                    <a:bodyPr/>
                    <a:lstStyle/>
                    <a:p>
                      <a:pPr indent="0" lvl="0" marL="0" marR="0" rtl="0" algn="l">
                        <a:spcBef>
                          <a:spcPts val="0"/>
                        </a:spcBef>
                        <a:spcAft>
                          <a:spcPts val="0"/>
                        </a:spcAft>
                        <a:buClr>
                          <a:srgbClr val="24262B"/>
                        </a:buClr>
                        <a:buSzPts val="1250"/>
                        <a:buFont typeface="Arial"/>
                        <a:buNone/>
                      </a:pPr>
                      <a:r>
                        <a:rPr b="1" lang="en-US" sz="1250" u="none" cap="none" strike="noStrike">
                          <a:solidFill>
                            <a:srgbClr val="24262B"/>
                          </a:solidFill>
                          <a:latin typeface="Arial"/>
                          <a:ea typeface="Arial"/>
                          <a:cs typeface="Arial"/>
                          <a:sym typeface="Arial"/>
                        </a:rPr>
                        <a:t>Program</a:t>
                      </a:r>
                      <a:endParaRPr sz="1250" u="none" cap="none" strike="noStrike">
                        <a:latin typeface="Arial"/>
                        <a:ea typeface="Arial"/>
                        <a:cs typeface="Arial"/>
                        <a:sym typeface="Arial"/>
                      </a:endParaRPr>
                    </a:p>
                  </a:txBody>
                  <a:tcPr marT="25400" marB="25400" marR="25400" marL="406400" anchor="ctr">
                    <a:lnL cap="flat" cmpd="sng" w="9525">
                      <a:solidFill>
                        <a:srgbClr val="E2E1DC"/>
                      </a:solidFill>
                      <a:prstDash val="solid"/>
                      <a:round/>
                      <a:headEnd len="sm" w="sm" type="none"/>
                      <a:tailEnd len="sm" w="sm" type="none"/>
                    </a:lnL>
                    <a:lnR cap="flat" cmpd="sng" w="9525">
                      <a:solidFill>
                        <a:srgbClr val="E2E1DC"/>
                      </a:solidFill>
                      <a:prstDash val="solid"/>
                      <a:round/>
                      <a:headEnd len="sm" w="sm" type="none"/>
                      <a:tailEnd len="sm" w="sm" type="none"/>
                    </a:lnR>
                    <a:lnT cap="flat" cmpd="sng" w="9525">
                      <a:solidFill>
                        <a:srgbClr val="E2E1DC"/>
                      </a:solidFill>
                      <a:prstDash val="solid"/>
                      <a:round/>
                      <a:headEnd len="sm" w="sm" type="none"/>
                      <a:tailEnd len="sm" w="sm" type="none"/>
                    </a:lnT>
                    <a:lnB cap="flat" cmpd="sng" w="9525">
                      <a:solidFill>
                        <a:srgbClr val="E2E1D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A3D42"/>
                        </a:buClr>
                        <a:buSzPts val="1250"/>
                        <a:buFont typeface="Arial"/>
                        <a:buNone/>
                      </a:pPr>
                      <a:r>
                        <a:rPr lang="en-US" sz="1250" u="none" cap="none" strike="noStrike">
                          <a:solidFill>
                            <a:srgbClr val="3A3D42"/>
                          </a:solidFill>
                          <a:latin typeface="Arial"/>
                          <a:ea typeface="Arial"/>
                          <a:cs typeface="Arial"/>
                          <a:sym typeface="Arial"/>
                        </a:rPr>
                        <a:t>January – April 2027</a:t>
                      </a:r>
                      <a:endParaRPr sz="1250" u="none" cap="none" strike="noStrike">
                        <a:latin typeface="Arial"/>
                        <a:ea typeface="Arial"/>
                        <a:cs typeface="Arial"/>
                        <a:sym typeface="Arial"/>
                      </a:endParaRPr>
                    </a:p>
                  </a:txBody>
                  <a:tcPr marT="45725" marB="45725" marR="91450" marL="91450" anchor="ctr">
                    <a:lnL cap="flat" cmpd="sng" w="9525">
                      <a:solidFill>
                        <a:srgbClr val="E2E1DC"/>
                      </a:solidFill>
                      <a:prstDash val="solid"/>
                      <a:round/>
                      <a:headEnd len="sm" w="sm" type="none"/>
                      <a:tailEnd len="sm" w="sm" type="none"/>
                    </a:lnL>
                    <a:lnR cap="flat" cmpd="sng" w="9525">
                      <a:solidFill>
                        <a:srgbClr val="E2E1DC"/>
                      </a:solidFill>
                      <a:prstDash val="solid"/>
                      <a:round/>
                      <a:headEnd len="sm" w="sm" type="none"/>
                      <a:tailEnd len="sm" w="sm" type="none"/>
                    </a:lnR>
                    <a:lnT cap="flat" cmpd="sng" w="9525">
                      <a:solidFill>
                        <a:srgbClr val="E2E1DC"/>
                      </a:solidFill>
                      <a:prstDash val="solid"/>
                      <a:round/>
                      <a:headEnd len="sm" w="sm" type="none"/>
                      <a:tailEnd len="sm" w="sm" type="none"/>
                    </a:lnT>
                    <a:lnB cap="flat" cmpd="sng" w="9525">
                      <a:solidFill>
                        <a:srgbClr val="E2E1D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A3D42"/>
                        </a:buClr>
                        <a:buSzPts val="1250"/>
                        <a:buFont typeface="Arial"/>
                        <a:buNone/>
                      </a:pPr>
                      <a:r>
                        <a:rPr lang="en-US" sz="1250" u="none" cap="none" strike="noStrike">
                          <a:solidFill>
                            <a:srgbClr val="3A3D42"/>
                          </a:solidFill>
                          <a:latin typeface="Arial"/>
                          <a:ea typeface="Arial"/>
                          <a:cs typeface="Arial"/>
                          <a:sym typeface="Arial"/>
                        </a:rPr>
                        <a:t>Students work through the 15-week build cycle, from problem to launch (Tuesday and Thursday, 5:00 – 8:00 PM)</a:t>
                      </a:r>
                      <a:endParaRPr sz="1250" u="none" cap="none" strike="noStrike">
                        <a:latin typeface="Arial"/>
                        <a:ea typeface="Arial"/>
                        <a:cs typeface="Arial"/>
                        <a:sym typeface="Arial"/>
                      </a:endParaRPr>
                    </a:p>
                  </a:txBody>
                  <a:tcPr marT="45725" marB="45725" marR="91450" marL="91450" anchor="ctr">
                    <a:lnL cap="flat" cmpd="sng" w="9525">
                      <a:solidFill>
                        <a:srgbClr val="E2E1DC"/>
                      </a:solidFill>
                      <a:prstDash val="solid"/>
                      <a:round/>
                      <a:headEnd len="sm" w="sm" type="none"/>
                      <a:tailEnd len="sm" w="sm" type="none"/>
                    </a:lnL>
                    <a:lnR cap="flat" cmpd="sng" w="9525">
                      <a:solidFill>
                        <a:srgbClr val="E2E1DC"/>
                      </a:solidFill>
                      <a:prstDash val="solid"/>
                      <a:round/>
                      <a:headEnd len="sm" w="sm" type="none"/>
                      <a:tailEnd len="sm" w="sm" type="none"/>
                    </a:lnR>
                    <a:lnT cap="flat" cmpd="sng" w="9525">
                      <a:solidFill>
                        <a:srgbClr val="E2E1DC"/>
                      </a:solidFill>
                      <a:prstDash val="solid"/>
                      <a:round/>
                      <a:headEnd len="sm" w="sm" type="none"/>
                      <a:tailEnd len="sm" w="sm" type="none"/>
                    </a:lnT>
                    <a:lnB cap="flat" cmpd="sng" w="9525">
                      <a:solidFill>
                        <a:srgbClr val="E2E1DC"/>
                      </a:solidFill>
                      <a:prstDash val="solid"/>
                      <a:round/>
                      <a:headEnd len="sm" w="sm" type="none"/>
                      <a:tailEnd len="sm" w="sm" type="none"/>
                    </a:lnB>
                    <a:solidFill>
                      <a:srgbClr val="FFFFFF"/>
                    </a:solidFill>
                  </a:tcPr>
                </a:tc>
              </a:tr>
              <a:tr h="777250">
                <a:tc>
                  <a:txBody>
                    <a:bodyPr/>
                    <a:lstStyle/>
                    <a:p>
                      <a:pPr indent="0" lvl="0" marL="0" marR="0" rtl="0" algn="l">
                        <a:spcBef>
                          <a:spcPts val="0"/>
                        </a:spcBef>
                        <a:spcAft>
                          <a:spcPts val="0"/>
                        </a:spcAft>
                        <a:buClr>
                          <a:srgbClr val="24262B"/>
                        </a:buClr>
                        <a:buSzPts val="1250"/>
                        <a:buFont typeface="Arial"/>
                        <a:buNone/>
                      </a:pPr>
                      <a:r>
                        <a:rPr b="1" lang="en-US" sz="1250" u="none" cap="none" strike="noStrike">
                          <a:solidFill>
                            <a:srgbClr val="24262B"/>
                          </a:solidFill>
                          <a:latin typeface="Arial"/>
                          <a:ea typeface="Arial"/>
                          <a:cs typeface="Arial"/>
                          <a:sym typeface="Arial"/>
                        </a:rPr>
                        <a:t>Outcomes and Reporting</a:t>
                      </a:r>
                      <a:endParaRPr sz="1250" u="none" cap="none" strike="noStrike">
                        <a:latin typeface="Arial"/>
                        <a:ea typeface="Arial"/>
                        <a:cs typeface="Arial"/>
                        <a:sym typeface="Arial"/>
                      </a:endParaRPr>
                    </a:p>
                  </a:txBody>
                  <a:tcPr marT="25400" marB="25400" marR="25400" marL="406400" anchor="ctr">
                    <a:lnL cap="flat" cmpd="sng" w="9525">
                      <a:solidFill>
                        <a:srgbClr val="E2E1DC"/>
                      </a:solidFill>
                      <a:prstDash val="solid"/>
                      <a:round/>
                      <a:headEnd len="sm" w="sm" type="none"/>
                      <a:tailEnd len="sm" w="sm" type="none"/>
                    </a:lnL>
                    <a:lnR cap="flat" cmpd="sng" w="9525">
                      <a:solidFill>
                        <a:srgbClr val="E2E1DC"/>
                      </a:solidFill>
                      <a:prstDash val="solid"/>
                      <a:round/>
                      <a:headEnd len="sm" w="sm" type="none"/>
                      <a:tailEnd len="sm" w="sm" type="none"/>
                    </a:lnR>
                    <a:lnT cap="flat" cmpd="sng" w="9525">
                      <a:solidFill>
                        <a:srgbClr val="E2E1DC"/>
                      </a:solidFill>
                      <a:prstDash val="solid"/>
                      <a:round/>
                      <a:headEnd len="sm" w="sm" type="none"/>
                      <a:tailEnd len="sm" w="sm" type="none"/>
                    </a:lnT>
                    <a:lnB cap="flat" cmpd="sng" w="9525">
                      <a:solidFill>
                        <a:srgbClr val="E2E1DC"/>
                      </a:solidFill>
                      <a:prstDash val="solid"/>
                      <a:round/>
                      <a:headEnd len="sm" w="sm" type="none"/>
                      <a:tailEnd len="sm" w="sm" type="none"/>
                    </a:lnB>
                    <a:solidFill>
                      <a:srgbClr val="FBFAF8"/>
                    </a:solidFill>
                  </a:tcPr>
                </a:tc>
                <a:tc>
                  <a:txBody>
                    <a:bodyPr/>
                    <a:lstStyle/>
                    <a:p>
                      <a:pPr indent="0" lvl="0" marL="0" marR="0" rtl="0" algn="l">
                        <a:spcBef>
                          <a:spcPts val="0"/>
                        </a:spcBef>
                        <a:spcAft>
                          <a:spcPts val="0"/>
                        </a:spcAft>
                        <a:buClr>
                          <a:srgbClr val="3A3D42"/>
                        </a:buClr>
                        <a:buSzPts val="1250"/>
                        <a:buFont typeface="Arial"/>
                        <a:buNone/>
                      </a:pPr>
                      <a:r>
                        <a:rPr lang="en-US" sz="1250" u="none" cap="none" strike="noStrike">
                          <a:solidFill>
                            <a:srgbClr val="3A3D42"/>
                          </a:solidFill>
                          <a:latin typeface="Arial"/>
                          <a:ea typeface="Arial"/>
                          <a:cs typeface="Arial"/>
                          <a:sym typeface="Arial"/>
                        </a:rPr>
                        <a:t>May 2027</a:t>
                      </a:r>
                      <a:endParaRPr sz="1250" u="none" cap="none" strike="noStrike">
                        <a:latin typeface="Arial"/>
                        <a:ea typeface="Arial"/>
                        <a:cs typeface="Arial"/>
                        <a:sym typeface="Arial"/>
                      </a:endParaRPr>
                    </a:p>
                  </a:txBody>
                  <a:tcPr marT="45725" marB="45725" marR="91450" marL="91450" anchor="ctr">
                    <a:lnL cap="flat" cmpd="sng" w="9525">
                      <a:solidFill>
                        <a:srgbClr val="E2E1DC"/>
                      </a:solidFill>
                      <a:prstDash val="solid"/>
                      <a:round/>
                      <a:headEnd len="sm" w="sm" type="none"/>
                      <a:tailEnd len="sm" w="sm" type="none"/>
                    </a:lnL>
                    <a:lnR cap="flat" cmpd="sng" w="9525">
                      <a:solidFill>
                        <a:srgbClr val="E2E1DC"/>
                      </a:solidFill>
                      <a:prstDash val="solid"/>
                      <a:round/>
                      <a:headEnd len="sm" w="sm" type="none"/>
                      <a:tailEnd len="sm" w="sm" type="none"/>
                    </a:lnR>
                    <a:lnT cap="flat" cmpd="sng" w="9525">
                      <a:solidFill>
                        <a:srgbClr val="E2E1DC"/>
                      </a:solidFill>
                      <a:prstDash val="solid"/>
                      <a:round/>
                      <a:headEnd len="sm" w="sm" type="none"/>
                      <a:tailEnd len="sm" w="sm" type="none"/>
                    </a:lnT>
                    <a:lnB cap="flat" cmpd="sng" w="9525">
                      <a:solidFill>
                        <a:srgbClr val="E2E1DC"/>
                      </a:solidFill>
                      <a:prstDash val="solid"/>
                      <a:round/>
                      <a:headEnd len="sm" w="sm" type="none"/>
                      <a:tailEnd len="sm" w="sm" type="none"/>
                    </a:lnB>
                    <a:solidFill>
                      <a:srgbClr val="FBFAF8"/>
                    </a:solidFill>
                  </a:tcPr>
                </a:tc>
                <a:tc>
                  <a:txBody>
                    <a:bodyPr/>
                    <a:lstStyle/>
                    <a:p>
                      <a:pPr indent="0" lvl="0" marL="0" marR="0" rtl="0" algn="l">
                        <a:spcBef>
                          <a:spcPts val="0"/>
                        </a:spcBef>
                        <a:spcAft>
                          <a:spcPts val="0"/>
                        </a:spcAft>
                        <a:buClr>
                          <a:srgbClr val="3A3D42"/>
                        </a:buClr>
                        <a:buSzPts val="1250"/>
                        <a:buFont typeface="Arial"/>
                        <a:buNone/>
                      </a:pPr>
                      <a:r>
                        <a:rPr lang="en-US" sz="1250" u="none" cap="none" strike="noStrike">
                          <a:solidFill>
                            <a:srgbClr val="3A3D42"/>
                          </a:solidFill>
                          <a:latin typeface="Arial"/>
                          <a:ea typeface="Arial"/>
                          <a:cs typeface="Arial"/>
                          <a:sym typeface="Arial"/>
                        </a:rPr>
                        <a:t>Tri-Cities Career Showcase, then results and feedback shared with stakeholders</a:t>
                      </a:r>
                      <a:endParaRPr sz="1250" u="none" cap="none" strike="noStrike">
                        <a:latin typeface="Arial"/>
                        <a:ea typeface="Arial"/>
                        <a:cs typeface="Arial"/>
                        <a:sym typeface="Arial"/>
                      </a:endParaRPr>
                    </a:p>
                  </a:txBody>
                  <a:tcPr marT="45725" marB="45725" marR="91450" marL="91450" anchor="ctr">
                    <a:lnL cap="flat" cmpd="sng" w="9525">
                      <a:solidFill>
                        <a:srgbClr val="E2E1DC"/>
                      </a:solidFill>
                      <a:prstDash val="solid"/>
                      <a:round/>
                      <a:headEnd len="sm" w="sm" type="none"/>
                      <a:tailEnd len="sm" w="sm" type="none"/>
                    </a:lnL>
                    <a:lnR cap="flat" cmpd="sng" w="9525">
                      <a:solidFill>
                        <a:srgbClr val="E2E1DC"/>
                      </a:solidFill>
                      <a:prstDash val="solid"/>
                      <a:round/>
                      <a:headEnd len="sm" w="sm" type="none"/>
                      <a:tailEnd len="sm" w="sm" type="none"/>
                    </a:lnR>
                    <a:lnT cap="flat" cmpd="sng" w="9525">
                      <a:solidFill>
                        <a:srgbClr val="E2E1DC"/>
                      </a:solidFill>
                      <a:prstDash val="solid"/>
                      <a:round/>
                      <a:headEnd len="sm" w="sm" type="none"/>
                      <a:tailEnd len="sm" w="sm" type="none"/>
                    </a:lnT>
                    <a:lnB cap="flat" cmpd="sng" w="9525">
                      <a:solidFill>
                        <a:srgbClr val="E2E1DC"/>
                      </a:solidFill>
                      <a:prstDash val="solid"/>
                      <a:round/>
                      <a:headEnd len="sm" w="sm" type="none"/>
                      <a:tailEnd len="sm" w="sm" type="none"/>
                    </a:lnB>
                    <a:solidFill>
                      <a:srgbClr val="FBFAF8"/>
                    </a:solidFill>
                  </a:tcPr>
                </a:tc>
              </a:tr>
            </a:tbl>
          </a:graphicData>
        </a:graphic>
      </p:graphicFrame>
      <p:sp>
        <p:nvSpPr>
          <p:cNvPr id="190" name="Google Shape;190;p8"/>
          <p:cNvSpPr/>
          <p:nvPr/>
        </p:nvSpPr>
        <p:spPr>
          <a:xfrm>
            <a:off x="658368" y="2510028"/>
            <a:ext cx="237744" cy="237744"/>
          </a:xfrm>
          <a:prstGeom prst="ellipse">
            <a:avLst/>
          </a:prstGeom>
          <a:solidFill>
            <a:srgbClr val="18A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vsu-deck/icon_clipboard.png" id="191" name="Google Shape;191;p8"/>
          <p:cNvPicPr preferRelativeResize="0"/>
          <p:nvPr/>
        </p:nvPicPr>
        <p:blipFill rotWithShape="1">
          <a:blip r:embed="rId4">
            <a:alphaModFix/>
          </a:blip>
          <a:srcRect b="0" l="0" r="0" t="0"/>
          <a:stretch/>
        </p:blipFill>
        <p:spPr>
          <a:xfrm>
            <a:off x="694944" y="2546604"/>
            <a:ext cx="164592" cy="164592"/>
          </a:xfrm>
          <a:prstGeom prst="rect">
            <a:avLst/>
          </a:prstGeom>
          <a:noFill/>
          <a:ln>
            <a:noFill/>
          </a:ln>
        </p:spPr>
      </p:pic>
      <p:sp>
        <p:nvSpPr>
          <p:cNvPr id="192" name="Google Shape;192;p8"/>
          <p:cNvSpPr/>
          <p:nvPr/>
        </p:nvSpPr>
        <p:spPr>
          <a:xfrm>
            <a:off x="658368" y="3287268"/>
            <a:ext cx="237744" cy="237744"/>
          </a:xfrm>
          <a:prstGeom prst="ellipse">
            <a:avLst/>
          </a:prstGeom>
          <a:solidFill>
            <a:srgbClr val="D98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vsu-deck/icon_process.png" id="193" name="Google Shape;193;p8"/>
          <p:cNvPicPr preferRelativeResize="0"/>
          <p:nvPr/>
        </p:nvPicPr>
        <p:blipFill rotWithShape="1">
          <a:blip r:embed="rId5">
            <a:alphaModFix/>
          </a:blip>
          <a:srcRect b="0" l="0" r="0" t="0"/>
          <a:stretch/>
        </p:blipFill>
        <p:spPr>
          <a:xfrm>
            <a:off x="694944" y="3323844"/>
            <a:ext cx="164592" cy="164592"/>
          </a:xfrm>
          <a:prstGeom prst="rect">
            <a:avLst/>
          </a:prstGeom>
          <a:noFill/>
          <a:ln>
            <a:noFill/>
          </a:ln>
        </p:spPr>
      </p:pic>
      <p:sp>
        <p:nvSpPr>
          <p:cNvPr id="194" name="Google Shape;194;p8"/>
          <p:cNvSpPr/>
          <p:nvPr/>
        </p:nvSpPr>
        <p:spPr>
          <a:xfrm>
            <a:off x="658368" y="4110228"/>
            <a:ext cx="237744" cy="237744"/>
          </a:xfrm>
          <a:prstGeom prst="ellipse">
            <a:avLst/>
          </a:prstGeom>
          <a:solidFill>
            <a:srgbClr val="4C6F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vsu-deck/icon_rocket.png" id="195" name="Google Shape;195;p8"/>
          <p:cNvPicPr preferRelativeResize="0"/>
          <p:nvPr/>
        </p:nvPicPr>
        <p:blipFill rotWithShape="1">
          <a:blip r:embed="rId6">
            <a:alphaModFix/>
          </a:blip>
          <a:srcRect b="0" l="0" r="0" t="0"/>
          <a:stretch/>
        </p:blipFill>
        <p:spPr>
          <a:xfrm>
            <a:off x="694944" y="4146804"/>
            <a:ext cx="164592" cy="164592"/>
          </a:xfrm>
          <a:prstGeom prst="rect">
            <a:avLst/>
          </a:prstGeom>
          <a:noFill/>
          <a:ln>
            <a:noFill/>
          </a:ln>
        </p:spPr>
      </p:pic>
      <p:sp>
        <p:nvSpPr>
          <p:cNvPr id="196" name="Google Shape;196;p8"/>
          <p:cNvSpPr/>
          <p:nvPr/>
        </p:nvSpPr>
        <p:spPr>
          <a:xfrm>
            <a:off x="658368" y="4933188"/>
            <a:ext cx="237744" cy="237744"/>
          </a:xfrm>
          <a:prstGeom prst="ellipse">
            <a:avLst/>
          </a:prstGeom>
          <a:solidFill>
            <a:srgbClr val="18A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vsu-deck/icon_outcomes.png" id="197" name="Google Shape;197;p8"/>
          <p:cNvPicPr preferRelativeResize="0"/>
          <p:nvPr/>
        </p:nvPicPr>
        <p:blipFill rotWithShape="1">
          <a:blip r:embed="rId7">
            <a:alphaModFix/>
          </a:blip>
          <a:srcRect b="0" l="0" r="0" t="0"/>
          <a:stretch/>
        </p:blipFill>
        <p:spPr>
          <a:xfrm>
            <a:off x="694944" y="4969764"/>
            <a:ext cx="164592" cy="164592"/>
          </a:xfrm>
          <a:prstGeom prst="rect">
            <a:avLst/>
          </a:prstGeom>
          <a:noFill/>
          <a:ln>
            <a:noFill/>
          </a:ln>
        </p:spPr>
      </p:pic>
      <p:sp>
        <p:nvSpPr>
          <p:cNvPr id="198" name="Google Shape;198;p8"/>
          <p:cNvSpPr/>
          <p:nvPr/>
        </p:nvSpPr>
        <p:spPr>
          <a:xfrm>
            <a:off x="548640" y="5486400"/>
            <a:ext cx="11064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3464B"/>
              </a:buClr>
              <a:buSzPts val="1000"/>
              <a:buFont typeface="Arial"/>
              <a:buNone/>
            </a:pPr>
            <a:r>
              <a:rPr b="0" i="1" lang="en-US" sz="1000" u="none" cap="none" strike="noStrike">
                <a:solidFill>
                  <a:srgbClr val="43464B"/>
                </a:solidFill>
                <a:latin typeface="Arial"/>
                <a:ea typeface="Arial"/>
                <a:cs typeface="Arial"/>
                <a:sym typeface="Arial"/>
              </a:rPr>
              <a:t>All dates are tentative, pending alignment with Virginia State University.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3" name="Shape 203"/>
        <p:cNvGrpSpPr/>
        <p:nvPr/>
      </p:nvGrpSpPr>
      <p:grpSpPr>
        <a:xfrm>
          <a:off x="0" y="0"/>
          <a:ext cx="0" cy="0"/>
          <a:chOff x="0" y="0"/>
          <a:chExt cx="0" cy="0"/>
        </a:xfrm>
      </p:grpSpPr>
      <p:sp>
        <p:nvSpPr>
          <p:cNvPr id="204" name="Google Shape;204;p9"/>
          <p:cNvSpPr/>
          <p:nvPr/>
        </p:nvSpPr>
        <p:spPr>
          <a:xfrm>
            <a:off x="548640" y="54864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3000"/>
              <a:buFont typeface="Arial"/>
              <a:buNone/>
            </a:pPr>
            <a:r>
              <a:rPr b="1" i="0" lang="en-US" sz="3000" u="none" cap="none" strike="noStrike">
                <a:solidFill>
                  <a:srgbClr val="24262B"/>
                </a:solidFill>
                <a:latin typeface="Arial"/>
                <a:ea typeface="Arial"/>
                <a:cs typeface="Arial"/>
                <a:sym typeface="Arial"/>
              </a:rPr>
              <a:t>The Ask</a:t>
            </a:r>
            <a:endParaRPr b="0" i="0" sz="3000" u="none" cap="none" strike="noStrike">
              <a:solidFill>
                <a:schemeClr val="dk1"/>
              </a:solidFill>
              <a:latin typeface="Calibri"/>
              <a:ea typeface="Calibri"/>
              <a:cs typeface="Calibri"/>
              <a:sym typeface="Calibri"/>
            </a:endParaRPr>
          </a:p>
        </p:txBody>
      </p:sp>
      <p:cxnSp>
        <p:nvCxnSpPr>
          <p:cNvPr id="205" name="Google Shape;205;p9"/>
          <p:cNvCxnSpPr/>
          <p:nvPr/>
        </p:nvCxnSpPr>
        <p:spPr>
          <a:xfrm>
            <a:off x="3886200" y="1847088"/>
            <a:ext cx="0" cy="73152"/>
          </a:xfrm>
          <a:prstGeom prst="straightConnector1">
            <a:avLst/>
          </a:prstGeom>
          <a:noFill/>
          <a:ln cap="flat" cmpd="sng" w="12700">
            <a:solidFill>
              <a:srgbClr val="D98A3D"/>
            </a:solidFill>
            <a:prstDash val="dash"/>
            <a:round/>
            <a:headEnd len="sm" w="sm" type="none"/>
            <a:tailEnd len="sm" w="sm" type="none"/>
          </a:ln>
        </p:spPr>
      </p:cxnSp>
      <p:sp>
        <p:nvSpPr>
          <p:cNvPr id="206" name="Google Shape;206;p9"/>
          <p:cNvSpPr/>
          <p:nvPr/>
        </p:nvSpPr>
        <p:spPr>
          <a:xfrm>
            <a:off x="3703320" y="1481328"/>
            <a:ext cx="365760" cy="365760"/>
          </a:xfrm>
          <a:prstGeom prst="ellipse">
            <a:avLst/>
          </a:prstGeom>
          <a:solidFill>
            <a:srgbClr val="D98A3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vsu-deck/icon_dollar.png" id="207" name="Google Shape;207;p9"/>
          <p:cNvPicPr preferRelativeResize="0"/>
          <p:nvPr/>
        </p:nvPicPr>
        <p:blipFill rotWithShape="1">
          <a:blip r:embed="rId4">
            <a:alphaModFix/>
          </a:blip>
          <a:srcRect b="0" l="0" r="0" t="0"/>
          <a:stretch/>
        </p:blipFill>
        <p:spPr>
          <a:xfrm>
            <a:off x="3776472" y="1554480"/>
            <a:ext cx="219456" cy="219456"/>
          </a:xfrm>
          <a:prstGeom prst="rect">
            <a:avLst/>
          </a:prstGeom>
          <a:noFill/>
          <a:ln>
            <a:noFill/>
          </a:ln>
        </p:spPr>
      </p:pic>
      <p:sp>
        <p:nvSpPr>
          <p:cNvPr id="208" name="Google Shape;208;p9"/>
          <p:cNvSpPr/>
          <p:nvPr/>
        </p:nvSpPr>
        <p:spPr>
          <a:xfrm>
            <a:off x="548640" y="1920240"/>
            <a:ext cx="6675120" cy="868680"/>
          </a:xfrm>
          <a:prstGeom prst="rect">
            <a:avLst/>
          </a:prstGeom>
          <a:solidFill>
            <a:srgbClr val="FBEEDD"/>
          </a:solidFill>
          <a:ln cap="flat" cmpd="sng" w="12700">
            <a:solidFill>
              <a:srgbClr val="D98A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p:nvPr/>
        </p:nvSpPr>
        <p:spPr>
          <a:xfrm>
            <a:off x="548640" y="1920240"/>
            <a:ext cx="6675120" cy="329184"/>
          </a:xfrm>
          <a:prstGeom prst="rect">
            <a:avLst/>
          </a:prstGeom>
          <a:solidFill>
            <a:srgbClr val="D98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548640" y="1920240"/>
            <a:ext cx="667512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FINANCIAL SPONSORSHIP</a:t>
            </a:r>
            <a:endParaRPr b="0" i="0" sz="1200" u="none" cap="none" strike="noStrike">
              <a:solidFill>
                <a:schemeClr val="dk1"/>
              </a:solidFill>
              <a:latin typeface="Calibri"/>
              <a:ea typeface="Calibri"/>
              <a:cs typeface="Calibri"/>
              <a:sym typeface="Calibri"/>
            </a:endParaRPr>
          </a:p>
        </p:txBody>
      </p:sp>
      <p:sp>
        <p:nvSpPr>
          <p:cNvPr id="211" name="Google Shape;211;p9"/>
          <p:cNvSpPr/>
          <p:nvPr/>
        </p:nvSpPr>
        <p:spPr>
          <a:xfrm>
            <a:off x="731520" y="2386584"/>
            <a:ext cx="63093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3D42"/>
              </a:buClr>
              <a:buSzPts val="1350"/>
              <a:buFont typeface="Arial"/>
              <a:buNone/>
            </a:pPr>
            <a:r>
              <a:rPr b="0" i="0" lang="en-US" sz="1350" u="none" cap="none" strike="noStrike">
                <a:solidFill>
                  <a:srgbClr val="3A3D42"/>
                </a:solidFill>
                <a:latin typeface="Arial"/>
                <a:ea typeface="Arial"/>
                <a:cs typeface="Arial"/>
                <a:sym typeface="Arial"/>
              </a:rPr>
              <a:t>Direct cost coverage via a selected budget line.</a:t>
            </a:r>
            <a:endParaRPr b="0" i="0" sz="1350" u="none" cap="none" strike="noStrike">
              <a:solidFill>
                <a:schemeClr val="dk1"/>
              </a:solidFill>
              <a:latin typeface="Calibri"/>
              <a:ea typeface="Calibri"/>
              <a:cs typeface="Calibri"/>
              <a:sym typeface="Calibri"/>
            </a:endParaRPr>
          </a:p>
        </p:txBody>
      </p:sp>
      <p:cxnSp>
        <p:nvCxnSpPr>
          <p:cNvPr id="212" name="Google Shape;212;p9"/>
          <p:cNvCxnSpPr/>
          <p:nvPr/>
        </p:nvCxnSpPr>
        <p:spPr>
          <a:xfrm>
            <a:off x="3886200" y="3218688"/>
            <a:ext cx="0" cy="73152"/>
          </a:xfrm>
          <a:prstGeom prst="straightConnector1">
            <a:avLst/>
          </a:prstGeom>
          <a:noFill/>
          <a:ln cap="flat" cmpd="sng" w="12700">
            <a:solidFill>
              <a:srgbClr val="18A999"/>
            </a:solidFill>
            <a:prstDash val="dash"/>
            <a:round/>
            <a:headEnd len="sm" w="sm" type="none"/>
            <a:tailEnd len="sm" w="sm" type="none"/>
          </a:ln>
        </p:spPr>
      </p:cxnSp>
      <p:sp>
        <p:nvSpPr>
          <p:cNvPr id="213" name="Google Shape;213;p9"/>
          <p:cNvSpPr/>
          <p:nvPr/>
        </p:nvSpPr>
        <p:spPr>
          <a:xfrm>
            <a:off x="3703320" y="2852928"/>
            <a:ext cx="365760" cy="365760"/>
          </a:xfrm>
          <a:prstGeom prst="ellipse">
            <a:avLst/>
          </a:prstGeom>
          <a:solidFill>
            <a:srgbClr val="18A999"/>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vsu-deck/icon_gift.png" id="214" name="Google Shape;214;p9"/>
          <p:cNvPicPr preferRelativeResize="0"/>
          <p:nvPr/>
        </p:nvPicPr>
        <p:blipFill rotWithShape="1">
          <a:blip r:embed="rId5">
            <a:alphaModFix/>
          </a:blip>
          <a:srcRect b="0" l="0" r="0" t="0"/>
          <a:stretch/>
        </p:blipFill>
        <p:spPr>
          <a:xfrm>
            <a:off x="3776472" y="2926080"/>
            <a:ext cx="219456" cy="219456"/>
          </a:xfrm>
          <a:prstGeom prst="rect">
            <a:avLst/>
          </a:prstGeom>
          <a:noFill/>
          <a:ln>
            <a:noFill/>
          </a:ln>
        </p:spPr>
      </p:pic>
      <p:sp>
        <p:nvSpPr>
          <p:cNvPr id="215" name="Google Shape;215;p9"/>
          <p:cNvSpPr/>
          <p:nvPr/>
        </p:nvSpPr>
        <p:spPr>
          <a:xfrm>
            <a:off x="548640" y="3291840"/>
            <a:ext cx="6675120" cy="1737360"/>
          </a:xfrm>
          <a:prstGeom prst="rect">
            <a:avLst/>
          </a:prstGeom>
          <a:solidFill>
            <a:srgbClr val="E3F5F2"/>
          </a:solidFill>
          <a:ln cap="flat" cmpd="sng" w="12700">
            <a:solidFill>
              <a:srgbClr val="18A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548640" y="3291840"/>
            <a:ext cx="6675120" cy="329184"/>
          </a:xfrm>
          <a:prstGeom prst="rect">
            <a:avLst/>
          </a:prstGeom>
          <a:solidFill>
            <a:srgbClr val="18A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548640" y="3291840"/>
            <a:ext cx="6675120" cy="32918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IN-KIND SUPPORT</a:t>
            </a:r>
            <a:endParaRPr b="0" i="0" sz="1200" u="none" cap="none" strike="noStrike">
              <a:solidFill>
                <a:schemeClr val="dk1"/>
              </a:solidFill>
              <a:latin typeface="Calibri"/>
              <a:ea typeface="Calibri"/>
              <a:cs typeface="Calibri"/>
              <a:sym typeface="Calibri"/>
            </a:endParaRPr>
          </a:p>
        </p:txBody>
      </p:sp>
      <p:sp>
        <p:nvSpPr>
          <p:cNvPr id="218" name="Google Shape;218;p9"/>
          <p:cNvSpPr/>
          <p:nvPr/>
        </p:nvSpPr>
        <p:spPr>
          <a:xfrm>
            <a:off x="731520" y="3758184"/>
            <a:ext cx="6309360" cy="1280160"/>
          </a:xfrm>
          <a:prstGeom prst="rect">
            <a:avLst/>
          </a:prstGeom>
          <a:noFill/>
          <a:ln>
            <a:noFill/>
          </a:ln>
        </p:spPr>
        <p:txBody>
          <a:bodyPr anchorCtr="0" anchor="ctr" bIns="45700" lIns="91425" spcFirstLastPara="1" rIns="91425" wrap="square" tIns="45700">
            <a:noAutofit/>
          </a:bodyPr>
          <a:lstStyle/>
          <a:p>
            <a:pPr indent="-177800" lvl="0" marL="177800" marR="0" rtl="0" algn="l">
              <a:spcBef>
                <a:spcPts val="0"/>
              </a:spcBef>
              <a:spcAft>
                <a:spcPts val="0"/>
              </a:spcAft>
              <a:buClr>
                <a:srgbClr val="3A3D42"/>
              </a:buClr>
              <a:buSzPts val="1300"/>
              <a:buFont typeface="Arial"/>
              <a:buChar char="•"/>
            </a:pPr>
            <a:r>
              <a:rPr b="0" i="0" lang="en-US" sz="1300" u="none" cap="none" strike="noStrike">
                <a:solidFill>
                  <a:srgbClr val="3A3D42"/>
                </a:solidFill>
                <a:latin typeface="Arial"/>
                <a:ea typeface="Arial"/>
                <a:cs typeface="Arial"/>
                <a:sym typeface="Arial"/>
              </a:rPr>
              <a:t>Mentorship</a:t>
            </a:r>
            <a:endParaRPr b="0" i="0" sz="1300" u="none" cap="none" strike="noStrike">
              <a:solidFill>
                <a:schemeClr val="dk1"/>
              </a:solidFill>
              <a:latin typeface="Calibri"/>
              <a:ea typeface="Calibri"/>
              <a:cs typeface="Calibri"/>
              <a:sym typeface="Calibri"/>
            </a:endParaRPr>
          </a:p>
          <a:p>
            <a:pPr indent="-177800" lvl="0" marL="177800" marR="0" rtl="0" algn="l">
              <a:spcBef>
                <a:spcPts val="700"/>
              </a:spcBef>
              <a:spcAft>
                <a:spcPts val="0"/>
              </a:spcAft>
              <a:buClr>
                <a:srgbClr val="3A3D42"/>
              </a:buClr>
              <a:buSzPts val="1300"/>
              <a:buFont typeface="Arial"/>
              <a:buChar char="•"/>
            </a:pPr>
            <a:r>
              <a:rPr b="0" i="0" lang="en-US" sz="1300" u="none" cap="none" strike="noStrike">
                <a:solidFill>
                  <a:srgbClr val="3A3D42"/>
                </a:solidFill>
                <a:latin typeface="Arial"/>
                <a:ea typeface="Arial"/>
                <a:cs typeface="Arial"/>
                <a:sym typeface="Arial"/>
              </a:rPr>
              <a:t>Judges and recruiters for the Tri-Cities Career Showcase</a:t>
            </a:r>
            <a:endParaRPr b="0" i="0" sz="1300" u="none" cap="none" strike="noStrike">
              <a:solidFill>
                <a:schemeClr val="dk1"/>
              </a:solidFill>
              <a:latin typeface="Calibri"/>
              <a:ea typeface="Calibri"/>
              <a:cs typeface="Calibri"/>
              <a:sym typeface="Calibri"/>
            </a:endParaRPr>
          </a:p>
          <a:p>
            <a:pPr indent="-177800" lvl="0" marL="177800" marR="0" rtl="0" algn="l">
              <a:spcBef>
                <a:spcPts val="700"/>
              </a:spcBef>
              <a:spcAft>
                <a:spcPts val="0"/>
              </a:spcAft>
              <a:buClr>
                <a:srgbClr val="3A3D42"/>
              </a:buClr>
              <a:buSzPts val="1300"/>
              <a:buFont typeface="Arial"/>
              <a:buChar char="•"/>
            </a:pPr>
            <a:r>
              <a:rPr b="0" i="0" lang="en-US" sz="1300" u="none" cap="none" strike="noStrike">
                <a:solidFill>
                  <a:srgbClr val="3A3D42"/>
                </a:solidFill>
                <a:latin typeface="Arial"/>
                <a:ea typeface="Arial"/>
                <a:cs typeface="Arial"/>
                <a:sym typeface="Arial"/>
              </a:rPr>
              <a:t>Equipment donation</a:t>
            </a:r>
            <a:endParaRPr b="0" i="0" sz="1300" u="none" cap="none" strike="noStrike">
              <a:solidFill>
                <a:schemeClr val="dk1"/>
              </a:solidFill>
              <a:latin typeface="Calibri"/>
              <a:ea typeface="Calibri"/>
              <a:cs typeface="Calibri"/>
              <a:sym typeface="Calibri"/>
            </a:endParaRPr>
          </a:p>
        </p:txBody>
      </p:sp>
      <p:sp>
        <p:nvSpPr>
          <p:cNvPr id="219" name="Google Shape;219;p9"/>
          <p:cNvSpPr/>
          <p:nvPr/>
        </p:nvSpPr>
        <p:spPr>
          <a:xfrm>
            <a:off x="548640" y="6355080"/>
            <a:ext cx="66751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3464B"/>
              </a:buClr>
              <a:buSzPts val="1000"/>
              <a:buFont typeface="Arial"/>
              <a:buNone/>
            </a:pPr>
            <a:r>
              <a:rPr b="0" i="1" lang="en-US" sz="1000" u="none" cap="none" strike="noStrike">
                <a:solidFill>
                  <a:srgbClr val="43464B"/>
                </a:solidFill>
                <a:latin typeface="Arial"/>
                <a:ea typeface="Arial"/>
                <a:cs typeface="Arial"/>
                <a:sym typeface="Arial"/>
              </a:rPr>
              <a:t>Grant funding is being pursued separately. This ask is additive, not a substitute.</a:t>
            </a:r>
            <a:endParaRPr b="0" i="0" sz="1000" u="none" cap="none" strike="noStrike">
              <a:solidFill>
                <a:schemeClr val="dk1"/>
              </a:solidFill>
              <a:latin typeface="Calibri"/>
              <a:ea typeface="Calibri"/>
              <a:cs typeface="Calibri"/>
              <a:sym typeface="Calibri"/>
            </a:endParaRPr>
          </a:p>
        </p:txBody>
      </p:sp>
      <p:pic>
        <p:nvPicPr>
          <p:cNvPr descr="/home/claude/vsu-deck/photos/ask.jpg" id="220" name="Google Shape;220;p9"/>
          <p:cNvPicPr preferRelativeResize="0"/>
          <p:nvPr/>
        </p:nvPicPr>
        <p:blipFill rotWithShape="1">
          <a:blip r:embed="rId6">
            <a:alphaModFix/>
          </a:blip>
          <a:srcRect b="0" l="0" r="0" t="0"/>
          <a:stretch/>
        </p:blipFill>
        <p:spPr>
          <a:xfrm>
            <a:off x="7589520" y="1600200"/>
            <a:ext cx="4023360" cy="4572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5" name="Shape 225"/>
        <p:cNvGrpSpPr/>
        <p:nvPr/>
      </p:nvGrpSpPr>
      <p:grpSpPr>
        <a:xfrm>
          <a:off x="0" y="0"/>
          <a:ext cx="0" cy="0"/>
          <a:chOff x="0" y="0"/>
          <a:chExt cx="0" cy="0"/>
        </a:xfrm>
      </p:grpSpPr>
      <p:sp>
        <p:nvSpPr>
          <p:cNvPr id="226" name="Google Shape;226;p10"/>
          <p:cNvSpPr/>
          <p:nvPr/>
        </p:nvSpPr>
        <p:spPr>
          <a:xfrm>
            <a:off x="548640" y="54864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3000"/>
              <a:buFont typeface="Arial"/>
              <a:buNone/>
            </a:pPr>
            <a:r>
              <a:rPr b="1" i="0" lang="en-US" sz="3000" u="none" cap="none" strike="noStrike">
                <a:solidFill>
                  <a:srgbClr val="24262B"/>
                </a:solidFill>
                <a:latin typeface="Arial"/>
                <a:ea typeface="Arial"/>
                <a:cs typeface="Arial"/>
                <a:sym typeface="Arial"/>
              </a:rPr>
              <a:t>Contact and Next Steps</a:t>
            </a:r>
            <a:endParaRPr b="0" i="0" sz="3000" u="none" cap="none" strike="noStrike">
              <a:solidFill>
                <a:schemeClr val="dk1"/>
              </a:solidFill>
              <a:latin typeface="Calibri"/>
              <a:ea typeface="Calibri"/>
              <a:cs typeface="Calibri"/>
              <a:sym typeface="Calibri"/>
            </a:endParaRPr>
          </a:p>
        </p:txBody>
      </p:sp>
      <p:sp>
        <p:nvSpPr>
          <p:cNvPr id="227" name="Google Shape;227;p10"/>
          <p:cNvSpPr/>
          <p:nvPr/>
        </p:nvSpPr>
        <p:spPr>
          <a:xfrm>
            <a:off x="731520" y="1435608"/>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250"/>
              <a:buFont typeface="Arial"/>
              <a:buNone/>
            </a:pPr>
            <a:r>
              <a:rPr b="1" i="0" lang="en-US" sz="1450" u="none" cap="none" strike="noStrike">
                <a:solidFill>
                  <a:srgbClr val="24262B"/>
                </a:solidFill>
                <a:latin typeface="Arial"/>
                <a:ea typeface="Arial"/>
                <a:cs typeface="Arial"/>
                <a:sym typeface="Arial"/>
              </a:rPr>
              <a:t>Next Steps</a:t>
            </a:r>
            <a:endParaRPr b="0" i="0" sz="1450" u="none" cap="none" strike="noStrike">
              <a:solidFill>
                <a:schemeClr val="dk1"/>
              </a:solidFill>
              <a:latin typeface="Calibri"/>
              <a:ea typeface="Calibri"/>
              <a:cs typeface="Calibri"/>
              <a:sym typeface="Calibri"/>
            </a:endParaRPr>
          </a:p>
        </p:txBody>
      </p:sp>
      <p:sp>
        <p:nvSpPr>
          <p:cNvPr id="228" name="Google Shape;228;p10"/>
          <p:cNvSpPr/>
          <p:nvPr/>
        </p:nvSpPr>
        <p:spPr>
          <a:xfrm>
            <a:off x="548640" y="1874520"/>
            <a:ext cx="237744" cy="237744"/>
          </a:xfrm>
          <a:prstGeom prst="ellipse">
            <a:avLst/>
          </a:prstGeom>
          <a:solidFill>
            <a:srgbClr val="18A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p:nvPr/>
        </p:nvSpPr>
        <p:spPr>
          <a:xfrm>
            <a:off x="548640" y="187452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1</a:t>
            </a:r>
            <a:endParaRPr b="0" i="0" sz="1200" u="none" cap="none" strike="noStrike">
              <a:solidFill>
                <a:schemeClr val="dk1"/>
              </a:solidFill>
              <a:latin typeface="Calibri"/>
              <a:ea typeface="Calibri"/>
              <a:cs typeface="Calibri"/>
              <a:sym typeface="Calibri"/>
            </a:endParaRPr>
          </a:p>
        </p:txBody>
      </p:sp>
      <p:sp>
        <p:nvSpPr>
          <p:cNvPr id="230" name="Google Shape;230;p10"/>
          <p:cNvSpPr/>
          <p:nvPr/>
        </p:nvSpPr>
        <p:spPr>
          <a:xfrm>
            <a:off x="914400" y="1847088"/>
            <a:ext cx="63093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350"/>
              <a:buFont typeface="Arial"/>
              <a:buNone/>
            </a:pPr>
            <a:r>
              <a:rPr b="1" i="0" lang="en-US" sz="1350" u="none" cap="none" strike="noStrike">
                <a:solidFill>
                  <a:srgbClr val="24262B"/>
                </a:solidFill>
                <a:latin typeface="Arial"/>
                <a:ea typeface="Arial"/>
                <a:cs typeface="Arial"/>
                <a:sym typeface="Arial"/>
              </a:rPr>
              <a:t>Confirm which form of support fits</a:t>
            </a:r>
            <a:endParaRPr b="0" i="0" sz="1350" u="none" cap="none" strike="noStrike">
              <a:solidFill>
                <a:schemeClr val="dk1"/>
              </a:solidFill>
              <a:latin typeface="Calibri"/>
              <a:ea typeface="Calibri"/>
              <a:cs typeface="Calibri"/>
              <a:sym typeface="Calibri"/>
            </a:endParaRPr>
          </a:p>
        </p:txBody>
      </p:sp>
      <p:sp>
        <p:nvSpPr>
          <p:cNvPr id="231" name="Google Shape;231;p10"/>
          <p:cNvSpPr/>
          <p:nvPr/>
        </p:nvSpPr>
        <p:spPr>
          <a:xfrm>
            <a:off x="914400" y="2103120"/>
            <a:ext cx="63093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43464B"/>
              </a:buClr>
              <a:buSzPts val="1000"/>
              <a:buFont typeface="Arial"/>
              <a:buNone/>
            </a:pPr>
            <a:r>
              <a:rPr b="0" i="1" lang="en-US" sz="1000" u="none" cap="none" strike="noStrike">
                <a:solidFill>
                  <a:srgbClr val="43464B"/>
                </a:solidFill>
                <a:latin typeface="Arial"/>
                <a:ea typeface="Arial"/>
                <a:cs typeface="Arial"/>
                <a:sym typeface="Arial"/>
              </a:rPr>
              <a:t>Financial sponsorship, mentorship, serving as a judge or recruiter at the Tri-Cities Career Showcase, or an equipment donation.</a:t>
            </a:r>
            <a:endParaRPr b="0" i="0" sz="1000" u="none" cap="none" strike="noStrike">
              <a:solidFill>
                <a:schemeClr val="dk1"/>
              </a:solidFill>
              <a:latin typeface="Calibri"/>
              <a:ea typeface="Calibri"/>
              <a:cs typeface="Calibri"/>
              <a:sym typeface="Calibri"/>
            </a:endParaRPr>
          </a:p>
        </p:txBody>
      </p:sp>
      <p:sp>
        <p:nvSpPr>
          <p:cNvPr id="232" name="Google Shape;232;p10"/>
          <p:cNvSpPr/>
          <p:nvPr/>
        </p:nvSpPr>
        <p:spPr>
          <a:xfrm>
            <a:off x="548640" y="2496312"/>
            <a:ext cx="237744" cy="237744"/>
          </a:xfrm>
          <a:prstGeom prst="ellipse">
            <a:avLst/>
          </a:prstGeom>
          <a:solidFill>
            <a:srgbClr val="D98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
          <p:cNvSpPr/>
          <p:nvPr/>
        </p:nvSpPr>
        <p:spPr>
          <a:xfrm>
            <a:off x="548640" y="2496312"/>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a:t>
            </a:r>
            <a:endParaRPr b="0" i="0" sz="1200" u="none" cap="none" strike="noStrike">
              <a:solidFill>
                <a:schemeClr val="dk1"/>
              </a:solidFill>
              <a:latin typeface="Calibri"/>
              <a:ea typeface="Calibri"/>
              <a:cs typeface="Calibri"/>
              <a:sym typeface="Calibri"/>
            </a:endParaRPr>
          </a:p>
        </p:txBody>
      </p:sp>
      <p:sp>
        <p:nvSpPr>
          <p:cNvPr id="234" name="Google Shape;234;p10"/>
          <p:cNvSpPr/>
          <p:nvPr/>
        </p:nvSpPr>
        <p:spPr>
          <a:xfrm>
            <a:off x="914400" y="2468880"/>
            <a:ext cx="63093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350"/>
              <a:buFont typeface="Arial"/>
              <a:buNone/>
            </a:pPr>
            <a:r>
              <a:rPr b="1" i="0" lang="en-US" sz="1350" u="none" cap="none" strike="noStrike">
                <a:solidFill>
                  <a:srgbClr val="24262B"/>
                </a:solidFill>
                <a:latin typeface="Arial"/>
                <a:ea typeface="Arial"/>
                <a:cs typeface="Arial"/>
                <a:sym typeface="Arial"/>
              </a:rPr>
              <a:t>Schedule a working session</a:t>
            </a:r>
            <a:endParaRPr b="0" i="0" sz="1350" u="none" cap="none" strike="noStrike">
              <a:solidFill>
                <a:schemeClr val="dk1"/>
              </a:solidFill>
              <a:latin typeface="Calibri"/>
              <a:ea typeface="Calibri"/>
              <a:cs typeface="Calibri"/>
              <a:sym typeface="Calibri"/>
            </a:endParaRPr>
          </a:p>
        </p:txBody>
      </p:sp>
      <p:sp>
        <p:nvSpPr>
          <p:cNvPr id="235" name="Google Shape;235;p10"/>
          <p:cNvSpPr/>
          <p:nvPr/>
        </p:nvSpPr>
        <p:spPr>
          <a:xfrm>
            <a:off x="914400" y="2724912"/>
            <a:ext cx="63093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43464B"/>
              </a:buClr>
              <a:buSzPts val="1000"/>
              <a:buFont typeface="Arial"/>
              <a:buNone/>
            </a:pPr>
            <a:r>
              <a:rPr b="0" i="1" lang="en-US" sz="1000" u="none" cap="none" strike="noStrike">
                <a:solidFill>
                  <a:srgbClr val="43464B"/>
                </a:solidFill>
                <a:latin typeface="Arial"/>
                <a:ea typeface="Arial"/>
                <a:cs typeface="Arial"/>
                <a:sym typeface="Arial"/>
              </a:rPr>
              <a:t>To finalize the specific commitment, a budget line for direct cost coverage, or the scope of the in-kind contribution chosen above.</a:t>
            </a:r>
            <a:endParaRPr b="0" i="0" sz="1000" u="none" cap="none" strike="noStrike">
              <a:solidFill>
                <a:schemeClr val="dk1"/>
              </a:solidFill>
              <a:latin typeface="Calibri"/>
              <a:ea typeface="Calibri"/>
              <a:cs typeface="Calibri"/>
              <a:sym typeface="Calibri"/>
            </a:endParaRPr>
          </a:p>
        </p:txBody>
      </p:sp>
      <p:sp>
        <p:nvSpPr>
          <p:cNvPr id="236" name="Google Shape;236;p10"/>
          <p:cNvSpPr/>
          <p:nvPr/>
        </p:nvSpPr>
        <p:spPr>
          <a:xfrm>
            <a:off x="548640" y="3118104"/>
            <a:ext cx="237744" cy="237744"/>
          </a:xfrm>
          <a:prstGeom prst="ellipse">
            <a:avLst/>
          </a:prstGeom>
          <a:solidFill>
            <a:srgbClr val="4C6F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0"/>
          <p:cNvSpPr/>
          <p:nvPr/>
        </p:nvSpPr>
        <p:spPr>
          <a:xfrm>
            <a:off x="548640" y="3118104"/>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3</a:t>
            </a:r>
            <a:endParaRPr b="0" i="0" sz="1200" u="none" cap="none" strike="noStrike">
              <a:solidFill>
                <a:schemeClr val="dk1"/>
              </a:solidFill>
              <a:latin typeface="Calibri"/>
              <a:ea typeface="Calibri"/>
              <a:cs typeface="Calibri"/>
              <a:sym typeface="Calibri"/>
            </a:endParaRPr>
          </a:p>
        </p:txBody>
      </p:sp>
      <p:sp>
        <p:nvSpPr>
          <p:cNvPr id="238" name="Google Shape;238;p10"/>
          <p:cNvSpPr/>
          <p:nvPr/>
        </p:nvSpPr>
        <p:spPr>
          <a:xfrm>
            <a:off x="914400" y="3090672"/>
            <a:ext cx="63093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350"/>
              <a:buFont typeface="Arial"/>
              <a:buNone/>
            </a:pPr>
            <a:r>
              <a:rPr b="1" i="0" lang="en-US" sz="1350" u="none" cap="none" strike="noStrike">
                <a:solidFill>
                  <a:srgbClr val="24262B"/>
                </a:solidFill>
                <a:latin typeface="Arial"/>
                <a:ea typeface="Arial"/>
                <a:cs typeface="Arial"/>
                <a:sym typeface="Arial"/>
              </a:rPr>
              <a:t>Join a curriculum co-development conversation</a:t>
            </a:r>
            <a:endParaRPr b="0" i="0" sz="1350" u="none" cap="none" strike="noStrike">
              <a:solidFill>
                <a:schemeClr val="dk1"/>
              </a:solidFill>
              <a:latin typeface="Calibri"/>
              <a:ea typeface="Calibri"/>
              <a:cs typeface="Calibri"/>
              <a:sym typeface="Calibri"/>
            </a:endParaRPr>
          </a:p>
        </p:txBody>
      </p:sp>
      <p:sp>
        <p:nvSpPr>
          <p:cNvPr id="239" name="Google Shape;239;p10"/>
          <p:cNvSpPr/>
          <p:nvPr/>
        </p:nvSpPr>
        <p:spPr>
          <a:xfrm>
            <a:off x="914400" y="3346704"/>
            <a:ext cx="63093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43464B"/>
              </a:buClr>
              <a:buSzPts val="1000"/>
              <a:buFont typeface="Arial"/>
              <a:buNone/>
            </a:pPr>
            <a:r>
              <a:rPr b="0" i="1" lang="en-US" sz="1000" u="none" cap="none" strike="noStrike">
                <a:solidFill>
                  <a:srgbClr val="43464B"/>
                </a:solidFill>
                <a:latin typeface="Arial"/>
                <a:ea typeface="Arial"/>
                <a:cs typeface="Arial"/>
                <a:sym typeface="Arial"/>
              </a:rPr>
              <a:t>With our program design team to shape a real business challenge your organization can bring into the program as a student project.</a:t>
            </a:r>
            <a:endParaRPr b="0" i="0" sz="1000" u="none" cap="none" strike="noStrike">
              <a:solidFill>
                <a:schemeClr val="dk1"/>
              </a:solidFill>
              <a:latin typeface="Calibri"/>
              <a:ea typeface="Calibri"/>
              <a:cs typeface="Calibri"/>
              <a:sym typeface="Calibri"/>
            </a:endParaRPr>
          </a:p>
        </p:txBody>
      </p:sp>
      <p:sp>
        <p:nvSpPr>
          <p:cNvPr id="240" name="Google Shape;240;p10"/>
          <p:cNvSpPr/>
          <p:nvPr/>
        </p:nvSpPr>
        <p:spPr>
          <a:xfrm>
            <a:off x="548640" y="3739896"/>
            <a:ext cx="237744" cy="237744"/>
          </a:xfrm>
          <a:prstGeom prst="ellipse">
            <a:avLst/>
          </a:prstGeom>
          <a:solidFill>
            <a:srgbClr val="18A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0"/>
          <p:cNvSpPr/>
          <p:nvPr/>
        </p:nvSpPr>
        <p:spPr>
          <a:xfrm>
            <a:off x="548640" y="3739896"/>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4</a:t>
            </a:r>
            <a:endParaRPr b="0" i="0" sz="1200" u="none" cap="none" strike="noStrike">
              <a:solidFill>
                <a:schemeClr val="dk1"/>
              </a:solidFill>
              <a:latin typeface="Calibri"/>
              <a:ea typeface="Calibri"/>
              <a:cs typeface="Calibri"/>
              <a:sym typeface="Calibri"/>
            </a:endParaRPr>
          </a:p>
        </p:txBody>
      </p:sp>
      <p:sp>
        <p:nvSpPr>
          <p:cNvPr id="242" name="Google Shape;242;p10"/>
          <p:cNvSpPr/>
          <p:nvPr/>
        </p:nvSpPr>
        <p:spPr>
          <a:xfrm>
            <a:off x="914400" y="3712464"/>
            <a:ext cx="63093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350"/>
              <a:buFont typeface="Arial"/>
              <a:buNone/>
            </a:pPr>
            <a:r>
              <a:rPr b="1" i="0" lang="en-US" sz="1350" u="none" cap="none" strike="noStrike">
                <a:solidFill>
                  <a:srgbClr val="24262B"/>
                </a:solidFill>
                <a:latin typeface="Arial"/>
                <a:ea typeface="Arial"/>
                <a:cs typeface="Arial"/>
                <a:sym typeface="Arial"/>
              </a:rPr>
              <a:t>Lock the commitment by [date]</a:t>
            </a:r>
            <a:endParaRPr b="0" i="0" sz="1350" u="none" cap="none" strike="noStrike">
              <a:solidFill>
                <a:schemeClr val="dk1"/>
              </a:solidFill>
              <a:latin typeface="Calibri"/>
              <a:ea typeface="Calibri"/>
              <a:cs typeface="Calibri"/>
              <a:sym typeface="Calibri"/>
            </a:endParaRPr>
          </a:p>
        </p:txBody>
      </p:sp>
      <p:sp>
        <p:nvSpPr>
          <p:cNvPr id="243" name="Google Shape;243;p10"/>
          <p:cNvSpPr/>
          <p:nvPr/>
        </p:nvSpPr>
        <p:spPr>
          <a:xfrm>
            <a:off x="914400" y="3968496"/>
            <a:ext cx="63093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43464B"/>
              </a:buClr>
              <a:buSzPts val="1000"/>
              <a:buFont typeface="Arial"/>
              <a:buNone/>
            </a:pPr>
            <a:r>
              <a:rPr b="0" i="1" lang="en-US" sz="1000" u="none" cap="none" strike="noStrike">
                <a:solidFill>
                  <a:srgbClr val="43464B"/>
                </a:solidFill>
                <a:latin typeface="Arial"/>
                <a:ea typeface="Arial"/>
                <a:cs typeface="Arial"/>
                <a:sym typeface="Arial"/>
              </a:rPr>
              <a:t>Ahead of the January 2027 program launch, so we can finalize partner logistics during the Setup phase.</a:t>
            </a:r>
            <a:endParaRPr b="0" i="0" sz="1000" u="none" cap="none" strike="noStrike">
              <a:solidFill>
                <a:schemeClr val="dk1"/>
              </a:solidFill>
              <a:latin typeface="Calibri"/>
              <a:ea typeface="Calibri"/>
              <a:cs typeface="Calibri"/>
              <a:sym typeface="Calibri"/>
            </a:endParaRPr>
          </a:p>
        </p:txBody>
      </p:sp>
      <p:sp>
        <p:nvSpPr>
          <p:cNvPr id="244" name="Google Shape;244;p10"/>
          <p:cNvSpPr/>
          <p:nvPr/>
        </p:nvSpPr>
        <p:spPr>
          <a:xfrm>
            <a:off x="548640" y="4416552"/>
            <a:ext cx="66751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3464B"/>
              </a:buClr>
              <a:buSzPts val="1000"/>
              <a:buFont typeface="Arial"/>
              <a:buNone/>
            </a:pPr>
            <a:r>
              <a:rPr b="0" i="1" lang="en-US" sz="1000" u="none" cap="none" strike="noStrike">
                <a:solidFill>
                  <a:srgbClr val="43464B"/>
                </a:solidFill>
                <a:latin typeface="Arial"/>
                <a:ea typeface="Arial"/>
                <a:cs typeface="Arial"/>
                <a:sym typeface="Arial"/>
              </a:rPr>
              <a:t>If no decision is made in the room, a follow-up the next day.</a:t>
            </a:r>
            <a:endParaRPr b="0" i="0" sz="1000" u="none" cap="none" strike="noStrike">
              <a:solidFill>
                <a:schemeClr val="dk1"/>
              </a:solidFill>
              <a:latin typeface="Calibri"/>
              <a:ea typeface="Calibri"/>
              <a:cs typeface="Calibri"/>
              <a:sym typeface="Calibri"/>
            </a:endParaRPr>
          </a:p>
        </p:txBody>
      </p:sp>
      <p:cxnSp>
        <p:nvCxnSpPr>
          <p:cNvPr id="245" name="Google Shape;245;p10"/>
          <p:cNvCxnSpPr/>
          <p:nvPr/>
        </p:nvCxnSpPr>
        <p:spPr>
          <a:xfrm>
            <a:off x="548640" y="4745736"/>
            <a:ext cx="6675120" cy="0"/>
          </a:xfrm>
          <a:prstGeom prst="straightConnector1">
            <a:avLst/>
          </a:prstGeom>
          <a:noFill/>
          <a:ln cap="flat" cmpd="sng" w="9525">
            <a:solidFill>
              <a:srgbClr val="E2E1DC"/>
            </a:solidFill>
            <a:prstDash val="solid"/>
            <a:round/>
            <a:headEnd len="sm" w="sm" type="none"/>
            <a:tailEnd len="sm" w="sm" type="none"/>
          </a:ln>
        </p:spPr>
      </p:cxnSp>
      <p:sp>
        <p:nvSpPr>
          <p:cNvPr id="246" name="Google Shape;246;p10"/>
          <p:cNvSpPr/>
          <p:nvPr/>
        </p:nvSpPr>
        <p:spPr>
          <a:xfrm>
            <a:off x="731520" y="4837176"/>
            <a:ext cx="64922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4262B"/>
              </a:buClr>
              <a:buSzPts val="1250"/>
              <a:buFont typeface="Arial"/>
              <a:buNone/>
            </a:pPr>
            <a:r>
              <a:rPr b="1" i="0" lang="en-US" sz="1450" u="none" cap="none" strike="noStrike">
                <a:solidFill>
                  <a:srgbClr val="24262B"/>
                </a:solidFill>
                <a:latin typeface="Arial"/>
                <a:ea typeface="Arial"/>
                <a:cs typeface="Arial"/>
                <a:sym typeface="Arial"/>
              </a:rPr>
              <a:t>Contact</a:t>
            </a:r>
            <a:endParaRPr b="0" i="0" sz="1450" u="none" cap="none" strike="noStrike">
              <a:solidFill>
                <a:schemeClr val="dk1"/>
              </a:solidFill>
              <a:latin typeface="Calibri"/>
              <a:ea typeface="Calibri"/>
              <a:cs typeface="Calibri"/>
              <a:sym typeface="Calibri"/>
            </a:endParaRPr>
          </a:p>
        </p:txBody>
      </p:sp>
      <p:sp>
        <p:nvSpPr>
          <p:cNvPr id="247" name="Google Shape;247;p10"/>
          <p:cNvSpPr/>
          <p:nvPr/>
        </p:nvSpPr>
        <p:spPr>
          <a:xfrm>
            <a:off x="548640" y="5248656"/>
            <a:ext cx="3200400" cy="1188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4262B"/>
              </a:buClr>
              <a:buSzPts val="1500"/>
              <a:buFont typeface="Arial"/>
              <a:buNone/>
            </a:pPr>
            <a:r>
              <a:rPr b="1" i="0" lang="en-US" sz="1500" u="none" cap="none" strike="noStrike">
                <a:solidFill>
                  <a:srgbClr val="24262B"/>
                </a:solidFill>
                <a:latin typeface="Arial"/>
                <a:ea typeface="Arial"/>
                <a:cs typeface="Arial"/>
                <a:sym typeface="Arial"/>
              </a:rPr>
              <a:t>Dr. Shawn M. Nicholson</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3464B"/>
              </a:buClr>
              <a:buSzPts val="1200"/>
              <a:buFont typeface="Arial"/>
              <a:buNone/>
            </a:pPr>
            <a:r>
              <a:rPr b="0" i="0" lang="en-US" sz="1200" u="none" cap="none" strike="noStrike">
                <a:solidFill>
                  <a:srgbClr val="43464B"/>
                </a:solidFill>
                <a:latin typeface="Arial"/>
                <a:ea typeface="Arial"/>
                <a:cs typeface="Arial"/>
                <a:sym typeface="Arial"/>
              </a:rPr>
              <a:t>Chief Executive Officer</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3464B"/>
              </a:buClr>
              <a:buSzPts val="1300"/>
              <a:buFont typeface="Arial"/>
              <a:buNone/>
            </a:pPr>
            <a:r>
              <a:rPr b="0" i="0" lang="en-US" sz="1300" u="none" cap="none" strike="noStrike">
                <a:solidFill>
                  <a:srgbClr val="43464B"/>
                </a:solidFill>
                <a:latin typeface="Arial"/>
                <a:ea typeface="Arial"/>
                <a:cs typeface="Arial"/>
                <a:sym typeface="Arial"/>
              </a:rPr>
              <a:t>[email]  |  [phone]</a:t>
            </a:r>
            <a:endParaRPr b="0" i="0" sz="1500" u="none" cap="none" strike="noStrike">
              <a:solidFill>
                <a:schemeClr val="dk1"/>
              </a:solidFill>
              <a:latin typeface="Calibri"/>
              <a:ea typeface="Calibri"/>
              <a:cs typeface="Calibri"/>
              <a:sym typeface="Calibri"/>
            </a:endParaRPr>
          </a:p>
        </p:txBody>
      </p:sp>
      <p:sp>
        <p:nvSpPr>
          <p:cNvPr id="248" name="Google Shape;248;p10"/>
          <p:cNvSpPr/>
          <p:nvPr/>
        </p:nvSpPr>
        <p:spPr>
          <a:xfrm>
            <a:off x="3931920" y="5248656"/>
            <a:ext cx="2743200" cy="1188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4262B"/>
              </a:buClr>
              <a:buSzPts val="1500"/>
              <a:buFont typeface="Arial"/>
              <a:buNone/>
            </a:pPr>
            <a:r>
              <a:rPr b="1" i="0" lang="en-US" sz="1500" u="none" cap="none" strike="noStrike">
                <a:solidFill>
                  <a:srgbClr val="24262B"/>
                </a:solidFill>
                <a:latin typeface="Arial"/>
                <a:ea typeface="Arial"/>
                <a:cs typeface="Arial"/>
                <a:sym typeface="Arial"/>
              </a:rPr>
              <a:t>Javon Guerrier</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3464B"/>
              </a:buClr>
              <a:buSzPts val="1200"/>
              <a:buFont typeface="Arial"/>
              <a:buNone/>
            </a:pPr>
            <a:r>
              <a:rPr b="0" i="0" lang="en-US" sz="1200" u="none" cap="none" strike="noStrike">
                <a:solidFill>
                  <a:srgbClr val="43464B"/>
                </a:solidFill>
                <a:latin typeface="Arial"/>
                <a:ea typeface="Arial"/>
                <a:cs typeface="Arial"/>
                <a:sym typeface="Arial"/>
              </a:rPr>
              <a:t>Program Director</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3464B"/>
              </a:buClr>
              <a:buSzPts val="1300"/>
              <a:buFont typeface="Arial"/>
              <a:buNone/>
            </a:pPr>
            <a:r>
              <a:rPr b="0" i="0" lang="en-US" sz="1300" u="none" cap="none" strike="noStrike">
                <a:solidFill>
                  <a:srgbClr val="43464B"/>
                </a:solidFill>
                <a:latin typeface="Arial"/>
                <a:ea typeface="Arial"/>
                <a:cs typeface="Arial"/>
                <a:sym typeface="Arial"/>
              </a:rPr>
              <a:t>[email]  |  [phone]</a:t>
            </a:r>
            <a:endParaRPr b="0" i="0" sz="1500" u="none" cap="none" strike="noStrike">
              <a:solidFill>
                <a:schemeClr val="dk1"/>
              </a:solidFill>
              <a:latin typeface="Calibri"/>
              <a:ea typeface="Calibri"/>
              <a:cs typeface="Calibri"/>
              <a:sym typeface="Calibri"/>
            </a:endParaRPr>
          </a:p>
        </p:txBody>
      </p:sp>
      <p:pic>
        <p:nvPicPr>
          <p:cNvPr descr="/home/claude/vsu-deck/photos/contact.jpg" id="249" name="Google Shape;249;p10"/>
          <p:cNvPicPr preferRelativeResize="0"/>
          <p:nvPr/>
        </p:nvPicPr>
        <p:blipFill rotWithShape="1">
          <a:blip r:embed="rId4">
            <a:alphaModFix/>
          </a:blip>
          <a:srcRect b="0" l="0" r="0" t="0"/>
          <a:stretch/>
        </p:blipFill>
        <p:spPr>
          <a:xfrm>
            <a:off x="7589520" y="1600200"/>
            <a:ext cx="4023360" cy="4572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2026-08-14T19:08:41Z</dcterms:created>
  <dc:creator>PptxGenJS</dc:creator>
</cp:coreProperties>
</file>